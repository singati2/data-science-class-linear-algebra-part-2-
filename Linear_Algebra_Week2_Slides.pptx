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1</a:t>
            </a:r>
          </a:p>
        </p:txBody>
      </p:sp>
      <p:sp>
        <p:nvSpPr>
          <p:cNvPr id="4" name="TextBox 3"/>
          <p:cNvSpPr txBox="1"/>
          <p:nvPr/>
        </p:nvSpPr>
        <p:spPr>
          <a:xfrm>
            <a:off x="548640" y="640080"/>
            <a:ext cx="7315200" cy="365760"/>
          </a:xfrm>
          <a:prstGeom prst="rect">
            <a:avLst/>
          </a:prstGeom>
          <a:noFill/>
        </p:spPr>
        <p:txBody>
          <a:bodyPr wrap="square" lIns="0" rIns="0" tIns="0" bIns="0" anchor="t">
            <a:spAutoFit/>
          </a:bodyPr>
          <a:lstStyle/>
          <a:p>
            <a:pPr algn="l"/>
            <a:r>
              <a:rPr sz="1600" b="1" i="0">
                <a:solidFill>
                  <a:srgbClr val="F2B263"/>
                </a:solidFill>
                <a:latin typeface="Calibri"/>
              </a:rPr>
              <a:t>MATH FOR DATA SCIENCE</a:t>
            </a:r>
          </a:p>
        </p:txBody>
      </p:sp>
      <p:sp>
        <p:nvSpPr>
          <p:cNvPr id="5" name="TextBox 4"/>
          <p:cNvSpPr txBox="1"/>
          <p:nvPr/>
        </p:nvSpPr>
        <p:spPr>
          <a:xfrm>
            <a:off x="548640" y="1005840"/>
            <a:ext cx="7315200" cy="365760"/>
          </a:xfrm>
          <a:prstGeom prst="rect">
            <a:avLst/>
          </a:prstGeom>
          <a:noFill/>
        </p:spPr>
        <p:txBody>
          <a:bodyPr wrap="square" lIns="0" rIns="0" tIns="0" bIns="0" anchor="t">
            <a:spAutoFit/>
          </a:bodyPr>
          <a:lstStyle/>
          <a:p>
            <a:pPr algn="l"/>
            <a:r>
              <a:rPr sz="1800" b="0" i="0">
                <a:solidFill>
                  <a:srgbClr val="BFD8D5"/>
                </a:solidFill>
                <a:latin typeface="Calibri"/>
              </a:rPr>
              <a:t>Linear Algebra  ·  Week 2</a:t>
            </a:r>
          </a:p>
        </p:txBody>
      </p:sp>
      <p:sp>
        <p:nvSpPr>
          <p:cNvPr id="6" name="TextBox 5"/>
          <p:cNvSpPr txBox="1"/>
          <p:nvPr/>
        </p:nvSpPr>
        <p:spPr>
          <a:xfrm>
            <a:off x="548640" y="2194560"/>
            <a:ext cx="10058400" cy="2011680"/>
          </a:xfrm>
          <a:prstGeom prst="rect">
            <a:avLst/>
          </a:prstGeom>
          <a:noFill/>
        </p:spPr>
        <p:txBody>
          <a:bodyPr wrap="square" lIns="0" rIns="0" tIns="0" bIns="0" anchor="t">
            <a:spAutoFit/>
          </a:bodyPr>
          <a:lstStyle/>
          <a:p>
            <a:pPr algn="l">
              <a:lnSpc>
                <a:spcPct val="100000"/>
              </a:lnSpc>
            </a:pPr>
            <a:r>
              <a:rPr sz="6600" b="1" i="0">
                <a:solidFill>
                  <a:srgbClr val="FFFFFF"/>
                </a:solidFill>
                <a:latin typeface="Cambria"/>
              </a:rPr>
              <a:t>Solving Systems of Linear Equations</a:t>
            </a:r>
          </a:p>
        </p:txBody>
      </p:sp>
      <p:sp>
        <p:nvSpPr>
          <p:cNvPr id="7" name="TextBox 6"/>
          <p:cNvSpPr txBox="1"/>
          <p:nvPr/>
        </p:nvSpPr>
        <p:spPr>
          <a:xfrm>
            <a:off x="548640" y="4572000"/>
            <a:ext cx="9601200" cy="1188720"/>
          </a:xfrm>
          <a:prstGeom prst="rect">
            <a:avLst/>
          </a:prstGeom>
          <a:noFill/>
        </p:spPr>
        <p:txBody>
          <a:bodyPr wrap="square" lIns="0" rIns="0" tIns="0" bIns="0" anchor="t">
            <a:spAutoFit/>
          </a:bodyPr>
          <a:lstStyle/>
          <a:p>
            <a:pPr algn="l">
              <a:lnSpc>
                <a:spcPct val="130000"/>
              </a:lnSpc>
            </a:pPr>
            <a:r>
              <a:rPr sz="1800" b="0" i="0">
                <a:solidFill>
                  <a:srgbClr val="BFD8D5"/>
                </a:solidFill>
                <a:latin typeface="Calibri"/>
              </a:rPr>
              <a:t>Elimination  ·  Matrix row reduction  ·  Row operations that preserve singularity  ·  Rank of a matrix  ·  Row echelon form  ·  Reduced row echelon form  ·  Gaussian elimination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WEEK 2</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Roadmap for this week</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a:t>
            </a:r>
          </a:p>
        </p:txBody>
      </p:sp>
      <p:sp>
        <p:nvSpPr>
          <p:cNvPr id="6" name="Rounded Rectangle 5"/>
          <p:cNvSpPr/>
          <p:nvPr/>
        </p:nvSpPr>
        <p:spPr>
          <a:xfrm>
            <a:off x="548640" y="1600200"/>
            <a:ext cx="5440680" cy="12344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80136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280160" y="1801368"/>
            <a:ext cx="4480560" cy="411480"/>
          </a:xfrm>
          <a:prstGeom prst="rect">
            <a:avLst/>
          </a:prstGeom>
          <a:noFill/>
        </p:spPr>
        <p:txBody>
          <a:bodyPr wrap="square" lIns="0" rIns="0" tIns="0" bIns="0" anchor="ctr">
            <a:spAutoFit/>
          </a:bodyPr>
          <a:lstStyle/>
          <a:p>
            <a:pPr algn="l"/>
            <a:r>
              <a:rPr sz="1800" b="1" i="0">
                <a:solidFill>
                  <a:srgbClr val="14213D"/>
                </a:solidFill>
                <a:latin typeface="Calibri"/>
              </a:rPr>
              <a:t>Solving systems of equations</a:t>
            </a:r>
          </a:p>
        </p:txBody>
      </p:sp>
      <p:sp>
        <p:nvSpPr>
          <p:cNvPr id="9" name="TextBox 8"/>
          <p:cNvSpPr txBox="1"/>
          <p:nvPr/>
        </p:nvSpPr>
        <p:spPr>
          <a:xfrm>
            <a:off x="777240" y="2350008"/>
            <a:ext cx="4983480" cy="301752"/>
          </a:xfrm>
          <a:prstGeom prst="rect">
            <a:avLst/>
          </a:prstGeom>
          <a:noFill/>
        </p:spPr>
        <p:txBody>
          <a:bodyPr wrap="square" lIns="0" rIns="0" tIns="0" bIns="0" anchor="t">
            <a:spAutoFit/>
          </a:bodyPr>
          <a:lstStyle/>
          <a:p>
            <a:pPr algn="l">
              <a:lnSpc>
                <a:spcPct val="112000"/>
              </a:lnSpc>
              <a:spcAft>
                <a:spcPts val="400"/>
              </a:spcAft>
            </a:pPr>
            <a:r>
              <a:rPr sz="1500" b="0" i="0">
                <a:solidFill>
                  <a:srgbClr val="5B6675"/>
                </a:solidFill>
                <a:latin typeface="Calibri"/>
              </a:rPr>
              <a:t>Non-singular, singular, and systems with more variables.</a:t>
            </a:r>
          </a:p>
        </p:txBody>
      </p:sp>
      <p:sp>
        <p:nvSpPr>
          <p:cNvPr id="10" name="Rounded Rectangle 9"/>
          <p:cNvSpPr/>
          <p:nvPr/>
        </p:nvSpPr>
        <p:spPr>
          <a:xfrm>
            <a:off x="6217920" y="1600200"/>
            <a:ext cx="5440680" cy="12344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180136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2" name="TextBox 11"/>
          <p:cNvSpPr txBox="1"/>
          <p:nvPr/>
        </p:nvSpPr>
        <p:spPr>
          <a:xfrm>
            <a:off x="6949440" y="1801368"/>
            <a:ext cx="4480560" cy="411480"/>
          </a:xfrm>
          <a:prstGeom prst="rect">
            <a:avLst/>
          </a:prstGeom>
          <a:noFill/>
        </p:spPr>
        <p:txBody>
          <a:bodyPr wrap="square" lIns="0" rIns="0" tIns="0" bIns="0" anchor="ctr">
            <a:spAutoFit/>
          </a:bodyPr>
          <a:lstStyle/>
          <a:p>
            <a:pPr algn="l"/>
            <a:r>
              <a:rPr sz="1800" b="1" i="0">
                <a:solidFill>
                  <a:srgbClr val="14213D"/>
                </a:solidFill>
                <a:latin typeface="Calibri"/>
              </a:rPr>
              <a:t>Matrix row reduction</a:t>
            </a:r>
          </a:p>
        </p:txBody>
      </p:sp>
      <p:sp>
        <p:nvSpPr>
          <p:cNvPr id="13" name="TextBox 12"/>
          <p:cNvSpPr txBox="1"/>
          <p:nvPr/>
        </p:nvSpPr>
        <p:spPr>
          <a:xfrm>
            <a:off x="6446520" y="2350008"/>
            <a:ext cx="4983480" cy="301752"/>
          </a:xfrm>
          <a:prstGeom prst="rect">
            <a:avLst/>
          </a:prstGeom>
          <a:noFill/>
        </p:spPr>
        <p:txBody>
          <a:bodyPr wrap="square" lIns="0" rIns="0" tIns="0" bIns="0" anchor="t">
            <a:spAutoFit/>
          </a:bodyPr>
          <a:lstStyle/>
          <a:p>
            <a:pPr algn="l">
              <a:lnSpc>
                <a:spcPct val="112000"/>
              </a:lnSpc>
              <a:spcAft>
                <a:spcPts val="400"/>
              </a:spcAft>
            </a:pPr>
            <a:r>
              <a:rPr sz="1500" b="0" i="0">
                <a:solidFill>
                  <a:srgbClr val="5B6675"/>
                </a:solidFill>
                <a:latin typeface="Calibri"/>
              </a:rPr>
              <a:t>Turning a system into a matrix and reducing its rows.</a:t>
            </a:r>
          </a:p>
        </p:txBody>
      </p:sp>
      <p:sp>
        <p:nvSpPr>
          <p:cNvPr id="14" name="Rounded Rectangle 13"/>
          <p:cNvSpPr/>
          <p:nvPr/>
        </p:nvSpPr>
        <p:spPr>
          <a:xfrm>
            <a:off x="548640" y="3017520"/>
            <a:ext cx="5440680" cy="12344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21868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6" name="TextBox 15"/>
          <p:cNvSpPr txBox="1"/>
          <p:nvPr/>
        </p:nvSpPr>
        <p:spPr>
          <a:xfrm>
            <a:off x="1280160" y="3218688"/>
            <a:ext cx="4480560" cy="411480"/>
          </a:xfrm>
          <a:prstGeom prst="rect">
            <a:avLst/>
          </a:prstGeom>
          <a:noFill/>
        </p:spPr>
        <p:txBody>
          <a:bodyPr wrap="square" lIns="0" rIns="0" tIns="0" bIns="0" anchor="ctr">
            <a:spAutoFit/>
          </a:bodyPr>
          <a:lstStyle/>
          <a:p>
            <a:pPr algn="l"/>
            <a:r>
              <a:rPr sz="1800" b="1" i="0">
                <a:solidFill>
                  <a:srgbClr val="14213D"/>
                </a:solidFill>
                <a:latin typeface="Calibri"/>
              </a:rPr>
              <a:t>Row operations that preserve singularity</a:t>
            </a:r>
          </a:p>
        </p:txBody>
      </p:sp>
      <p:sp>
        <p:nvSpPr>
          <p:cNvPr id="17" name="TextBox 16"/>
          <p:cNvSpPr txBox="1"/>
          <p:nvPr/>
        </p:nvSpPr>
        <p:spPr>
          <a:xfrm>
            <a:off x="777240" y="3767328"/>
            <a:ext cx="4983480" cy="301751"/>
          </a:xfrm>
          <a:prstGeom prst="rect">
            <a:avLst/>
          </a:prstGeom>
          <a:noFill/>
        </p:spPr>
        <p:txBody>
          <a:bodyPr wrap="square" lIns="0" rIns="0" tIns="0" bIns="0" anchor="t">
            <a:spAutoFit/>
          </a:bodyPr>
          <a:lstStyle/>
          <a:p>
            <a:pPr algn="l">
              <a:lnSpc>
                <a:spcPct val="112000"/>
              </a:lnSpc>
              <a:spcAft>
                <a:spcPts val="400"/>
              </a:spcAft>
            </a:pPr>
            <a:r>
              <a:rPr sz="1500" b="0" i="0">
                <a:solidFill>
                  <a:srgbClr val="5B6675"/>
                </a:solidFill>
                <a:latin typeface="Calibri"/>
              </a:rPr>
              <a:t>Swap, scale, add, and what happens to the determinant.</a:t>
            </a:r>
          </a:p>
        </p:txBody>
      </p:sp>
      <p:sp>
        <p:nvSpPr>
          <p:cNvPr id="18" name="Rounded Rectangle 17"/>
          <p:cNvSpPr/>
          <p:nvPr/>
        </p:nvSpPr>
        <p:spPr>
          <a:xfrm>
            <a:off x="6217920" y="3017520"/>
            <a:ext cx="5440680" cy="12344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321868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6949440" y="3218688"/>
            <a:ext cx="4480560" cy="411480"/>
          </a:xfrm>
          <a:prstGeom prst="rect">
            <a:avLst/>
          </a:prstGeom>
          <a:noFill/>
        </p:spPr>
        <p:txBody>
          <a:bodyPr wrap="square" lIns="0" rIns="0" tIns="0" bIns="0" anchor="ctr">
            <a:spAutoFit/>
          </a:bodyPr>
          <a:lstStyle/>
          <a:p>
            <a:pPr algn="l"/>
            <a:r>
              <a:rPr sz="1800" b="1" i="0">
                <a:solidFill>
                  <a:srgbClr val="14213D"/>
                </a:solidFill>
                <a:latin typeface="Calibri"/>
              </a:rPr>
              <a:t>Rank of a matrix</a:t>
            </a:r>
          </a:p>
        </p:txBody>
      </p:sp>
      <p:sp>
        <p:nvSpPr>
          <p:cNvPr id="21" name="TextBox 20"/>
          <p:cNvSpPr txBox="1"/>
          <p:nvPr/>
        </p:nvSpPr>
        <p:spPr>
          <a:xfrm>
            <a:off x="6446520" y="3767328"/>
            <a:ext cx="4983480" cy="301751"/>
          </a:xfrm>
          <a:prstGeom prst="rect">
            <a:avLst/>
          </a:prstGeom>
          <a:noFill/>
        </p:spPr>
        <p:txBody>
          <a:bodyPr wrap="square" lIns="0" rIns="0" tIns="0" bIns="0" anchor="t">
            <a:spAutoFit/>
          </a:bodyPr>
          <a:lstStyle/>
          <a:p>
            <a:pPr algn="l">
              <a:lnSpc>
                <a:spcPct val="112000"/>
              </a:lnSpc>
              <a:spcAft>
                <a:spcPts val="400"/>
              </a:spcAft>
            </a:pPr>
            <a:r>
              <a:rPr sz="1500" b="0" i="0">
                <a:solidFill>
                  <a:srgbClr val="5B6675"/>
                </a:solidFill>
                <a:latin typeface="Calibri"/>
              </a:rPr>
              <a:t>How much information a system really carries.</a:t>
            </a:r>
          </a:p>
        </p:txBody>
      </p:sp>
      <p:sp>
        <p:nvSpPr>
          <p:cNvPr id="22" name="Rounded Rectangle 21"/>
          <p:cNvSpPr/>
          <p:nvPr/>
        </p:nvSpPr>
        <p:spPr>
          <a:xfrm>
            <a:off x="548640" y="4434840"/>
            <a:ext cx="5440680" cy="12344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7240" y="4636007"/>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4" name="TextBox 23"/>
          <p:cNvSpPr txBox="1"/>
          <p:nvPr/>
        </p:nvSpPr>
        <p:spPr>
          <a:xfrm>
            <a:off x="1280160" y="4636007"/>
            <a:ext cx="4480560" cy="411480"/>
          </a:xfrm>
          <a:prstGeom prst="rect">
            <a:avLst/>
          </a:prstGeom>
          <a:noFill/>
        </p:spPr>
        <p:txBody>
          <a:bodyPr wrap="square" lIns="0" rIns="0" tIns="0" bIns="0" anchor="ctr">
            <a:spAutoFit/>
          </a:bodyPr>
          <a:lstStyle/>
          <a:p>
            <a:pPr algn="l"/>
            <a:r>
              <a:rPr sz="1800" b="1" i="0">
                <a:solidFill>
                  <a:srgbClr val="14213D"/>
                </a:solidFill>
                <a:latin typeface="Calibri"/>
              </a:rPr>
              <a:t>Row echelon form and reduced row echelon form</a:t>
            </a:r>
          </a:p>
        </p:txBody>
      </p:sp>
      <p:sp>
        <p:nvSpPr>
          <p:cNvPr id="25" name="TextBox 24"/>
          <p:cNvSpPr txBox="1"/>
          <p:nvPr/>
        </p:nvSpPr>
        <p:spPr>
          <a:xfrm>
            <a:off x="777240" y="5184647"/>
            <a:ext cx="4983480" cy="301752"/>
          </a:xfrm>
          <a:prstGeom prst="rect">
            <a:avLst/>
          </a:prstGeom>
          <a:noFill/>
        </p:spPr>
        <p:txBody>
          <a:bodyPr wrap="square" lIns="0" rIns="0" tIns="0" bIns="0" anchor="t">
            <a:spAutoFit/>
          </a:bodyPr>
          <a:lstStyle/>
          <a:p>
            <a:pPr algn="l">
              <a:lnSpc>
                <a:spcPct val="112000"/>
              </a:lnSpc>
              <a:spcAft>
                <a:spcPts val="400"/>
              </a:spcAft>
            </a:pPr>
            <a:r>
              <a:rPr sz="1500" b="0" i="0">
                <a:solidFill>
                  <a:srgbClr val="5B6675"/>
                </a:solidFill>
                <a:latin typeface="Calibri"/>
              </a:rPr>
              <a:t>Pivots, the staircase, and counting the rank.</a:t>
            </a:r>
          </a:p>
        </p:txBody>
      </p:sp>
      <p:sp>
        <p:nvSpPr>
          <p:cNvPr id="26" name="Rounded Rectangle 25"/>
          <p:cNvSpPr/>
          <p:nvPr/>
        </p:nvSpPr>
        <p:spPr>
          <a:xfrm>
            <a:off x="6217920" y="4434840"/>
            <a:ext cx="5440680" cy="12344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6520" y="4636007"/>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8" name="TextBox 27"/>
          <p:cNvSpPr txBox="1"/>
          <p:nvPr/>
        </p:nvSpPr>
        <p:spPr>
          <a:xfrm>
            <a:off x="6949440" y="4636007"/>
            <a:ext cx="4480560" cy="411480"/>
          </a:xfrm>
          <a:prstGeom prst="rect">
            <a:avLst/>
          </a:prstGeom>
          <a:noFill/>
        </p:spPr>
        <p:txBody>
          <a:bodyPr wrap="square" lIns="0" rIns="0" tIns="0" bIns="0" anchor="ctr">
            <a:spAutoFit/>
          </a:bodyPr>
          <a:lstStyle/>
          <a:p>
            <a:pPr algn="l"/>
            <a:r>
              <a:rPr sz="1800" b="1" i="0">
                <a:solidFill>
                  <a:srgbClr val="14213D"/>
                </a:solidFill>
                <a:latin typeface="Calibri"/>
              </a:rPr>
              <a:t>Gaussian elimination</a:t>
            </a:r>
          </a:p>
        </p:txBody>
      </p:sp>
      <p:sp>
        <p:nvSpPr>
          <p:cNvPr id="29" name="TextBox 28"/>
          <p:cNvSpPr txBox="1"/>
          <p:nvPr/>
        </p:nvSpPr>
        <p:spPr>
          <a:xfrm>
            <a:off x="6446520" y="5184647"/>
            <a:ext cx="4983480" cy="301752"/>
          </a:xfrm>
          <a:prstGeom prst="rect">
            <a:avLst/>
          </a:prstGeom>
          <a:noFill/>
        </p:spPr>
        <p:txBody>
          <a:bodyPr wrap="square" lIns="0" rIns="0" tIns="0" bIns="0" anchor="t">
            <a:spAutoFit/>
          </a:bodyPr>
          <a:lstStyle/>
          <a:p>
            <a:pPr algn="l">
              <a:lnSpc>
                <a:spcPct val="112000"/>
              </a:lnSpc>
              <a:spcAft>
                <a:spcPts val="400"/>
              </a:spcAft>
            </a:pPr>
            <a:r>
              <a:rPr sz="1500" b="0" i="0">
                <a:solidFill>
                  <a:srgbClr val="5B6675"/>
                </a:solidFill>
                <a:latin typeface="Calibri"/>
              </a:rPr>
              <a:t>The complete algorithm on the augmented matrix.</a:t>
            </a:r>
          </a:p>
        </p:txBody>
      </p:sp>
      <p:sp>
        <p:nvSpPr>
          <p:cNvPr id="30" name="TextBox 29"/>
          <p:cNvSpPr txBox="1"/>
          <p:nvPr/>
        </p:nvSpPr>
        <p:spPr>
          <a:xfrm>
            <a:off x="548640" y="5897880"/>
            <a:ext cx="10972800" cy="365760"/>
          </a:xfrm>
          <a:prstGeom prst="rect">
            <a:avLst/>
          </a:prstGeom>
          <a:noFill/>
        </p:spPr>
        <p:txBody>
          <a:bodyPr wrap="square" lIns="0" rIns="0" tIns="0" bIns="0" anchor="t">
            <a:spAutoFit/>
          </a:bodyPr>
          <a:lstStyle/>
          <a:p>
            <a:pPr algn="l"/>
            <a:r>
              <a:rPr sz="1500" b="0" i="1">
                <a:solidFill>
                  <a:srgbClr val="5B6675"/>
                </a:solidFill>
                <a:latin typeface="Calibri"/>
              </a:rPr>
              <a:t>Three short in-class quizzes are built into the session: after non-singular systems, after singular systems, and after rank.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3</a:t>
            </a:r>
          </a:p>
        </p:txBody>
      </p:sp>
      <p:sp>
        <p:nvSpPr>
          <p:cNvPr id="4" name="TextBox 3"/>
          <p:cNvSpPr txBox="1"/>
          <p:nvPr/>
        </p:nvSpPr>
        <p:spPr>
          <a:xfrm>
            <a:off x="548640" y="2011680"/>
            <a:ext cx="5486400" cy="365760"/>
          </a:xfrm>
          <a:prstGeom prst="rect">
            <a:avLst/>
          </a:prstGeom>
          <a:noFill/>
        </p:spPr>
        <p:txBody>
          <a:bodyPr wrap="square" lIns="0" rIns="0" tIns="0" bIns="0" anchor="t">
            <a:spAutoFit/>
          </a:bodyPr>
          <a:lstStyle/>
          <a:p>
            <a:pPr algn="l"/>
            <a:r>
              <a:rPr sz="1600" b="1" i="0">
                <a:solidFill>
                  <a:srgbClr val="F2B263"/>
                </a:solidFill>
                <a:latin typeface="Calibri"/>
              </a:rPr>
              <a:t>PART 1</a:t>
            </a:r>
          </a:p>
        </p:txBody>
      </p:sp>
      <p:sp>
        <p:nvSpPr>
          <p:cNvPr id="5" name="TextBox 4"/>
          <p:cNvSpPr txBox="1"/>
          <p:nvPr/>
        </p:nvSpPr>
        <p:spPr>
          <a:xfrm>
            <a:off x="548640" y="2468880"/>
            <a:ext cx="10515600" cy="1463040"/>
          </a:xfrm>
          <a:prstGeom prst="rect">
            <a:avLst/>
          </a:prstGeom>
          <a:noFill/>
        </p:spPr>
        <p:txBody>
          <a:bodyPr wrap="square" lIns="0" rIns="0" tIns="0" bIns="0" anchor="t">
            <a:spAutoFit/>
          </a:bodyPr>
          <a:lstStyle/>
          <a:p>
            <a:pPr algn="l"/>
            <a:r>
              <a:rPr sz="5400" b="1" i="0">
                <a:solidFill>
                  <a:srgbClr val="FFFFFF"/>
                </a:solidFill>
                <a:latin typeface="Cambria"/>
              </a:rPr>
              <a:t>Solving systems of linear equations</a:t>
            </a:r>
          </a:p>
        </p:txBody>
      </p:sp>
      <p:sp>
        <p:nvSpPr>
          <p:cNvPr id="6" name="TextBox 5"/>
          <p:cNvSpPr txBox="1"/>
          <p:nvPr/>
        </p:nvSpPr>
        <p:spPr>
          <a:xfrm>
            <a:off x="548640" y="4114800"/>
            <a:ext cx="8229600" cy="1097280"/>
          </a:xfrm>
          <a:prstGeom prst="rect">
            <a:avLst/>
          </a:prstGeom>
          <a:noFill/>
        </p:spPr>
        <p:txBody>
          <a:bodyPr wrap="square" lIns="0" rIns="0" tIns="0" bIns="0" anchor="t">
            <a:spAutoFit/>
          </a:bodyPr>
          <a:lstStyle/>
          <a:p>
            <a:pPr algn="l">
              <a:lnSpc>
                <a:spcPct val="120000"/>
              </a:lnSpc>
            </a:pPr>
            <a:r>
              <a:rPr sz="2000" b="0" i="0">
                <a:solidFill>
                  <a:srgbClr val="BFD8D5"/>
                </a:solidFill>
                <a:latin typeface="Calibri"/>
              </a:rPr>
              <a:t>From two equations in two unknowns to three equations in three unknowns, using only three legal moves.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Linear systems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a:t>
            </a:r>
          </a:p>
        </p:txBody>
      </p:sp>
      <p:sp>
        <p:nvSpPr>
          <p:cNvPr id="6" name="Rounded Rectangle 5"/>
          <p:cNvSpPr/>
          <p:nvPr/>
        </p:nvSpPr>
        <p:spPr>
          <a:xfrm>
            <a:off x="548640" y="1554480"/>
            <a:ext cx="6583680" cy="42062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55648"/>
            <a:ext cx="603504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2066543"/>
            <a:ext cx="6035040" cy="3566159"/>
          </a:xfrm>
          <a:prstGeom prst="rect">
            <a:avLst/>
          </a:prstGeom>
          <a:noFill/>
        </p:spPr>
        <p:txBody>
          <a:bodyPr wrap="square" lIns="0" rIns="0" tIns="0" bIns="0" anchor="t">
            <a:spAutoFit/>
          </a:bodyPr>
          <a:lstStyle/>
          <a:p>
            <a:pPr algn="l">
              <a:lnSpc>
                <a:spcPct val="115000"/>
              </a:lnSpc>
              <a:spcAft>
                <a:spcPts val="600"/>
              </a:spcAft>
            </a:pPr>
            <a:r>
              <a:rPr sz="1700" b="1" i="0">
                <a:solidFill>
                  <a:srgbClr val="14213D"/>
                </a:solidFill>
                <a:latin typeface="Calibri"/>
              </a:rPr>
              <a:t>A linear equation</a:t>
            </a:r>
            <a:r>
              <a:rPr sz="1700" b="0" i="0">
                <a:solidFill>
                  <a:srgbClr val="14213D"/>
                </a:solidFill>
                <a:latin typeface="Calibri"/>
              </a:rPr>
              <a:t> in the variables a, b, c, … is an equation of the form</a:t>
            </a:r>
          </a:p>
          <a:p>
            <a:pPr algn="l">
              <a:lnSpc>
                <a:spcPct val="115000"/>
              </a:lnSpc>
              <a:spcAft>
                <a:spcPts val="600"/>
              </a:spcAft>
            </a:pPr>
            <a:r>
              <a:rPr sz="2000" b="0" i="0">
                <a:solidFill>
                  <a:srgbClr val="14213D"/>
                </a:solidFill>
                <a:latin typeface="Cambria"/>
              </a:rPr>
              <a:t>α₁a + α₂b + α₃c + … = β,</a:t>
            </a:r>
          </a:p>
          <a:p>
            <a:pPr algn="l">
              <a:lnSpc>
                <a:spcPct val="115000"/>
              </a:lnSpc>
              <a:spcAft>
                <a:spcPts val="600"/>
              </a:spcAft>
            </a:pPr>
            <a:r>
              <a:rPr sz="1700" b="0" i="0">
                <a:solidFill>
                  <a:srgbClr val="14213D"/>
                </a:solidFill>
                <a:latin typeface="Calibri"/>
              </a:rPr>
              <a:t>where the coefficients α₁, α₂, … and the constant β are given numbers. No products or powers of the variables appear.</a:t>
            </a:r>
          </a:p>
          <a:p>
            <a:pPr algn="l">
              <a:lnSpc>
                <a:spcPct val="115000"/>
              </a:lnSpc>
              <a:spcAft>
                <a:spcPts val="600"/>
              </a:spcAft>
            </a:pPr>
            <a:r>
              <a:rPr sz="1700" b="1" i="0">
                <a:solidFill>
                  <a:srgbClr val="14213D"/>
                </a:solidFill>
                <a:latin typeface="Calibri"/>
              </a:rPr>
              <a:t>A system of linear equations</a:t>
            </a:r>
            <a:r>
              <a:rPr sz="1700" b="0" i="0">
                <a:solidFill>
                  <a:srgbClr val="14213D"/>
                </a:solidFill>
                <a:latin typeface="Calibri"/>
              </a:rPr>
              <a:t> is a finite collection of linear equations in the same variables, considered together.</a:t>
            </a:r>
          </a:p>
          <a:p>
            <a:pPr algn="l">
              <a:lnSpc>
                <a:spcPct val="115000"/>
              </a:lnSpc>
              <a:spcAft>
                <a:spcPts val="600"/>
              </a:spcAft>
            </a:pPr>
            <a:r>
              <a:rPr sz="1700" b="1" i="0">
                <a:solidFill>
                  <a:srgbClr val="14213D"/>
                </a:solidFill>
                <a:latin typeface="Calibri"/>
              </a:rPr>
              <a:t>A solution</a:t>
            </a:r>
            <a:r>
              <a:rPr sz="1700" b="0" i="0">
                <a:solidFill>
                  <a:srgbClr val="14213D"/>
                </a:solidFill>
                <a:latin typeface="Calibri"/>
              </a:rPr>
              <a:t> of the system is an assignment of numbers to the variables that satisfies every equation at the same time.</a:t>
            </a:r>
          </a:p>
        </p:txBody>
      </p:sp>
      <p:sp>
        <p:nvSpPr>
          <p:cNvPr id="9" name="TextBox 8"/>
          <p:cNvSpPr txBox="1"/>
          <p:nvPr/>
        </p:nvSpPr>
        <p:spPr>
          <a:xfrm>
            <a:off x="7589520" y="1554480"/>
            <a:ext cx="4023360" cy="320040"/>
          </a:xfrm>
          <a:prstGeom prst="rect">
            <a:avLst/>
          </a:prstGeom>
          <a:noFill/>
        </p:spPr>
        <p:txBody>
          <a:bodyPr wrap="square" lIns="0" rIns="0" tIns="0" bIns="0" anchor="t">
            <a:spAutoFit/>
          </a:bodyPr>
          <a:lstStyle/>
          <a:p>
            <a:pPr algn="l"/>
            <a:r>
              <a:rPr sz="1200" b="1" i="0">
                <a:solidFill>
                  <a:srgbClr val="1F6F8B"/>
                </a:solidFill>
                <a:latin typeface="Calibri"/>
              </a:rPr>
              <a:t>EXAMPLES</a:t>
            </a:r>
          </a:p>
        </p:txBody>
      </p:sp>
      <p:sp>
        <p:nvSpPr>
          <p:cNvPr id="10" name="TextBox 9"/>
          <p:cNvSpPr txBox="1"/>
          <p:nvPr/>
        </p:nvSpPr>
        <p:spPr>
          <a:xfrm>
            <a:off x="7589520" y="1920240"/>
            <a:ext cx="4023360" cy="420624"/>
          </a:xfrm>
          <a:prstGeom prst="rect">
            <a:avLst/>
          </a:prstGeom>
          <a:noFill/>
        </p:spPr>
        <p:txBody>
          <a:bodyPr wrap="square" lIns="0" rIns="0" tIns="0" bIns="0" anchor="ctr">
            <a:spAutoFit/>
          </a:bodyPr>
          <a:lstStyle/>
          <a:p>
            <a:pPr algn="l"/>
            <a:r>
              <a:rPr sz="2200" b="0" i="0">
                <a:solidFill>
                  <a:srgbClr val="14213D"/>
                </a:solidFill>
                <a:latin typeface="Cambria"/>
              </a:rPr>
              <a:t>a + b = 10</a:t>
            </a:r>
          </a:p>
        </p:txBody>
      </p:sp>
      <p:sp>
        <p:nvSpPr>
          <p:cNvPr id="11" name="TextBox 10"/>
          <p:cNvSpPr txBox="1"/>
          <p:nvPr/>
        </p:nvSpPr>
        <p:spPr>
          <a:xfrm>
            <a:off x="7589520" y="2340864"/>
            <a:ext cx="4023360" cy="420624"/>
          </a:xfrm>
          <a:prstGeom prst="rect">
            <a:avLst/>
          </a:prstGeom>
          <a:noFill/>
        </p:spPr>
        <p:txBody>
          <a:bodyPr wrap="square" lIns="0" rIns="0" tIns="0" bIns="0" anchor="ctr">
            <a:spAutoFit/>
          </a:bodyPr>
          <a:lstStyle/>
          <a:p>
            <a:pPr algn="l"/>
            <a:r>
              <a:rPr sz="2200" b="0" i="0">
                <a:solidFill>
                  <a:srgbClr val="14213D"/>
                </a:solidFill>
                <a:latin typeface="Cambria"/>
              </a:rPr>
              <a:t>a + 2b = 12</a:t>
            </a:r>
          </a:p>
        </p:txBody>
      </p:sp>
      <p:sp>
        <p:nvSpPr>
          <p:cNvPr id="12" name="TextBox 11"/>
          <p:cNvSpPr txBox="1"/>
          <p:nvPr/>
        </p:nvSpPr>
        <p:spPr>
          <a:xfrm>
            <a:off x="7589520" y="2834640"/>
            <a:ext cx="4023360" cy="548640"/>
          </a:xfrm>
          <a:prstGeom prst="rect">
            <a:avLst/>
          </a:prstGeom>
          <a:noFill/>
        </p:spPr>
        <p:txBody>
          <a:bodyPr wrap="square" lIns="0" rIns="0" tIns="0" bIns="0" anchor="t">
            <a:spAutoFit/>
          </a:bodyPr>
          <a:lstStyle/>
          <a:p>
            <a:pPr algn="l"/>
            <a:r>
              <a:rPr sz="1400" b="0" i="0">
                <a:solidFill>
                  <a:srgbClr val="5B6675"/>
                </a:solidFill>
                <a:latin typeface="Calibri"/>
              </a:rPr>
              <a:t>two equations, two unknowns; the solution is a = 8, b = 2</a:t>
            </a:r>
          </a:p>
        </p:txBody>
      </p:sp>
      <p:sp>
        <p:nvSpPr>
          <p:cNvPr id="13" name="TextBox 12"/>
          <p:cNvSpPr txBox="1"/>
          <p:nvPr/>
        </p:nvSpPr>
        <p:spPr>
          <a:xfrm>
            <a:off x="7589520" y="3566160"/>
            <a:ext cx="4023360" cy="420624"/>
          </a:xfrm>
          <a:prstGeom prst="rect">
            <a:avLst/>
          </a:prstGeom>
          <a:noFill/>
        </p:spPr>
        <p:txBody>
          <a:bodyPr wrap="square" lIns="0" rIns="0" tIns="0" bIns="0" anchor="ctr">
            <a:spAutoFit/>
          </a:bodyPr>
          <a:lstStyle/>
          <a:p>
            <a:pPr algn="l"/>
            <a:r>
              <a:rPr sz="2200" b="0" i="0">
                <a:solidFill>
                  <a:srgbClr val="14213D"/>
                </a:solidFill>
                <a:latin typeface="Cambria"/>
              </a:rPr>
              <a:t>a + b + 2c = 12</a:t>
            </a:r>
          </a:p>
        </p:txBody>
      </p:sp>
      <p:sp>
        <p:nvSpPr>
          <p:cNvPr id="14" name="TextBox 13"/>
          <p:cNvSpPr txBox="1"/>
          <p:nvPr/>
        </p:nvSpPr>
        <p:spPr>
          <a:xfrm>
            <a:off x="7589520" y="3986784"/>
            <a:ext cx="4023360" cy="420624"/>
          </a:xfrm>
          <a:prstGeom prst="rect">
            <a:avLst/>
          </a:prstGeom>
          <a:noFill/>
        </p:spPr>
        <p:txBody>
          <a:bodyPr wrap="square" lIns="0" rIns="0" tIns="0" bIns="0" anchor="ctr">
            <a:spAutoFit/>
          </a:bodyPr>
          <a:lstStyle/>
          <a:p>
            <a:pPr algn="l"/>
            <a:r>
              <a:rPr sz="2200" b="0" i="0">
                <a:solidFill>
                  <a:srgbClr val="14213D"/>
                </a:solidFill>
                <a:latin typeface="Cambria"/>
              </a:rPr>
              <a:t>3a − 3b − c = 3</a:t>
            </a:r>
          </a:p>
        </p:txBody>
      </p:sp>
      <p:sp>
        <p:nvSpPr>
          <p:cNvPr id="15" name="TextBox 14"/>
          <p:cNvSpPr txBox="1"/>
          <p:nvPr/>
        </p:nvSpPr>
        <p:spPr>
          <a:xfrm>
            <a:off x="7589520" y="4407408"/>
            <a:ext cx="4023360" cy="420624"/>
          </a:xfrm>
          <a:prstGeom prst="rect">
            <a:avLst/>
          </a:prstGeom>
          <a:noFill/>
        </p:spPr>
        <p:txBody>
          <a:bodyPr wrap="square" lIns="0" rIns="0" tIns="0" bIns="0" anchor="ctr">
            <a:spAutoFit/>
          </a:bodyPr>
          <a:lstStyle/>
          <a:p>
            <a:pPr algn="l"/>
            <a:r>
              <a:rPr sz="2200" b="0" i="0">
                <a:solidFill>
                  <a:srgbClr val="14213D"/>
                </a:solidFill>
                <a:latin typeface="Cambria"/>
              </a:rPr>
              <a:t>2a − b + 6c = 24</a:t>
            </a:r>
          </a:p>
        </p:txBody>
      </p:sp>
      <p:sp>
        <p:nvSpPr>
          <p:cNvPr id="16" name="TextBox 15"/>
          <p:cNvSpPr txBox="1"/>
          <p:nvPr/>
        </p:nvSpPr>
        <p:spPr>
          <a:xfrm>
            <a:off x="7589520" y="4892040"/>
            <a:ext cx="4023360" cy="548640"/>
          </a:xfrm>
          <a:prstGeom prst="rect">
            <a:avLst/>
          </a:prstGeom>
          <a:noFill/>
        </p:spPr>
        <p:txBody>
          <a:bodyPr wrap="square" lIns="0" rIns="0" tIns="0" bIns="0" anchor="t">
            <a:spAutoFit/>
          </a:bodyPr>
          <a:lstStyle/>
          <a:p>
            <a:pPr algn="l"/>
            <a:r>
              <a:rPr sz="1400" b="0" i="0">
                <a:solidFill>
                  <a:srgbClr val="5B6675"/>
                </a:solidFill>
                <a:latin typeface="Calibri"/>
              </a:rPr>
              <a:t>three equations, three unknowns; we solve it later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A system and its solution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5</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r>
              <a:rPr sz="2000" b="0" i="0">
                <a:solidFill>
                  <a:srgbClr val="5B6675"/>
                </a:solidFill>
                <a:latin typeface="Calibri"/>
              </a:rPr>
              <a:t>An apple and a banana cost $10. An apple and two bananas cost $12. What does each cost?</a:t>
            </a:r>
          </a:p>
        </p:txBody>
      </p:sp>
      <p:sp>
        <p:nvSpPr>
          <p:cNvPr id="7" name="Rounded Rectangle 6"/>
          <p:cNvSpPr/>
          <p:nvPr/>
        </p:nvSpPr>
        <p:spPr>
          <a:xfrm>
            <a:off x="548640" y="2286000"/>
            <a:ext cx="3291840" cy="237744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2926080" cy="274320"/>
          </a:xfrm>
          <a:prstGeom prst="rect">
            <a:avLst/>
          </a:prstGeom>
          <a:noFill/>
        </p:spPr>
        <p:txBody>
          <a:bodyPr wrap="square" lIns="0" rIns="0" tIns="0" bIns="0" anchor="t">
            <a:spAutoFit/>
          </a:bodyPr>
          <a:lstStyle/>
          <a:p>
            <a:pPr algn="l"/>
            <a:r>
              <a:rPr sz="1200" b="1" i="0">
                <a:solidFill>
                  <a:srgbClr val="1F6F8B"/>
                </a:solidFill>
                <a:latin typeface="Calibri"/>
              </a:rPr>
              <a:t>SYSTEM</a:t>
            </a:r>
          </a:p>
        </p:txBody>
      </p:sp>
      <p:sp>
        <p:nvSpPr>
          <p:cNvPr id="9" name="TextBox 8"/>
          <p:cNvSpPr txBox="1"/>
          <p:nvPr/>
        </p:nvSpPr>
        <p:spPr>
          <a:xfrm>
            <a:off x="822960" y="2834640"/>
            <a:ext cx="2926080" cy="548640"/>
          </a:xfrm>
          <a:prstGeom prst="rect">
            <a:avLst/>
          </a:prstGeom>
          <a:noFill/>
        </p:spPr>
        <p:txBody>
          <a:bodyPr wrap="square" lIns="0" rIns="0" tIns="0" bIns="0" anchor="ctr">
            <a:spAutoFit/>
          </a:bodyPr>
          <a:lstStyle/>
          <a:p>
            <a:pPr algn="l"/>
            <a:r>
              <a:rPr sz="2600" b="0" i="0">
                <a:solidFill>
                  <a:srgbClr val="14213D"/>
                </a:solidFill>
                <a:latin typeface="Cambria"/>
              </a:rPr>
              <a:t>a + b = 10</a:t>
            </a:r>
          </a:p>
        </p:txBody>
      </p:sp>
      <p:sp>
        <p:nvSpPr>
          <p:cNvPr id="10" name="TextBox 9"/>
          <p:cNvSpPr txBox="1"/>
          <p:nvPr/>
        </p:nvSpPr>
        <p:spPr>
          <a:xfrm>
            <a:off x="822960" y="3383280"/>
            <a:ext cx="2926080" cy="548640"/>
          </a:xfrm>
          <a:prstGeom prst="rect">
            <a:avLst/>
          </a:prstGeom>
          <a:noFill/>
        </p:spPr>
        <p:txBody>
          <a:bodyPr wrap="square" lIns="0" rIns="0" tIns="0" bIns="0" anchor="ctr">
            <a:spAutoFit/>
          </a:bodyPr>
          <a:lstStyle/>
          <a:p>
            <a:pPr algn="l"/>
            <a:r>
              <a:rPr sz="2600" b="0" i="0">
                <a:solidFill>
                  <a:srgbClr val="14213D"/>
                </a:solidFill>
                <a:latin typeface="Cambria"/>
              </a:rPr>
              <a:t>a + 2b = 12</a:t>
            </a:r>
          </a:p>
        </p:txBody>
      </p:sp>
      <p:sp>
        <p:nvSpPr>
          <p:cNvPr id="11" name="Right Arrow 10"/>
          <p:cNvSpPr/>
          <p:nvPr/>
        </p:nvSpPr>
        <p:spPr>
          <a:xfrm>
            <a:off x="4206240" y="3246120"/>
            <a:ext cx="3291840" cy="36576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2377440"/>
            <a:ext cx="3474720" cy="822960"/>
          </a:xfrm>
          <a:prstGeom prst="rect">
            <a:avLst/>
          </a:prstGeom>
          <a:noFill/>
        </p:spPr>
        <p:txBody>
          <a:bodyPr wrap="square" lIns="0" rIns="0" tIns="0" bIns="0" anchor="t">
            <a:spAutoFit/>
          </a:bodyPr>
          <a:lstStyle/>
          <a:p>
            <a:pPr algn="ctr"/>
            <a:r>
              <a:rPr sz="1700" b="1" i="0">
                <a:solidFill>
                  <a:srgbClr val="14213D"/>
                </a:solidFill>
                <a:latin typeface="Calibri"/>
              </a:rPr>
              <a:t>Some process:</a:t>
            </a:r>
          </a:p>
          <a:p>
            <a:pPr algn="ctr"/>
            <a:r>
              <a:rPr sz="1700" b="1" i="0">
                <a:solidFill>
                  <a:srgbClr val="14213D"/>
                </a:solidFill>
                <a:latin typeface="Calibri"/>
              </a:rPr>
              <a:t>manipulating the equations</a:t>
            </a:r>
          </a:p>
        </p:txBody>
      </p:sp>
      <p:sp>
        <p:nvSpPr>
          <p:cNvPr id="13" name="TextBox 12"/>
          <p:cNvSpPr txBox="1"/>
          <p:nvPr/>
        </p:nvSpPr>
        <p:spPr>
          <a:xfrm>
            <a:off x="4114800" y="3749039"/>
            <a:ext cx="3474720" cy="914400"/>
          </a:xfrm>
          <a:prstGeom prst="rect">
            <a:avLst/>
          </a:prstGeom>
          <a:noFill/>
        </p:spPr>
        <p:txBody>
          <a:bodyPr wrap="square" lIns="0" rIns="0" tIns="0" bIns="0" anchor="t">
            <a:spAutoFit/>
          </a:bodyPr>
          <a:lstStyle/>
          <a:p>
            <a:pPr algn="ctr"/>
            <a:r>
              <a:rPr sz="1400" b="0" i="0">
                <a:solidFill>
                  <a:srgbClr val="5B6675"/>
                </a:solidFill>
                <a:latin typeface="Calibri"/>
              </a:rPr>
              <a:t>swapping equations</a:t>
            </a:r>
          </a:p>
          <a:p>
            <a:pPr algn="ctr"/>
            <a:r>
              <a:rPr sz="1400" b="0" i="0">
                <a:solidFill>
                  <a:srgbClr val="5B6675"/>
                </a:solidFill>
                <a:latin typeface="Calibri"/>
              </a:rPr>
              <a:t>adding equations</a:t>
            </a:r>
          </a:p>
          <a:p>
            <a:pPr algn="ctr"/>
            <a:r>
              <a:rPr sz="1400" b="0" i="0">
                <a:solidFill>
                  <a:srgbClr val="5B6675"/>
                </a:solidFill>
                <a:latin typeface="Calibri"/>
              </a:rPr>
              <a:t>multiplying an equation by a constant</a:t>
            </a:r>
          </a:p>
        </p:txBody>
      </p:sp>
      <p:sp>
        <p:nvSpPr>
          <p:cNvPr id="14" name="Rounded Rectangle 13"/>
          <p:cNvSpPr/>
          <p:nvPr/>
        </p:nvSpPr>
        <p:spPr>
          <a:xfrm>
            <a:off x="7863840" y="2286000"/>
            <a:ext cx="3291840" cy="237744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468880"/>
            <a:ext cx="2926080" cy="274320"/>
          </a:xfrm>
          <a:prstGeom prst="rect">
            <a:avLst/>
          </a:prstGeom>
          <a:noFill/>
        </p:spPr>
        <p:txBody>
          <a:bodyPr wrap="square" lIns="0" rIns="0" tIns="0" bIns="0" anchor="t">
            <a:spAutoFit/>
          </a:bodyPr>
          <a:lstStyle/>
          <a:p>
            <a:pPr algn="l"/>
            <a:r>
              <a:rPr sz="1200" b="1" i="0">
                <a:solidFill>
                  <a:srgbClr val="1F6F8B"/>
                </a:solidFill>
                <a:latin typeface="Calibri"/>
              </a:rPr>
              <a:t>SOLVED SYSTEM</a:t>
            </a:r>
          </a:p>
        </p:txBody>
      </p:sp>
      <p:sp>
        <p:nvSpPr>
          <p:cNvPr id="16" name="TextBox 15"/>
          <p:cNvSpPr txBox="1"/>
          <p:nvPr/>
        </p:nvSpPr>
        <p:spPr>
          <a:xfrm>
            <a:off x="8138160" y="2834640"/>
            <a:ext cx="2926080" cy="548640"/>
          </a:xfrm>
          <a:prstGeom prst="rect">
            <a:avLst/>
          </a:prstGeom>
          <a:noFill/>
        </p:spPr>
        <p:txBody>
          <a:bodyPr wrap="square" lIns="0" rIns="0" tIns="0" bIns="0" anchor="ctr">
            <a:spAutoFit/>
          </a:bodyPr>
          <a:lstStyle/>
          <a:p>
            <a:pPr algn="l"/>
            <a:r>
              <a:rPr sz="2600" b="0" i="0">
                <a:solidFill>
                  <a:srgbClr val="14213D"/>
                </a:solidFill>
                <a:latin typeface="Cambria"/>
              </a:rPr>
              <a:t>a = 8</a:t>
            </a:r>
          </a:p>
        </p:txBody>
      </p:sp>
      <p:sp>
        <p:nvSpPr>
          <p:cNvPr id="17" name="TextBox 16"/>
          <p:cNvSpPr txBox="1"/>
          <p:nvPr/>
        </p:nvSpPr>
        <p:spPr>
          <a:xfrm>
            <a:off x="8138160" y="3383280"/>
            <a:ext cx="2926080" cy="548640"/>
          </a:xfrm>
          <a:prstGeom prst="rect">
            <a:avLst/>
          </a:prstGeom>
          <a:noFill/>
        </p:spPr>
        <p:txBody>
          <a:bodyPr wrap="square" lIns="0" rIns="0" tIns="0" bIns="0" anchor="ctr">
            <a:spAutoFit/>
          </a:bodyPr>
          <a:lstStyle/>
          <a:p>
            <a:pPr algn="l"/>
            <a:r>
              <a:rPr sz="2600" b="0" i="0">
                <a:solidFill>
                  <a:srgbClr val="14213D"/>
                </a:solidFill>
                <a:latin typeface="Cambria"/>
              </a:rPr>
              <a:t>b = 2</a:t>
            </a:r>
          </a:p>
        </p:txBody>
      </p:sp>
      <p:sp>
        <p:nvSpPr>
          <p:cNvPr id="18" name="TextBox 17"/>
          <p:cNvSpPr txBox="1"/>
          <p:nvPr/>
        </p:nvSpPr>
        <p:spPr>
          <a:xfrm>
            <a:off x="548640" y="5029200"/>
            <a:ext cx="10972800" cy="822960"/>
          </a:xfrm>
          <a:prstGeom prst="rect">
            <a:avLst/>
          </a:prstGeom>
          <a:noFill/>
        </p:spPr>
        <p:txBody>
          <a:bodyPr wrap="square" lIns="0" rIns="0" tIns="0" bIns="0" anchor="t">
            <a:spAutoFit/>
          </a:bodyPr>
          <a:lstStyle/>
          <a:p>
            <a:pPr algn="l">
              <a:lnSpc>
                <a:spcPct val="120000"/>
              </a:lnSpc>
            </a:pPr>
            <a:r>
              <a:rPr sz="1600" b="0" i="0">
                <a:solidFill>
                  <a:srgbClr val="5B6675"/>
                </a:solidFill>
                <a:latin typeface="Calibri"/>
              </a:rPr>
              <a:t>Reading it off: the second purchase differs from the first by exactly one banana, so a banana costs 12 − 10 = 2, and the apple costs 10 − 2 = 8. Elimination turns this intuition into a procedure.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Equivalent systems and the three legal operations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6</a:t>
            </a:r>
          </a:p>
        </p:txBody>
      </p:sp>
      <p:sp>
        <p:nvSpPr>
          <p:cNvPr id="6" name="Rounded Rectangle 5"/>
          <p:cNvSpPr/>
          <p:nvPr/>
        </p:nvSpPr>
        <p:spPr>
          <a:xfrm>
            <a:off x="548640" y="1508760"/>
            <a:ext cx="11064240" cy="228600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09928"/>
            <a:ext cx="1051560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2020824"/>
            <a:ext cx="10515600" cy="1645920"/>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Two systems are </a:t>
            </a:r>
            <a:r>
              <a:rPr sz="1700" b="1" i="0">
                <a:solidFill>
                  <a:srgbClr val="14213D"/>
                </a:solidFill>
                <a:latin typeface="Calibri"/>
              </a:rPr>
              <a:t>equivalent</a:t>
            </a:r>
            <a:r>
              <a:rPr sz="1700" b="0" i="0">
                <a:solidFill>
                  <a:srgbClr val="14213D"/>
                </a:solidFill>
                <a:latin typeface="Calibri"/>
              </a:rPr>
              <a:t> if they have exactly the same solutions. Each of the following operations replaces a system by an equivalent one:</a:t>
            </a:r>
          </a:p>
          <a:p>
            <a:pPr algn="l">
              <a:lnSpc>
                <a:spcPct val="115000"/>
              </a:lnSpc>
              <a:spcAft>
                <a:spcPts val="600"/>
              </a:spcAft>
            </a:pPr>
            <a:r>
              <a:rPr sz="1700" b="1" i="0">
                <a:solidFill>
                  <a:srgbClr val="14213D"/>
                </a:solidFill>
                <a:latin typeface="Calibri"/>
              </a:rPr>
              <a:t>(1) </a:t>
            </a:r>
            <a:r>
              <a:rPr sz="1700" b="0" i="0">
                <a:solidFill>
                  <a:srgbClr val="14213D"/>
                </a:solidFill>
                <a:latin typeface="Calibri"/>
              </a:rPr>
              <a:t>swap two equations;   </a:t>
            </a:r>
            <a:r>
              <a:rPr sz="1700" b="1" i="0">
                <a:solidFill>
                  <a:srgbClr val="14213D"/>
                </a:solidFill>
                <a:latin typeface="Calibri"/>
              </a:rPr>
              <a:t>(2) </a:t>
            </a:r>
            <a:r>
              <a:rPr sz="1700" b="0" i="0">
                <a:solidFill>
                  <a:srgbClr val="14213D"/>
                </a:solidFill>
                <a:latin typeface="Calibri"/>
              </a:rPr>
              <a:t>multiply an equation by a non-zero constant;   </a:t>
            </a:r>
            <a:r>
              <a:rPr sz="1700" b="1" i="0">
                <a:solidFill>
                  <a:srgbClr val="14213D"/>
                </a:solidFill>
                <a:latin typeface="Calibri"/>
              </a:rPr>
              <a:t>(3) </a:t>
            </a:r>
            <a:r>
              <a:rPr sz="1700" b="0" i="0">
                <a:solidFill>
                  <a:srgbClr val="14213D"/>
                </a:solidFill>
                <a:latin typeface="Calibri"/>
              </a:rPr>
              <a:t>add a multiple of one equation to another.</a:t>
            </a:r>
          </a:p>
          <a:p>
            <a:pPr algn="l">
              <a:lnSpc>
                <a:spcPct val="115000"/>
              </a:lnSpc>
              <a:spcAft>
                <a:spcPts val="600"/>
              </a:spcAft>
            </a:pPr>
            <a:r>
              <a:rPr sz="1700" b="0" i="0">
                <a:solidFill>
                  <a:srgbClr val="14213D"/>
                </a:solidFill>
                <a:latin typeface="Calibri"/>
              </a:rPr>
              <a:t>Solving a system means applying these operations until each equation involves a single variable.</a:t>
            </a:r>
          </a:p>
        </p:txBody>
      </p:sp>
      <p:sp>
        <p:nvSpPr>
          <p:cNvPr id="9" name="Rounded Rectangle 8"/>
          <p:cNvSpPr/>
          <p:nvPr/>
        </p:nvSpPr>
        <p:spPr>
          <a:xfrm>
            <a:off x="548640" y="4069080"/>
            <a:ext cx="5394960" cy="201168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06240"/>
            <a:ext cx="4846320" cy="274320"/>
          </a:xfrm>
          <a:prstGeom prst="rect">
            <a:avLst/>
          </a:prstGeom>
          <a:noFill/>
        </p:spPr>
        <p:txBody>
          <a:bodyPr wrap="square" lIns="0" rIns="0" tIns="0" bIns="0" anchor="t">
            <a:spAutoFit/>
          </a:bodyPr>
          <a:lstStyle/>
          <a:p>
            <a:pPr algn="l"/>
            <a:r>
              <a:rPr sz="1200" b="1" i="0">
                <a:solidFill>
                  <a:srgbClr val="1F6F8B"/>
                </a:solidFill>
                <a:latin typeface="Calibri"/>
              </a:rPr>
              <a:t>MULTIPLYING BY A CONSTANT</a:t>
            </a:r>
          </a:p>
        </p:txBody>
      </p:sp>
      <p:sp>
        <p:nvSpPr>
          <p:cNvPr id="11" name="TextBox 10"/>
          <p:cNvSpPr txBox="1"/>
          <p:nvPr/>
        </p:nvSpPr>
        <p:spPr>
          <a:xfrm>
            <a:off x="822960" y="4526280"/>
            <a:ext cx="4846320" cy="457200"/>
          </a:xfrm>
          <a:prstGeom prst="rect">
            <a:avLst/>
          </a:prstGeom>
          <a:noFill/>
        </p:spPr>
        <p:txBody>
          <a:bodyPr wrap="square" lIns="0" rIns="0" tIns="0" bIns="0" anchor="ctr">
            <a:spAutoFit/>
          </a:bodyPr>
          <a:lstStyle/>
          <a:p>
            <a:pPr algn="l"/>
            <a:r>
              <a:rPr sz="2200" b="0" i="0">
                <a:solidFill>
                  <a:srgbClr val="14213D"/>
                </a:solidFill>
                <a:latin typeface="Cambria"/>
              </a:rPr>
              <a:t>a + b = 10</a:t>
            </a:r>
          </a:p>
        </p:txBody>
      </p:sp>
      <p:sp>
        <p:nvSpPr>
          <p:cNvPr id="12" name="TextBox 11"/>
          <p:cNvSpPr txBox="1"/>
          <p:nvPr/>
        </p:nvSpPr>
        <p:spPr>
          <a:xfrm>
            <a:off x="822960" y="4983480"/>
            <a:ext cx="4846320" cy="457200"/>
          </a:xfrm>
          <a:prstGeom prst="rect">
            <a:avLst/>
          </a:prstGeom>
          <a:noFill/>
        </p:spPr>
        <p:txBody>
          <a:bodyPr wrap="square" lIns="0" rIns="0" tIns="0" bIns="0" anchor="ctr">
            <a:spAutoFit/>
          </a:bodyPr>
          <a:lstStyle/>
          <a:p>
            <a:pPr algn="l"/>
            <a:r>
              <a:rPr sz="2200" b="0" i="0">
                <a:solidFill>
                  <a:srgbClr val="14213D"/>
                </a:solidFill>
                <a:latin typeface="Cambria"/>
              </a:rPr>
              <a:t>× 7</a:t>
            </a:r>
          </a:p>
        </p:txBody>
      </p:sp>
      <p:sp>
        <p:nvSpPr>
          <p:cNvPr id="13" name="TextBox 12"/>
          <p:cNvSpPr txBox="1"/>
          <p:nvPr/>
        </p:nvSpPr>
        <p:spPr>
          <a:xfrm>
            <a:off x="822960" y="5440680"/>
            <a:ext cx="4846320" cy="457200"/>
          </a:xfrm>
          <a:prstGeom prst="rect">
            <a:avLst/>
          </a:prstGeom>
          <a:noFill/>
        </p:spPr>
        <p:txBody>
          <a:bodyPr wrap="square" lIns="0" rIns="0" tIns="0" bIns="0" anchor="ctr">
            <a:spAutoFit/>
          </a:bodyPr>
          <a:lstStyle/>
          <a:p>
            <a:pPr algn="l"/>
            <a:r>
              <a:rPr sz="2200" b="1" i="0">
                <a:solidFill>
                  <a:srgbClr val="14213D"/>
                </a:solidFill>
                <a:latin typeface="Cambria"/>
              </a:rPr>
              <a:t>7a + 7b = 70</a:t>
            </a:r>
          </a:p>
        </p:txBody>
      </p:sp>
      <p:sp>
        <p:nvSpPr>
          <p:cNvPr id="14" name="Rounded Rectangle 13"/>
          <p:cNvSpPr/>
          <p:nvPr/>
        </p:nvSpPr>
        <p:spPr>
          <a:xfrm>
            <a:off x="6217920" y="4069080"/>
            <a:ext cx="5394960" cy="201168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206240"/>
            <a:ext cx="4846320" cy="274320"/>
          </a:xfrm>
          <a:prstGeom prst="rect">
            <a:avLst/>
          </a:prstGeom>
          <a:noFill/>
        </p:spPr>
        <p:txBody>
          <a:bodyPr wrap="square" lIns="0" rIns="0" tIns="0" bIns="0" anchor="t">
            <a:spAutoFit/>
          </a:bodyPr>
          <a:lstStyle/>
          <a:p>
            <a:pPr algn="l"/>
            <a:r>
              <a:rPr sz="1200" b="1" i="0">
                <a:solidFill>
                  <a:srgbClr val="1F6F8B"/>
                </a:solidFill>
                <a:latin typeface="Calibri"/>
              </a:rPr>
              <a:t>ADDING TWO EQUATIONS</a:t>
            </a:r>
          </a:p>
        </p:txBody>
      </p:sp>
      <p:sp>
        <p:nvSpPr>
          <p:cNvPr id="16" name="TextBox 15"/>
          <p:cNvSpPr txBox="1"/>
          <p:nvPr/>
        </p:nvSpPr>
        <p:spPr>
          <a:xfrm>
            <a:off x="6492240" y="4526280"/>
            <a:ext cx="4846320" cy="457200"/>
          </a:xfrm>
          <a:prstGeom prst="rect">
            <a:avLst/>
          </a:prstGeom>
          <a:noFill/>
        </p:spPr>
        <p:txBody>
          <a:bodyPr wrap="square" lIns="0" rIns="0" tIns="0" bIns="0" anchor="ctr">
            <a:spAutoFit/>
          </a:bodyPr>
          <a:lstStyle/>
          <a:p>
            <a:pPr algn="l"/>
            <a:r>
              <a:rPr sz="2200" b="0" i="0">
                <a:solidFill>
                  <a:srgbClr val="14213D"/>
                </a:solidFill>
                <a:latin typeface="Cambria"/>
              </a:rPr>
              <a:t>a + b = 10</a:t>
            </a:r>
          </a:p>
        </p:txBody>
      </p:sp>
      <p:sp>
        <p:nvSpPr>
          <p:cNvPr id="17" name="TextBox 16"/>
          <p:cNvSpPr txBox="1"/>
          <p:nvPr/>
        </p:nvSpPr>
        <p:spPr>
          <a:xfrm>
            <a:off x="6492240" y="4983480"/>
            <a:ext cx="4846320" cy="457200"/>
          </a:xfrm>
          <a:prstGeom prst="rect">
            <a:avLst/>
          </a:prstGeom>
          <a:noFill/>
        </p:spPr>
        <p:txBody>
          <a:bodyPr wrap="square" lIns="0" rIns="0" tIns="0" bIns="0" anchor="ctr">
            <a:spAutoFit/>
          </a:bodyPr>
          <a:lstStyle/>
          <a:p>
            <a:pPr algn="l"/>
            <a:r>
              <a:rPr sz="2200" b="0" i="0">
                <a:solidFill>
                  <a:srgbClr val="14213D"/>
                </a:solidFill>
                <a:latin typeface="Cambria"/>
              </a:rPr>
              <a:t>+ (2a + 3b = 22)</a:t>
            </a:r>
          </a:p>
        </p:txBody>
      </p:sp>
      <p:sp>
        <p:nvSpPr>
          <p:cNvPr id="18" name="TextBox 17"/>
          <p:cNvSpPr txBox="1"/>
          <p:nvPr/>
        </p:nvSpPr>
        <p:spPr>
          <a:xfrm>
            <a:off x="6492240" y="5440680"/>
            <a:ext cx="4846320" cy="457200"/>
          </a:xfrm>
          <a:prstGeom prst="rect">
            <a:avLst/>
          </a:prstGeom>
          <a:noFill/>
        </p:spPr>
        <p:txBody>
          <a:bodyPr wrap="square" lIns="0" rIns="0" tIns="0" bIns="0" anchor="ctr">
            <a:spAutoFit/>
          </a:bodyPr>
          <a:lstStyle/>
          <a:p>
            <a:pPr algn="l"/>
            <a:r>
              <a:rPr sz="2200" b="1" i="0">
                <a:solidFill>
                  <a:srgbClr val="14213D"/>
                </a:solidFill>
                <a:latin typeface="Cambria"/>
              </a:rPr>
              <a:t>3a + 4b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Worked example: two equations, two unknowns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7</a:t>
            </a:r>
          </a:p>
        </p:txBody>
      </p:sp>
      <p:sp>
        <p:nvSpPr>
          <p:cNvPr id="6" name="Rounded Rectangle 5"/>
          <p:cNvSpPr/>
          <p:nvPr/>
        </p:nvSpPr>
        <p:spPr>
          <a:xfrm>
            <a:off x="548640" y="1600200"/>
            <a:ext cx="2651760" cy="329184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83080"/>
            <a:ext cx="365760" cy="365760"/>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8" name="TextBox 7"/>
          <p:cNvSpPr txBox="1"/>
          <p:nvPr/>
        </p:nvSpPr>
        <p:spPr>
          <a:xfrm>
            <a:off x="1207007" y="1737360"/>
            <a:ext cx="1920240" cy="731520"/>
          </a:xfrm>
          <a:prstGeom prst="rect">
            <a:avLst/>
          </a:prstGeom>
          <a:noFill/>
        </p:spPr>
        <p:txBody>
          <a:bodyPr wrap="square" lIns="0" rIns="0" tIns="0" bIns="0" anchor="ctr">
            <a:spAutoFit/>
          </a:bodyPr>
          <a:lstStyle/>
          <a:p>
            <a:pPr algn="l"/>
            <a:r>
              <a:rPr sz="1400" b="1" i="0">
                <a:solidFill>
                  <a:srgbClr val="14213D"/>
                </a:solidFill>
                <a:latin typeface="Calibri"/>
              </a:rPr>
              <a:t>System</a:t>
            </a:r>
          </a:p>
        </p:txBody>
      </p:sp>
      <p:sp>
        <p:nvSpPr>
          <p:cNvPr id="9" name="TextBox 8"/>
          <p:cNvSpPr txBox="1"/>
          <p:nvPr/>
        </p:nvSpPr>
        <p:spPr>
          <a:xfrm>
            <a:off x="777240" y="2651760"/>
            <a:ext cx="2286000" cy="502920"/>
          </a:xfrm>
          <a:prstGeom prst="rect">
            <a:avLst/>
          </a:prstGeom>
          <a:noFill/>
        </p:spPr>
        <p:txBody>
          <a:bodyPr wrap="square" lIns="0" rIns="0" tIns="0" bIns="0" anchor="ctr">
            <a:spAutoFit/>
          </a:bodyPr>
          <a:lstStyle/>
          <a:p>
            <a:pPr algn="l"/>
            <a:r>
              <a:rPr sz="2200" b="0" i="0">
                <a:solidFill>
                  <a:srgbClr val="14213D"/>
                </a:solidFill>
                <a:latin typeface="Cambria"/>
              </a:rPr>
              <a:t>5a + b = 17</a:t>
            </a:r>
          </a:p>
        </p:txBody>
      </p:sp>
      <p:sp>
        <p:nvSpPr>
          <p:cNvPr id="10" name="TextBox 9"/>
          <p:cNvSpPr txBox="1"/>
          <p:nvPr/>
        </p:nvSpPr>
        <p:spPr>
          <a:xfrm>
            <a:off x="777240" y="3154680"/>
            <a:ext cx="2286000" cy="502920"/>
          </a:xfrm>
          <a:prstGeom prst="rect">
            <a:avLst/>
          </a:prstGeom>
          <a:noFill/>
        </p:spPr>
        <p:txBody>
          <a:bodyPr wrap="square" lIns="0" rIns="0" tIns="0" bIns="0" anchor="ctr">
            <a:spAutoFit/>
          </a:bodyPr>
          <a:lstStyle/>
          <a:p>
            <a:pPr algn="l"/>
            <a:r>
              <a:rPr sz="2200" b="0" i="0">
                <a:solidFill>
                  <a:srgbClr val="14213D"/>
                </a:solidFill>
                <a:latin typeface="Cambria"/>
              </a:rPr>
              <a:t>4a − 3b = 6</a:t>
            </a:r>
          </a:p>
        </p:txBody>
      </p:sp>
      <p:sp>
        <p:nvSpPr>
          <p:cNvPr id="11" name="TextBox 10"/>
          <p:cNvSpPr txBox="1"/>
          <p:nvPr/>
        </p:nvSpPr>
        <p:spPr>
          <a:xfrm>
            <a:off x="777240" y="3931920"/>
            <a:ext cx="2286000" cy="822960"/>
          </a:xfrm>
          <a:prstGeom prst="rect">
            <a:avLst/>
          </a:prstGeom>
          <a:noFill/>
        </p:spPr>
        <p:txBody>
          <a:bodyPr wrap="square" lIns="0" rIns="0" tIns="0" bIns="0" anchor="t">
            <a:spAutoFit/>
          </a:bodyPr>
          <a:lstStyle/>
          <a:p>
            <a:pPr algn="l"/>
            <a:r>
              <a:rPr sz="1300" b="0" i="0">
                <a:solidFill>
                  <a:srgbClr val="5B6675"/>
                </a:solidFill>
                <a:latin typeface="Calibri"/>
              </a:rPr>
              <a:t/>
            </a:r>
          </a:p>
        </p:txBody>
      </p:sp>
      <p:sp>
        <p:nvSpPr>
          <p:cNvPr id="12" name="Rounded Rectangle 11"/>
          <p:cNvSpPr/>
          <p:nvPr/>
        </p:nvSpPr>
        <p:spPr>
          <a:xfrm>
            <a:off x="3383280" y="1600200"/>
            <a:ext cx="2651760" cy="329184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84448" y="1783080"/>
            <a:ext cx="365760" cy="365760"/>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4" name="TextBox 13"/>
          <p:cNvSpPr txBox="1"/>
          <p:nvPr/>
        </p:nvSpPr>
        <p:spPr>
          <a:xfrm>
            <a:off x="4041648" y="1737360"/>
            <a:ext cx="1920240" cy="731520"/>
          </a:xfrm>
          <a:prstGeom prst="rect">
            <a:avLst/>
          </a:prstGeom>
          <a:noFill/>
        </p:spPr>
        <p:txBody>
          <a:bodyPr wrap="square" lIns="0" rIns="0" tIns="0" bIns="0" anchor="ctr">
            <a:spAutoFit/>
          </a:bodyPr>
          <a:lstStyle/>
          <a:p>
            <a:pPr algn="l"/>
            <a:r>
              <a:rPr sz="1400" b="1" i="0">
                <a:solidFill>
                  <a:srgbClr val="14213D"/>
                </a:solidFill>
                <a:latin typeface="Calibri"/>
              </a:rPr>
              <a:t>Divide by the coefficient of a</a:t>
            </a:r>
          </a:p>
        </p:txBody>
      </p:sp>
      <p:sp>
        <p:nvSpPr>
          <p:cNvPr id="15" name="TextBox 14"/>
          <p:cNvSpPr txBox="1"/>
          <p:nvPr/>
        </p:nvSpPr>
        <p:spPr>
          <a:xfrm>
            <a:off x="3611880" y="2651760"/>
            <a:ext cx="2286000" cy="502920"/>
          </a:xfrm>
          <a:prstGeom prst="rect">
            <a:avLst/>
          </a:prstGeom>
          <a:noFill/>
        </p:spPr>
        <p:txBody>
          <a:bodyPr wrap="square" lIns="0" rIns="0" tIns="0" bIns="0" anchor="ctr">
            <a:spAutoFit/>
          </a:bodyPr>
          <a:lstStyle/>
          <a:p>
            <a:pPr algn="l"/>
            <a:r>
              <a:rPr sz="2200" b="0" i="0">
                <a:solidFill>
                  <a:srgbClr val="14213D"/>
                </a:solidFill>
                <a:latin typeface="Cambria"/>
              </a:rPr>
              <a:t>a + 0.2b = 3.4</a:t>
            </a:r>
          </a:p>
        </p:txBody>
      </p:sp>
      <p:sp>
        <p:nvSpPr>
          <p:cNvPr id="16" name="TextBox 15"/>
          <p:cNvSpPr txBox="1"/>
          <p:nvPr/>
        </p:nvSpPr>
        <p:spPr>
          <a:xfrm>
            <a:off x="3611880" y="3154680"/>
            <a:ext cx="2286000" cy="502920"/>
          </a:xfrm>
          <a:prstGeom prst="rect">
            <a:avLst/>
          </a:prstGeom>
          <a:noFill/>
        </p:spPr>
        <p:txBody>
          <a:bodyPr wrap="square" lIns="0" rIns="0" tIns="0" bIns="0" anchor="ctr">
            <a:spAutoFit/>
          </a:bodyPr>
          <a:lstStyle/>
          <a:p>
            <a:pPr algn="l"/>
            <a:r>
              <a:rPr sz="2200" b="0" i="0">
                <a:solidFill>
                  <a:srgbClr val="14213D"/>
                </a:solidFill>
                <a:latin typeface="Cambria"/>
              </a:rPr>
              <a:t>a − 0.75b = 1.5</a:t>
            </a:r>
          </a:p>
        </p:txBody>
      </p:sp>
      <p:sp>
        <p:nvSpPr>
          <p:cNvPr id="17" name="TextBox 16"/>
          <p:cNvSpPr txBox="1"/>
          <p:nvPr/>
        </p:nvSpPr>
        <p:spPr>
          <a:xfrm>
            <a:off x="3611880" y="3931920"/>
            <a:ext cx="2286000" cy="822960"/>
          </a:xfrm>
          <a:prstGeom prst="rect">
            <a:avLst/>
          </a:prstGeom>
          <a:noFill/>
        </p:spPr>
        <p:txBody>
          <a:bodyPr wrap="square" lIns="0" rIns="0" tIns="0" bIns="0" anchor="t">
            <a:spAutoFit/>
          </a:bodyPr>
          <a:lstStyle/>
          <a:p>
            <a:pPr algn="l"/>
            <a:r>
              <a:rPr sz="1300" b="0" i="0">
                <a:solidFill>
                  <a:srgbClr val="5B6675"/>
                </a:solidFill>
                <a:latin typeface="Calibri"/>
              </a:rPr>
              <a:t>Both equations now start with a.</a:t>
            </a:r>
          </a:p>
        </p:txBody>
      </p:sp>
      <p:sp>
        <p:nvSpPr>
          <p:cNvPr id="18" name="Rounded Rectangle 17"/>
          <p:cNvSpPr/>
          <p:nvPr/>
        </p:nvSpPr>
        <p:spPr>
          <a:xfrm>
            <a:off x="6217920" y="1600200"/>
            <a:ext cx="2651760" cy="329184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19088" y="1783080"/>
            <a:ext cx="365760" cy="365760"/>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20" name="TextBox 19"/>
          <p:cNvSpPr txBox="1"/>
          <p:nvPr/>
        </p:nvSpPr>
        <p:spPr>
          <a:xfrm>
            <a:off x="6876288" y="1737360"/>
            <a:ext cx="1920240" cy="731520"/>
          </a:xfrm>
          <a:prstGeom prst="rect">
            <a:avLst/>
          </a:prstGeom>
          <a:noFill/>
        </p:spPr>
        <p:txBody>
          <a:bodyPr wrap="square" lIns="0" rIns="0" tIns="0" bIns="0" anchor="ctr">
            <a:spAutoFit/>
          </a:bodyPr>
          <a:lstStyle/>
          <a:p>
            <a:pPr algn="l"/>
            <a:r>
              <a:rPr sz="1400" b="1" i="0">
                <a:solidFill>
                  <a:srgbClr val="14213D"/>
                </a:solidFill>
                <a:latin typeface="Calibri"/>
              </a:rPr>
              <a:t>Subtract equation 1 from equation 2</a:t>
            </a:r>
          </a:p>
        </p:txBody>
      </p:sp>
      <p:sp>
        <p:nvSpPr>
          <p:cNvPr id="21" name="TextBox 20"/>
          <p:cNvSpPr txBox="1"/>
          <p:nvPr/>
        </p:nvSpPr>
        <p:spPr>
          <a:xfrm>
            <a:off x="6446520" y="2651760"/>
            <a:ext cx="2286000" cy="502920"/>
          </a:xfrm>
          <a:prstGeom prst="rect">
            <a:avLst/>
          </a:prstGeom>
          <a:noFill/>
        </p:spPr>
        <p:txBody>
          <a:bodyPr wrap="square" lIns="0" rIns="0" tIns="0" bIns="0" anchor="ctr">
            <a:spAutoFit/>
          </a:bodyPr>
          <a:lstStyle/>
          <a:p>
            <a:pPr algn="l"/>
            <a:r>
              <a:rPr sz="2200" b="0" i="0">
                <a:solidFill>
                  <a:srgbClr val="14213D"/>
                </a:solidFill>
                <a:latin typeface="Cambria"/>
              </a:rPr>
              <a:t>−0.95b = −1.9</a:t>
            </a:r>
          </a:p>
        </p:txBody>
      </p:sp>
      <p:sp>
        <p:nvSpPr>
          <p:cNvPr id="22" name="TextBox 21"/>
          <p:cNvSpPr txBox="1"/>
          <p:nvPr/>
        </p:nvSpPr>
        <p:spPr>
          <a:xfrm>
            <a:off x="6446520" y="3154680"/>
            <a:ext cx="2286000" cy="502920"/>
          </a:xfrm>
          <a:prstGeom prst="rect">
            <a:avLst/>
          </a:prstGeom>
          <a:noFill/>
        </p:spPr>
        <p:txBody>
          <a:bodyPr wrap="square" lIns="0" rIns="0" tIns="0" bIns="0" anchor="ctr">
            <a:spAutoFit/>
          </a:bodyPr>
          <a:lstStyle/>
          <a:p>
            <a:pPr algn="l"/>
            <a:r>
              <a:rPr sz="2200" b="1" i="0">
                <a:solidFill>
                  <a:srgbClr val="14213D"/>
                </a:solidFill>
                <a:latin typeface="Cambria"/>
              </a:rPr>
              <a:t>b = 2</a:t>
            </a:r>
          </a:p>
        </p:txBody>
      </p:sp>
      <p:sp>
        <p:nvSpPr>
          <p:cNvPr id="23" name="TextBox 22"/>
          <p:cNvSpPr txBox="1"/>
          <p:nvPr/>
        </p:nvSpPr>
        <p:spPr>
          <a:xfrm>
            <a:off x="6446520" y="3931920"/>
            <a:ext cx="2286000" cy="822960"/>
          </a:xfrm>
          <a:prstGeom prst="rect">
            <a:avLst/>
          </a:prstGeom>
          <a:noFill/>
        </p:spPr>
        <p:txBody>
          <a:bodyPr wrap="square" lIns="0" rIns="0" tIns="0" bIns="0" anchor="t">
            <a:spAutoFit/>
          </a:bodyPr>
          <a:lstStyle/>
          <a:p>
            <a:pPr algn="l"/>
            <a:r>
              <a:rPr sz="1300" b="0" i="0">
                <a:solidFill>
                  <a:srgbClr val="5B6675"/>
                </a:solidFill>
                <a:latin typeface="Calibri"/>
              </a:rPr>
              <a:t>a is eliminated from equation 2.</a:t>
            </a:r>
          </a:p>
        </p:txBody>
      </p:sp>
      <p:sp>
        <p:nvSpPr>
          <p:cNvPr id="24" name="Rounded Rectangle 23"/>
          <p:cNvSpPr/>
          <p:nvPr/>
        </p:nvSpPr>
        <p:spPr>
          <a:xfrm>
            <a:off x="9052560" y="1600200"/>
            <a:ext cx="2651760" cy="329184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53728" y="1783080"/>
            <a:ext cx="365760" cy="365760"/>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26" name="TextBox 25"/>
          <p:cNvSpPr txBox="1"/>
          <p:nvPr/>
        </p:nvSpPr>
        <p:spPr>
          <a:xfrm>
            <a:off x="9710928" y="1737360"/>
            <a:ext cx="1920240" cy="731520"/>
          </a:xfrm>
          <a:prstGeom prst="rect">
            <a:avLst/>
          </a:prstGeom>
          <a:noFill/>
        </p:spPr>
        <p:txBody>
          <a:bodyPr wrap="square" lIns="0" rIns="0" tIns="0" bIns="0" anchor="ctr">
            <a:spAutoFit/>
          </a:bodyPr>
          <a:lstStyle/>
          <a:p>
            <a:pPr algn="l"/>
            <a:r>
              <a:rPr sz="1400" b="1" i="0">
                <a:solidFill>
                  <a:srgbClr val="14213D"/>
                </a:solidFill>
                <a:latin typeface="Calibri"/>
              </a:rPr>
              <a:t>Back-substitute b = 2</a:t>
            </a:r>
          </a:p>
        </p:txBody>
      </p:sp>
      <p:sp>
        <p:nvSpPr>
          <p:cNvPr id="27" name="TextBox 26"/>
          <p:cNvSpPr txBox="1"/>
          <p:nvPr/>
        </p:nvSpPr>
        <p:spPr>
          <a:xfrm>
            <a:off x="9281160" y="2651760"/>
            <a:ext cx="2286000" cy="502920"/>
          </a:xfrm>
          <a:prstGeom prst="rect">
            <a:avLst/>
          </a:prstGeom>
          <a:noFill/>
        </p:spPr>
        <p:txBody>
          <a:bodyPr wrap="square" lIns="0" rIns="0" tIns="0" bIns="0" anchor="ctr">
            <a:spAutoFit/>
          </a:bodyPr>
          <a:lstStyle/>
          <a:p>
            <a:pPr algn="l"/>
            <a:r>
              <a:rPr sz="2200" b="0" i="0">
                <a:solidFill>
                  <a:srgbClr val="14213D"/>
                </a:solidFill>
                <a:latin typeface="Cambria"/>
              </a:rPr>
              <a:t>a + 0.2(2) = 3.4</a:t>
            </a:r>
          </a:p>
        </p:txBody>
      </p:sp>
      <p:sp>
        <p:nvSpPr>
          <p:cNvPr id="28" name="TextBox 27"/>
          <p:cNvSpPr txBox="1"/>
          <p:nvPr/>
        </p:nvSpPr>
        <p:spPr>
          <a:xfrm>
            <a:off x="9281160" y="3154680"/>
            <a:ext cx="2286000" cy="502920"/>
          </a:xfrm>
          <a:prstGeom prst="rect">
            <a:avLst/>
          </a:prstGeom>
          <a:noFill/>
        </p:spPr>
        <p:txBody>
          <a:bodyPr wrap="square" lIns="0" rIns="0" tIns="0" bIns="0" anchor="ctr">
            <a:spAutoFit/>
          </a:bodyPr>
          <a:lstStyle/>
          <a:p>
            <a:pPr algn="l"/>
            <a:r>
              <a:rPr sz="2200" b="1" i="0">
                <a:solidFill>
                  <a:srgbClr val="14213D"/>
                </a:solidFill>
                <a:latin typeface="Cambria"/>
              </a:rPr>
              <a:t>a = 3</a:t>
            </a:r>
          </a:p>
        </p:txBody>
      </p:sp>
      <p:sp>
        <p:nvSpPr>
          <p:cNvPr id="29" name="TextBox 28"/>
          <p:cNvSpPr txBox="1"/>
          <p:nvPr/>
        </p:nvSpPr>
        <p:spPr>
          <a:xfrm>
            <a:off x="9281160" y="3931920"/>
            <a:ext cx="2286000" cy="822960"/>
          </a:xfrm>
          <a:prstGeom prst="rect">
            <a:avLst/>
          </a:prstGeom>
          <a:noFill/>
        </p:spPr>
        <p:txBody>
          <a:bodyPr wrap="square" lIns="0" rIns="0" tIns="0" bIns="0" anchor="t">
            <a:spAutoFit/>
          </a:bodyPr>
          <a:lstStyle/>
          <a:p>
            <a:pPr algn="l"/>
            <a:r>
              <a:rPr sz="1300" b="0" i="0">
                <a:solidFill>
                  <a:srgbClr val="5B6675"/>
                </a:solidFill>
                <a:latin typeface="Calibri"/>
              </a:rPr>
              <a:t>Solution: a = 3, b = 2.</a:t>
            </a:r>
          </a:p>
        </p:txBody>
      </p:sp>
      <p:sp>
        <p:nvSpPr>
          <p:cNvPr id="30" name="TextBox 29"/>
          <p:cNvSpPr txBox="1"/>
          <p:nvPr/>
        </p:nvSpPr>
        <p:spPr>
          <a:xfrm>
            <a:off x="548640" y="5120640"/>
            <a:ext cx="10972800" cy="914400"/>
          </a:xfrm>
          <a:prstGeom prst="rect">
            <a:avLst/>
          </a:prstGeom>
          <a:noFill/>
        </p:spPr>
        <p:txBody>
          <a:bodyPr wrap="square" lIns="0" rIns="0" tIns="0" bIns="0" anchor="t">
            <a:spAutoFit/>
          </a:bodyPr>
          <a:lstStyle/>
          <a:p>
            <a:pPr algn="l">
              <a:lnSpc>
                <a:spcPct val="120000"/>
              </a:lnSpc>
            </a:pPr>
            <a:r>
              <a:rPr sz="1600" b="0" i="0">
                <a:solidFill>
                  <a:srgbClr val="5B6675"/>
                </a:solidFill>
                <a:latin typeface="Calibri"/>
              </a:rPr>
              <a:t>The pattern: make the leading coefficients equal, subtract to eliminate a variable, solve the smaller system, then substitute back. Every step is one of the three legal operations, so the final system is equivalent to the original.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What if a coefficient of a is already zero?</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8</a:t>
            </a:r>
          </a:p>
        </p:txBody>
      </p:sp>
      <p:sp>
        <p:nvSpPr>
          <p:cNvPr id="6" name="Rounded Rectangle 5"/>
          <p:cNvSpPr/>
          <p:nvPr/>
        </p:nvSpPr>
        <p:spPr>
          <a:xfrm>
            <a:off x="548640" y="1600200"/>
            <a:ext cx="3383280" cy="219456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2834640" cy="274320"/>
          </a:xfrm>
          <a:prstGeom prst="rect">
            <a:avLst/>
          </a:prstGeom>
          <a:noFill/>
        </p:spPr>
        <p:txBody>
          <a:bodyPr wrap="square" lIns="0" rIns="0" tIns="0" bIns="0" anchor="t">
            <a:spAutoFit/>
          </a:bodyPr>
          <a:lstStyle/>
          <a:p>
            <a:pPr algn="l"/>
            <a:r>
              <a:rPr sz="1200" b="1" i="0">
                <a:solidFill>
                  <a:srgbClr val="1F6F8B"/>
                </a:solidFill>
                <a:latin typeface="Calibri"/>
              </a:rPr>
              <a:t>SYSTEM</a:t>
            </a:r>
          </a:p>
        </p:txBody>
      </p:sp>
      <p:sp>
        <p:nvSpPr>
          <p:cNvPr id="8" name="TextBox 7"/>
          <p:cNvSpPr txBox="1"/>
          <p:nvPr/>
        </p:nvSpPr>
        <p:spPr>
          <a:xfrm>
            <a:off x="822960" y="2103120"/>
            <a:ext cx="2834640" cy="566928"/>
          </a:xfrm>
          <a:prstGeom prst="rect">
            <a:avLst/>
          </a:prstGeom>
          <a:noFill/>
        </p:spPr>
        <p:txBody>
          <a:bodyPr wrap="square" lIns="0" rIns="0" tIns="0" bIns="0" anchor="ctr">
            <a:spAutoFit/>
          </a:bodyPr>
          <a:lstStyle/>
          <a:p>
            <a:pPr algn="l"/>
            <a:r>
              <a:rPr sz="2600" b="0" i="0">
                <a:solidFill>
                  <a:srgbClr val="14213D"/>
                </a:solidFill>
                <a:latin typeface="Cambria"/>
              </a:rPr>
              <a:t>5a + b = 17</a:t>
            </a:r>
          </a:p>
        </p:txBody>
      </p:sp>
      <p:sp>
        <p:nvSpPr>
          <p:cNvPr id="9" name="TextBox 8"/>
          <p:cNvSpPr txBox="1"/>
          <p:nvPr/>
        </p:nvSpPr>
        <p:spPr>
          <a:xfrm>
            <a:off x="822960" y="2670048"/>
            <a:ext cx="2834640" cy="566928"/>
          </a:xfrm>
          <a:prstGeom prst="rect">
            <a:avLst/>
          </a:prstGeom>
          <a:noFill/>
        </p:spPr>
        <p:txBody>
          <a:bodyPr wrap="square" lIns="0" rIns="0" tIns="0" bIns="0" anchor="ctr">
            <a:spAutoFit/>
          </a:bodyPr>
          <a:lstStyle/>
          <a:p>
            <a:pPr algn="l"/>
            <a:r>
              <a:rPr sz="2600" b="0" i="0">
                <a:solidFill>
                  <a:srgbClr val="14213D"/>
                </a:solidFill>
                <a:latin typeface="Cambria"/>
              </a:rPr>
              <a:t>3b = 6</a:t>
            </a:r>
          </a:p>
        </p:txBody>
      </p:sp>
      <p:sp>
        <p:nvSpPr>
          <p:cNvPr id="10" name="Right Arrow 9"/>
          <p:cNvSpPr/>
          <p:nvPr/>
        </p:nvSpPr>
        <p:spPr>
          <a:xfrm>
            <a:off x="4206240" y="2514600"/>
            <a:ext cx="914400" cy="36576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94960" y="1600200"/>
            <a:ext cx="2926080" cy="219456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0" y="1737360"/>
            <a:ext cx="2560320" cy="274320"/>
          </a:xfrm>
          <a:prstGeom prst="rect">
            <a:avLst/>
          </a:prstGeom>
          <a:noFill/>
        </p:spPr>
        <p:txBody>
          <a:bodyPr wrap="square" lIns="0" rIns="0" tIns="0" bIns="0" anchor="t">
            <a:spAutoFit/>
          </a:bodyPr>
          <a:lstStyle/>
          <a:p>
            <a:pPr algn="l"/>
            <a:r>
              <a:rPr sz="1200" b="1" i="0">
                <a:solidFill>
                  <a:srgbClr val="1F6F8B"/>
                </a:solidFill>
                <a:latin typeface="Calibri"/>
              </a:rPr>
              <a:t>ISOLATE b</a:t>
            </a:r>
          </a:p>
        </p:txBody>
      </p:sp>
      <p:sp>
        <p:nvSpPr>
          <p:cNvPr id="13" name="TextBox 12"/>
          <p:cNvSpPr txBox="1"/>
          <p:nvPr/>
        </p:nvSpPr>
        <p:spPr>
          <a:xfrm>
            <a:off x="5669280" y="2103120"/>
            <a:ext cx="2560320" cy="566928"/>
          </a:xfrm>
          <a:prstGeom prst="rect">
            <a:avLst/>
          </a:prstGeom>
          <a:noFill/>
        </p:spPr>
        <p:txBody>
          <a:bodyPr wrap="square" lIns="0" rIns="0" tIns="0" bIns="0" anchor="ctr">
            <a:spAutoFit/>
          </a:bodyPr>
          <a:lstStyle/>
          <a:p>
            <a:pPr algn="l"/>
            <a:r>
              <a:rPr sz="2600" b="0" i="0">
                <a:solidFill>
                  <a:srgbClr val="14213D"/>
                </a:solidFill>
                <a:latin typeface="Cambria"/>
              </a:rPr>
              <a:t>3b = 6</a:t>
            </a:r>
          </a:p>
        </p:txBody>
      </p:sp>
      <p:sp>
        <p:nvSpPr>
          <p:cNvPr id="14" name="TextBox 13"/>
          <p:cNvSpPr txBox="1"/>
          <p:nvPr/>
        </p:nvSpPr>
        <p:spPr>
          <a:xfrm>
            <a:off x="5669280" y="2670048"/>
            <a:ext cx="2560320" cy="566928"/>
          </a:xfrm>
          <a:prstGeom prst="rect">
            <a:avLst/>
          </a:prstGeom>
          <a:noFill/>
        </p:spPr>
        <p:txBody>
          <a:bodyPr wrap="square" lIns="0" rIns="0" tIns="0" bIns="0" anchor="ctr">
            <a:spAutoFit/>
          </a:bodyPr>
          <a:lstStyle/>
          <a:p>
            <a:pPr algn="l"/>
            <a:r>
              <a:rPr sz="2600" b="1" i="0">
                <a:solidFill>
                  <a:srgbClr val="14213D"/>
                </a:solidFill>
                <a:latin typeface="Cambria"/>
              </a:rPr>
              <a:t>b = 2</a:t>
            </a:r>
          </a:p>
        </p:txBody>
      </p:sp>
      <p:sp>
        <p:nvSpPr>
          <p:cNvPr id="15" name="Right Arrow 14"/>
          <p:cNvSpPr/>
          <p:nvPr/>
        </p:nvSpPr>
        <p:spPr>
          <a:xfrm>
            <a:off x="8595360" y="2514600"/>
            <a:ext cx="914400" cy="36576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84080" y="1600200"/>
            <a:ext cx="1828800" cy="219456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12680" y="1737360"/>
            <a:ext cx="1554480" cy="274320"/>
          </a:xfrm>
          <a:prstGeom prst="rect">
            <a:avLst/>
          </a:prstGeom>
          <a:noFill/>
        </p:spPr>
        <p:txBody>
          <a:bodyPr wrap="square" lIns="0" rIns="0" tIns="0" bIns="0" anchor="t">
            <a:spAutoFit/>
          </a:bodyPr>
          <a:lstStyle/>
          <a:p>
            <a:pPr algn="l"/>
            <a:r>
              <a:rPr sz="1200" b="1" i="0">
                <a:solidFill>
                  <a:srgbClr val="1F6F8B"/>
                </a:solidFill>
                <a:latin typeface="Calibri"/>
              </a:rPr>
              <a:t>SOLVED</a:t>
            </a:r>
          </a:p>
        </p:txBody>
      </p:sp>
      <p:sp>
        <p:nvSpPr>
          <p:cNvPr id="18" name="TextBox 17"/>
          <p:cNvSpPr txBox="1"/>
          <p:nvPr/>
        </p:nvSpPr>
        <p:spPr>
          <a:xfrm>
            <a:off x="10012680" y="2103120"/>
            <a:ext cx="1554480" cy="566928"/>
          </a:xfrm>
          <a:prstGeom prst="rect">
            <a:avLst/>
          </a:prstGeom>
          <a:noFill/>
        </p:spPr>
        <p:txBody>
          <a:bodyPr wrap="square" lIns="0" rIns="0" tIns="0" bIns="0" anchor="ctr">
            <a:spAutoFit/>
          </a:bodyPr>
          <a:lstStyle/>
          <a:p>
            <a:pPr algn="l"/>
            <a:r>
              <a:rPr sz="2600" b="0" i="0">
                <a:solidFill>
                  <a:srgbClr val="14213D"/>
                </a:solidFill>
                <a:latin typeface="Cambria"/>
              </a:rPr>
              <a:t>a = 3</a:t>
            </a:r>
          </a:p>
        </p:txBody>
      </p:sp>
      <p:sp>
        <p:nvSpPr>
          <p:cNvPr id="19" name="TextBox 18"/>
          <p:cNvSpPr txBox="1"/>
          <p:nvPr/>
        </p:nvSpPr>
        <p:spPr>
          <a:xfrm>
            <a:off x="10012680" y="2670048"/>
            <a:ext cx="1554480" cy="566928"/>
          </a:xfrm>
          <a:prstGeom prst="rect">
            <a:avLst/>
          </a:prstGeom>
          <a:noFill/>
        </p:spPr>
        <p:txBody>
          <a:bodyPr wrap="square" lIns="0" rIns="0" tIns="0" bIns="0" anchor="ctr">
            <a:spAutoFit/>
          </a:bodyPr>
          <a:lstStyle/>
          <a:p>
            <a:pPr algn="l"/>
            <a:r>
              <a:rPr sz="2600" b="0" i="0">
                <a:solidFill>
                  <a:srgbClr val="14213D"/>
                </a:solidFill>
                <a:latin typeface="Cambria"/>
              </a:rPr>
              <a:t>b = 2</a:t>
            </a:r>
          </a:p>
        </p:txBody>
      </p:sp>
      <p:sp>
        <p:nvSpPr>
          <p:cNvPr id="20" name="TextBox 19"/>
          <p:cNvSpPr txBox="1"/>
          <p:nvPr/>
        </p:nvSpPr>
        <p:spPr>
          <a:xfrm>
            <a:off x="548640" y="4114800"/>
            <a:ext cx="10972800" cy="1645920"/>
          </a:xfrm>
          <a:prstGeom prst="rect">
            <a:avLst/>
          </a:prstGeom>
          <a:noFill/>
        </p:spPr>
        <p:txBody>
          <a:bodyPr wrap="square" lIns="0" rIns="0" tIns="0" bIns="0" anchor="t">
            <a:spAutoFit/>
          </a:bodyPr>
          <a:lstStyle/>
          <a:p>
            <a:pPr algn="l">
              <a:lnSpc>
                <a:spcPct val="120000"/>
              </a:lnSpc>
              <a:spcAft>
                <a:spcPts val="800"/>
              </a:spcAft>
            </a:pPr>
            <a:r>
              <a:rPr sz="1700" b="0" i="0">
                <a:solidFill>
                  <a:srgbClr val="5B6675"/>
                </a:solidFill>
                <a:latin typeface="Calibri"/>
              </a:rPr>
              <a:t>There is nothing to eliminate: a already has coefficient 0 in the second equation, so that equation gives b directly.</a:t>
            </a:r>
          </a:p>
          <a:p>
            <a:pPr algn="l">
              <a:lnSpc>
                <a:spcPct val="120000"/>
              </a:lnSpc>
              <a:spcAft>
                <a:spcPts val="800"/>
              </a:spcAft>
            </a:pPr>
            <a:r>
              <a:rPr sz="1700" b="0" i="0">
                <a:solidFill>
                  <a:srgbClr val="5B6675"/>
                </a:solidFill>
                <a:latin typeface="Calibri"/>
              </a:rPr>
              <a:t>Then a + 0.2(2) = 3.4 gives a + 0.4 = 3.4, so a = 3.</a:t>
            </a:r>
          </a:p>
          <a:p>
            <a:pPr algn="l">
              <a:lnSpc>
                <a:spcPct val="120000"/>
              </a:lnSpc>
              <a:spcAft>
                <a:spcPts val="800"/>
              </a:spcAft>
            </a:pPr>
            <a:r>
              <a:rPr sz="1700" b="0" i="0">
                <a:solidFill>
                  <a:srgbClr val="5B6675"/>
                </a:solidFill>
                <a:latin typeface="Calibri"/>
              </a:rPr>
              <a:t>In matrix language this zero is a head start: the row is already in the shape elimination is trying to produce.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9</a:t>
            </a:r>
          </a:p>
        </p:txBody>
      </p:sp>
      <p:sp>
        <p:nvSpPr>
          <p:cNvPr id="4" name="TextBox 3"/>
          <p:cNvSpPr txBox="1"/>
          <p:nvPr/>
        </p:nvSpPr>
        <p:spPr>
          <a:xfrm>
            <a:off x="548640" y="548640"/>
            <a:ext cx="7315200" cy="365760"/>
          </a:xfrm>
          <a:prstGeom prst="rect">
            <a:avLst/>
          </a:prstGeom>
          <a:noFill/>
        </p:spPr>
        <p:txBody>
          <a:bodyPr wrap="square" lIns="0" rIns="0" tIns="0" bIns="0" anchor="t">
            <a:spAutoFit/>
          </a:bodyPr>
          <a:lstStyle/>
          <a:p>
            <a:pPr algn="l"/>
            <a:r>
              <a:rPr sz="1400" b="1" i="0">
                <a:solidFill>
                  <a:srgbClr val="F2B263"/>
                </a:solidFill>
                <a:latin typeface="Calibri"/>
              </a:rPr>
              <a:t>QUIZ 1  ·  PAUSE AND SOLVE</a:t>
            </a:r>
          </a:p>
        </p:txBody>
      </p:sp>
      <p:sp>
        <p:nvSpPr>
          <p:cNvPr id="5" name="TextBox 4"/>
          <p:cNvSpPr txBox="1"/>
          <p:nvPr/>
        </p:nvSpPr>
        <p:spPr>
          <a:xfrm>
            <a:off x="548640" y="1005840"/>
            <a:ext cx="10515600" cy="914400"/>
          </a:xfrm>
          <a:prstGeom prst="rect">
            <a:avLst/>
          </a:prstGeom>
          <a:noFill/>
        </p:spPr>
        <p:txBody>
          <a:bodyPr wrap="square" lIns="0" rIns="0" tIns="0" bIns="0" anchor="t">
            <a:spAutoFit/>
          </a:bodyPr>
          <a:lstStyle/>
          <a:p>
            <a:pPr algn="l"/>
            <a:r>
              <a:rPr sz="4000" b="1" i="0">
                <a:solidFill>
                  <a:srgbClr val="FFFFFF"/>
                </a:solidFill>
                <a:latin typeface="Cambria"/>
              </a:rPr>
              <a:t>Solve the following system of equations</a:t>
            </a:r>
          </a:p>
        </p:txBody>
      </p:sp>
      <p:sp>
        <p:nvSpPr>
          <p:cNvPr id="6" name="Rounded Rectangle 5"/>
          <p:cNvSpPr/>
          <p:nvPr/>
        </p:nvSpPr>
        <p:spPr>
          <a:xfrm>
            <a:off x="548640" y="2377440"/>
            <a:ext cx="5669280" cy="1773936"/>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97480"/>
            <a:ext cx="5120640" cy="548640"/>
          </a:xfrm>
          <a:prstGeom prst="rect">
            <a:avLst/>
          </a:prstGeom>
          <a:noFill/>
        </p:spPr>
        <p:txBody>
          <a:bodyPr wrap="square" lIns="0" rIns="0" tIns="0" bIns="0" anchor="ctr">
            <a:spAutoFit/>
          </a:bodyPr>
          <a:lstStyle/>
          <a:p>
            <a:pPr algn="l"/>
            <a:r>
              <a:rPr sz="3000" b="0" i="0">
                <a:solidFill>
                  <a:srgbClr val="FFFFFF"/>
                </a:solidFill>
                <a:latin typeface="Cambria"/>
              </a:rPr>
              <a:t>2a + 5b = 46</a:t>
            </a:r>
          </a:p>
        </p:txBody>
      </p:sp>
      <p:sp>
        <p:nvSpPr>
          <p:cNvPr id="8" name="TextBox 7"/>
          <p:cNvSpPr txBox="1"/>
          <p:nvPr/>
        </p:nvSpPr>
        <p:spPr>
          <a:xfrm>
            <a:off x="914400" y="3264408"/>
            <a:ext cx="5120640" cy="548640"/>
          </a:xfrm>
          <a:prstGeom prst="rect">
            <a:avLst/>
          </a:prstGeom>
          <a:noFill/>
        </p:spPr>
        <p:txBody>
          <a:bodyPr wrap="square" lIns="0" rIns="0" tIns="0" bIns="0" anchor="ctr">
            <a:spAutoFit/>
          </a:bodyPr>
          <a:lstStyle/>
          <a:p>
            <a:pPr algn="l"/>
            <a:r>
              <a:rPr sz="3000" b="0" i="0">
                <a:solidFill>
                  <a:srgbClr val="FFFFFF"/>
                </a:solidFill>
                <a:latin typeface="Cambria"/>
              </a:rPr>
              <a:t>8a + b = 32</a:t>
            </a:r>
          </a:p>
        </p:txBody>
      </p:sp>
      <p:sp>
        <p:nvSpPr>
          <p:cNvPr id="9" name="TextBox 8"/>
          <p:cNvSpPr txBox="1"/>
          <p:nvPr/>
        </p:nvSpPr>
        <p:spPr>
          <a:xfrm>
            <a:off x="6675120" y="2468880"/>
            <a:ext cx="4937760" cy="2286000"/>
          </a:xfrm>
          <a:prstGeom prst="rect">
            <a:avLst/>
          </a:prstGeom>
          <a:noFill/>
        </p:spPr>
        <p:txBody>
          <a:bodyPr wrap="square" lIns="0" rIns="0" tIns="0" bIns="0" anchor="t">
            <a:spAutoFit/>
          </a:bodyPr>
          <a:lstStyle/>
          <a:p>
            <a:pPr algn="l">
              <a:lnSpc>
                <a:spcPct val="125000"/>
              </a:lnSpc>
            </a:pPr>
            <a:r>
              <a:rPr sz="1800" b="0" i="0">
                <a:solidFill>
                  <a:srgbClr val="BFD8D5"/>
                </a:solidFill>
                <a:latin typeface="Calibri"/>
              </a:rPr>
              <a:t>Use the three legal operations: scale an equation, subtract to eliminate one variable, then back-substitute.</a:t>
            </a:r>
          </a:p>
          <a:p>
            <a:pPr algn="l">
              <a:lnSpc>
                <a:spcPct val="125000"/>
              </a:lnSpc>
            </a:pPr>
            <a:r>
              <a:rPr sz="1800" b="0" i="0">
                <a:solidFill>
                  <a:srgbClr val="BFD8D5"/>
                </a:solidFill>
                <a:latin typeface="Calibri"/>
              </a:rPr>
              <a:t/>
            </a:r>
          </a:p>
          <a:p>
            <a:pPr algn="l">
              <a:lnSpc>
                <a:spcPct val="125000"/>
              </a:lnSpc>
            </a:pPr>
            <a:r>
              <a:rPr sz="1800" b="0" i="0">
                <a:solidFill>
                  <a:srgbClr val="BFD8D5"/>
                </a:solidFill>
                <a:latin typeface="Calibri"/>
              </a:rPr>
              <a:t>Write your answer as a pair (a,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Quiz 1 · Solution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10</a:t>
            </a:r>
          </a:p>
        </p:txBody>
      </p:sp>
      <p:sp>
        <p:nvSpPr>
          <p:cNvPr id="6" name="Rounded Rectangle 5"/>
          <p:cNvSpPr/>
          <p:nvPr/>
        </p:nvSpPr>
        <p:spPr>
          <a:xfrm>
            <a:off x="548640" y="1554480"/>
            <a:ext cx="3291840" cy="18288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91640"/>
            <a:ext cx="2834640" cy="274320"/>
          </a:xfrm>
          <a:prstGeom prst="rect">
            <a:avLst/>
          </a:prstGeom>
          <a:noFill/>
        </p:spPr>
        <p:txBody>
          <a:bodyPr wrap="square" lIns="0" rIns="0" tIns="0" bIns="0" anchor="t">
            <a:spAutoFit/>
          </a:bodyPr>
          <a:lstStyle/>
          <a:p>
            <a:pPr algn="l"/>
            <a:r>
              <a:rPr sz="1200" b="1" i="0">
                <a:solidFill>
                  <a:srgbClr val="1F6F8B"/>
                </a:solidFill>
                <a:latin typeface="Calibri"/>
              </a:rPr>
              <a:t>SYSTEM</a:t>
            </a:r>
          </a:p>
        </p:txBody>
      </p:sp>
      <p:sp>
        <p:nvSpPr>
          <p:cNvPr id="8" name="TextBox 7"/>
          <p:cNvSpPr txBox="1"/>
          <p:nvPr/>
        </p:nvSpPr>
        <p:spPr>
          <a:xfrm>
            <a:off x="822960" y="2011680"/>
            <a:ext cx="2834640" cy="530352"/>
          </a:xfrm>
          <a:prstGeom prst="rect">
            <a:avLst/>
          </a:prstGeom>
          <a:noFill/>
        </p:spPr>
        <p:txBody>
          <a:bodyPr wrap="square" lIns="0" rIns="0" tIns="0" bIns="0" anchor="ctr">
            <a:spAutoFit/>
          </a:bodyPr>
          <a:lstStyle/>
          <a:p>
            <a:pPr algn="l"/>
            <a:r>
              <a:rPr sz="2400" b="0" i="0">
                <a:solidFill>
                  <a:srgbClr val="14213D"/>
                </a:solidFill>
                <a:latin typeface="Cambria"/>
              </a:rPr>
              <a:t>2a + 5b = 46</a:t>
            </a:r>
          </a:p>
        </p:txBody>
      </p:sp>
      <p:sp>
        <p:nvSpPr>
          <p:cNvPr id="9" name="TextBox 8"/>
          <p:cNvSpPr txBox="1"/>
          <p:nvPr/>
        </p:nvSpPr>
        <p:spPr>
          <a:xfrm>
            <a:off x="822960" y="2542032"/>
            <a:ext cx="2834640" cy="530352"/>
          </a:xfrm>
          <a:prstGeom prst="rect">
            <a:avLst/>
          </a:prstGeom>
          <a:noFill/>
        </p:spPr>
        <p:txBody>
          <a:bodyPr wrap="square" lIns="0" rIns="0" tIns="0" bIns="0" anchor="ctr">
            <a:spAutoFit/>
          </a:bodyPr>
          <a:lstStyle/>
          <a:p>
            <a:pPr algn="l"/>
            <a:r>
              <a:rPr sz="2400" b="0" i="0">
                <a:solidFill>
                  <a:srgbClr val="14213D"/>
                </a:solidFill>
                <a:latin typeface="Cambria"/>
              </a:rPr>
              <a:t>8a + b = 32</a:t>
            </a:r>
          </a:p>
        </p:txBody>
      </p:sp>
      <p:sp>
        <p:nvSpPr>
          <p:cNvPr id="10" name="TextBox 9"/>
          <p:cNvSpPr txBox="1"/>
          <p:nvPr/>
        </p:nvSpPr>
        <p:spPr>
          <a:xfrm>
            <a:off x="4206240" y="1554480"/>
            <a:ext cx="7406640" cy="274320"/>
          </a:xfrm>
          <a:prstGeom prst="rect">
            <a:avLst/>
          </a:prstGeom>
          <a:noFill/>
        </p:spPr>
        <p:txBody>
          <a:bodyPr wrap="square" lIns="0" rIns="0" tIns="0" bIns="0" anchor="t">
            <a:spAutoFit/>
          </a:bodyPr>
          <a:lstStyle/>
          <a:p>
            <a:pPr algn="l"/>
            <a:r>
              <a:rPr sz="1200" b="1" i="0">
                <a:solidFill>
                  <a:srgbClr val="1F6F8B"/>
                </a:solidFill>
                <a:latin typeface="Calibri"/>
              </a:rPr>
              <a:t>ELIMINATE b</a:t>
            </a:r>
          </a:p>
        </p:txBody>
      </p:sp>
      <p:sp>
        <p:nvSpPr>
          <p:cNvPr id="11" name="TextBox 10"/>
          <p:cNvSpPr txBox="1"/>
          <p:nvPr/>
        </p:nvSpPr>
        <p:spPr>
          <a:xfrm>
            <a:off x="4206240" y="1874519"/>
            <a:ext cx="7406640" cy="457200"/>
          </a:xfrm>
          <a:prstGeom prst="rect">
            <a:avLst/>
          </a:prstGeom>
          <a:noFill/>
        </p:spPr>
        <p:txBody>
          <a:bodyPr wrap="square" lIns="0" rIns="0" tIns="0" bIns="0" anchor="ctr">
            <a:spAutoFit/>
          </a:bodyPr>
          <a:lstStyle/>
          <a:p>
            <a:pPr algn="l"/>
            <a:r>
              <a:rPr sz="2000" b="0" i="0">
                <a:solidFill>
                  <a:srgbClr val="14213D"/>
                </a:solidFill>
                <a:latin typeface="Cambria"/>
              </a:rPr>
              <a:t>Multiply equation 2 by 5:          40a + 5b = 160</a:t>
            </a:r>
          </a:p>
        </p:txBody>
      </p:sp>
      <p:sp>
        <p:nvSpPr>
          <p:cNvPr id="12" name="TextBox 11"/>
          <p:cNvSpPr txBox="1"/>
          <p:nvPr/>
        </p:nvSpPr>
        <p:spPr>
          <a:xfrm>
            <a:off x="4206240" y="2331720"/>
            <a:ext cx="7406640" cy="457200"/>
          </a:xfrm>
          <a:prstGeom prst="rect">
            <a:avLst/>
          </a:prstGeom>
          <a:noFill/>
        </p:spPr>
        <p:txBody>
          <a:bodyPr wrap="square" lIns="0" rIns="0" tIns="0" bIns="0" anchor="ctr">
            <a:spAutoFit/>
          </a:bodyPr>
          <a:lstStyle/>
          <a:p>
            <a:pPr algn="l"/>
            <a:r>
              <a:rPr sz="2000" b="0" i="0">
                <a:solidFill>
                  <a:srgbClr val="14213D"/>
                </a:solidFill>
                <a:latin typeface="Cambria"/>
              </a:rPr>
              <a:t>Subtract equation 1:                  38a = 114</a:t>
            </a:r>
          </a:p>
        </p:txBody>
      </p:sp>
      <p:sp>
        <p:nvSpPr>
          <p:cNvPr id="13" name="TextBox 12"/>
          <p:cNvSpPr txBox="1"/>
          <p:nvPr/>
        </p:nvSpPr>
        <p:spPr>
          <a:xfrm>
            <a:off x="4206240" y="2788920"/>
            <a:ext cx="7406640" cy="457200"/>
          </a:xfrm>
          <a:prstGeom prst="rect">
            <a:avLst/>
          </a:prstGeom>
          <a:noFill/>
        </p:spPr>
        <p:txBody>
          <a:bodyPr wrap="square" lIns="0" rIns="0" tIns="0" bIns="0" anchor="ctr">
            <a:spAutoFit/>
          </a:bodyPr>
          <a:lstStyle/>
          <a:p>
            <a:pPr algn="l"/>
            <a:r>
              <a:rPr sz="2000" b="1" i="0">
                <a:solidFill>
                  <a:srgbClr val="14213D"/>
                </a:solidFill>
                <a:latin typeface="Cambria"/>
              </a:rPr>
              <a:t>a = 3</a:t>
            </a:r>
          </a:p>
        </p:txBody>
      </p:sp>
      <p:sp>
        <p:nvSpPr>
          <p:cNvPr id="14" name="TextBox 13"/>
          <p:cNvSpPr txBox="1"/>
          <p:nvPr/>
        </p:nvSpPr>
        <p:spPr>
          <a:xfrm>
            <a:off x="4206240" y="3383280"/>
            <a:ext cx="7406640" cy="274320"/>
          </a:xfrm>
          <a:prstGeom prst="rect">
            <a:avLst/>
          </a:prstGeom>
          <a:noFill/>
        </p:spPr>
        <p:txBody>
          <a:bodyPr wrap="square" lIns="0" rIns="0" tIns="0" bIns="0" anchor="t">
            <a:spAutoFit/>
          </a:bodyPr>
          <a:lstStyle/>
          <a:p>
            <a:pPr algn="l"/>
            <a:r>
              <a:rPr sz="1200" b="1" i="0">
                <a:solidFill>
                  <a:srgbClr val="1F6F8B"/>
                </a:solidFill>
                <a:latin typeface="Calibri"/>
              </a:rPr>
              <a:t>BACK-SUBSTITUTE</a:t>
            </a:r>
          </a:p>
        </p:txBody>
      </p:sp>
      <p:sp>
        <p:nvSpPr>
          <p:cNvPr id="15" name="TextBox 14"/>
          <p:cNvSpPr txBox="1"/>
          <p:nvPr/>
        </p:nvSpPr>
        <p:spPr>
          <a:xfrm>
            <a:off x="4206240" y="3703320"/>
            <a:ext cx="7406640" cy="457200"/>
          </a:xfrm>
          <a:prstGeom prst="rect">
            <a:avLst/>
          </a:prstGeom>
          <a:noFill/>
        </p:spPr>
        <p:txBody>
          <a:bodyPr wrap="square" lIns="0" rIns="0" tIns="0" bIns="0" anchor="ctr">
            <a:spAutoFit/>
          </a:bodyPr>
          <a:lstStyle/>
          <a:p>
            <a:pPr algn="l"/>
            <a:r>
              <a:rPr sz="2000" b="0" i="0">
                <a:solidFill>
                  <a:srgbClr val="14213D"/>
                </a:solidFill>
                <a:latin typeface="Cambria"/>
              </a:rPr>
              <a:t>8(3) + b = 32</a:t>
            </a:r>
          </a:p>
        </p:txBody>
      </p:sp>
      <p:sp>
        <p:nvSpPr>
          <p:cNvPr id="16" name="TextBox 15"/>
          <p:cNvSpPr txBox="1"/>
          <p:nvPr/>
        </p:nvSpPr>
        <p:spPr>
          <a:xfrm>
            <a:off x="4206240" y="4160520"/>
            <a:ext cx="7406640" cy="457200"/>
          </a:xfrm>
          <a:prstGeom prst="rect">
            <a:avLst/>
          </a:prstGeom>
          <a:noFill/>
        </p:spPr>
        <p:txBody>
          <a:bodyPr wrap="square" lIns="0" rIns="0" tIns="0" bIns="0" anchor="ctr">
            <a:spAutoFit/>
          </a:bodyPr>
          <a:lstStyle/>
          <a:p>
            <a:pPr algn="l"/>
            <a:r>
              <a:rPr sz="2000" b="1" i="0">
                <a:solidFill>
                  <a:srgbClr val="14213D"/>
                </a:solidFill>
                <a:latin typeface="Cambria"/>
              </a:rPr>
              <a:t>b = 8</a:t>
            </a:r>
          </a:p>
        </p:txBody>
      </p:sp>
      <p:sp>
        <p:nvSpPr>
          <p:cNvPr id="17" name="Rounded Rectangle 16"/>
          <p:cNvSpPr/>
          <p:nvPr/>
        </p:nvSpPr>
        <p:spPr>
          <a:xfrm>
            <a:off x="548640" y="3657600"/>
            <a:ext cx="3291840" cy="118872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794760"/>
            <a:ext cx="2834640" cy="274320"/>
          </a:xfrm>
          <a:prstGeom prst="rect">
            <a:avLst/>
          </a:prstGeom>
          <a:noFill/>
        </p:spPr>
        <p:txBody>
          <a:bodyPr wrap="square" lIns="0" rIns="0" tIns="0" bIns="0" anchor="t">
            <a:spAutoFit/>
          </a:bodyPr>
          <a:lstStyle/>
          <a:p>
            <a:pPr algn="l"/>
            <a:r>
              <a:rPr sz="1200" b="1" i="0">
                <a:solidFill>
                  <a:srgbClr val="1F6F8B"/>
                </a:solidFill>
                <a:latin typeface="Calibri"/>
              </a:rPr>
              <a:t>SOLUTION</a:t>
            </a:r>
          </a:p>
        </p:txBody>
      </p:sp>
      <p:sp>
        <p:nvSpPr>
          <p:cNvPr id="19" name="TextBox 18"/>
          <p:cNvSpPr txBox="1"/>
          <p:nvPr/>
        </p:nvSpPr>
        <p:spPr>
          <a:xfrm>
            <a:off x="822960" y="4069080"/>
            <a:ext cx="2834640" cy="640080"/>
          </a:xfrm>
          <a:prstGeom prst="rect">
            <a:avLst/>
          </a:prstGeom>
          <a:noFill/>
        </p:spPr>
        <p:txBody>
          <a:bodyPr wrap="square" lIns="0" rIns="0" tIns="0" bIns="0" anchor="t">
            <a:spAutoFit/>
          </a:bodyPr>
          <a:lstStyle/>
          <a:p>
            <a:pPr algn="l"/>
            <a:r>
              <a:rPr sz="2800" b="1" i="0">
                <a:solidFill>
                  <a:srgbClr val="14213D"/>
                </a:solidFill>
                <a:latin typeface="Cambria"/>
              </a:rPr>
              <a:t>a = 3,  b = 8</a:t>
            </a:r>
          </a:p>
        </p:txBody>
      </p:sp>
      <p:sp>
        <p:nvSpPr>
          <p:cNvPr id="20" name="TextBox 19"/>
          <p:cNvSpPr txBox="1"/>
          <p:nvPr/>
        </p:nvSpPr>
        <p:spPr>
          <a:xfrm>
            <a:off x="4206240" y="4846320"/>
            <a:ext cx="5029200" cy="274320"/>
          </a:xfrm>
          <a:prstGeom prst="rect">
            <a:avLst/>
          </a:prstGeom>
          <a:noFill/>
        </p:spPr>
        <p:txBody>
          <a:bodyPr wrap="square" lIns="0" rIns="0" tIns="0" bIns="0" anchor="t">
            <a:spAutoFit/>
          </a:bodyPr>
          <a:lstStyle/>
          <a:p>
            <a:pPr algn="l"/>
            <a:r>
              <a:rPr sz="1100" b="1" i="0">
                <a:solidFill>
                  <a:srgbClr val="1F6F8B"/>
                </a:solidFill>
                <a:latin typeface="Calibri"/>
              </a:rPr>
              <a:t>CHECK</a:t>
            </a:r>
          </a:p>
        </p:txBody>
      </p:sp>
      <p:sp>
        <p:nvSpPr>
          <p:cNvPr id="21" name="TextBox 20"/>
          <p:cNvSpPr txBox="1"/>
          <p:nvPr/>
        </p:nvSpPr>
        <p:spPr>
          <a:xfrm>
            <a:off x="4206240" y="5120640"/>
            <a:ext cx="5029200" cy="1097280"/>
          </a:xfrm>
          <a:prstGeom prst="rect">
            <a:avLst/>
          </a:prstGeom>
          <a:noFill/>
        </p:spPr>
        <p:txBody>
          <a:bodyPr wrap="square" lIns="0" rIns="0" tIns="0" bIns="0" anchor="t">
            <a:spAutoFit/>
          </a:bodyPr>
          <a:lstStyle/>
          <a:p>
            <a:pPr algn="l">
              <a:spcAft>
                <a:spcPts val="300"/>
              </a:spcAft>
            </a:pPr>
            <a:r>
              <a:rPr sz="1500" b="0" i="0">
                <a:solidFill>
                  <a:srgbClr val="5B6675"/>
                </a:solidFill>
                <a:latin typeface="Cambria"/>
              </a:rPr>
              <a:t>2(3) + 5(8) = 6 + 40 = 46  ✓</a:t>
            </a:r>
          </a:p>
          <a:p>
            <a:pPr algn="l">
              <a:spcAft>
                <a:spcPts val="300"/>
              </a:spcAft>
            </a:pPr>
            <a:r>
              <a:rPr sz="1500" b="0" i="0">
                <a:solidFill>
                  <a:srgbClr val="5B6675"/>
                </a:solidFill>
                <a:latin typeface="Cambria"/>
              </a:rPr>
              <a:t>8(3) + 8 = 24 + 8 = 32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What if the system is singular? (redundant)</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11</a:t>
            </a:r>
          </a:p>
        </p:txBody>
      </p:sp>
      <p:sp>
        <p:nvSpPr>
          <p:cNvPr id="6" name="Rounded Rectangle 5"/>
          <p:cNvSpPr/>
          <p:nvPr/>
        </p:nvSpPr>
        <p:spPr>
          <a:xfrm>
            <a:off x="548640" y="1600200"/>
            <a:ext cx="3200400" cy="210312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2743200" cy="274320"/>
          </a:xfrm>
          <a:prstGeom prst="rect">
            <a:avLst/>
          </a:prstGeom>
          <a:noFill/>
        </p:spPr>
        <p:txBody>
          <a:bodyPr wrap="square" lIns="0" rIns="0" tIns="0" bIns="0" anchor="t">
            <a:spAutoFit/>
          </a:bodyPr>
          <a:lstStyle/>
          <a:p>
            <a:pPr algn="l"/>
            <a:r>
              <a:rPr sz="1200" b="1" i="0">
                <a:solidFill>
                  <a:srgbClr val="1F6F8B"/>
                </a:solidFill>
                <a:latin typeface="Calibri"/>
              </a:rPr>
              <a:t>SYSTEM</a:t>
            </a:r>
          </a:p>
        </p:txBody>
      </p:sp>
      <p:sp>
        <p:nvSpPr>
          <p:cNvPr id="8" name="TextBox 7"/>
          <p:cNvSpPr txBox="1"/>
          <p:nvPr/>
        </p:nvSpPr>
        <p:spPr>
          <a:xfrm>
            <a:off x="822960" y="2103120"/>
            <a:ext cx="2743200" cy="548640"/>
          </a:xfrm>
          <a:prstGeom prst="rect">
            <a:avLst/>
          </a:prstGeom>
          <a:noFill/>
        </p:spPr>
        <p:txBody>
          <a:bodyPr wrap="square" lIns="0" rIns="0" tIns="0" bIns="0" anchor="ctr">
            <a:spAutoFit/>
          </a:bodyPr>
          <a:lstStyle/>
          <a:p>
            <a:pPr algn="l"/>
            <a:r>
              <a:rPr sz="2400" b="0" i="0">
                <a:solidFill>
                  <a:srgbClr val="14213D"/>
                </a:solidFill>
                <a:latin typeface="Cambria"/>
              </a:rPr>
              <a:t>a + b = 10</a:t>
            </a:r>
          </a:p>
        </p:txBody>
      </p:sp>
      <p:sp>
        <p:nvSpPr>
          <p:cNvPr id="9" name="TextBox 8"/>
          <p:cNvSpPr txBox="1"/>
          <p:nvPr/>
        </p:nvSpPr>
        <p:spPr>
          <a:xfrm>
            <a:off x="822960" y="2651760"/>
            <a:ext cx="2743200" cy="548640"/>
          </a:xfrm>
          <a:prstGeom prst="rect">
            <a:avLst/>
          </a:prstGeom>
          <a:noFill/>
        </p:spPr>
        <p:txBody>
          <a:bodyPr wrap="square" lIns="0" rIns="0" tIns="0" bIns="0" anchor="ctr">
            <a:spAutoFit/>
          </a:bodyPr>
          <a:lstStyle/>
          <a:p>
            <a:pPr algn="l"/>
            <a:r>
              <a:rPr sz="2400" b="0" i="0">
                <a:solidFill>
                  <a:srgbClr val="14213D"/>
                </a:solidFill>
                <a:latin typeface="Cambria"/>
              </a:rPr>
              <a:t>2a + 2b = 20</a:t>
            </a:r>
          </a:p>
        </p:txBody>
      </p:sp>
      <p:sp>
        <p:nvSpPr>
          <p:cNvPr id="10" name="Right Arrow 9"/>
          <p:cNvSpPr/>
          <p:nvPr/>
        </p:nvSpPr>
        <p:spPr>
          <a:xfrm>
            <a:off x="3977639" y="2468880"/>
            <a:ext cx="822960" cy="347472"/>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79" y="2871216"/>
            <a:ext cx="2011680" cy="731520"/>
          </a:xfrm>
          <a:prstGeom prst="rect">
            <a:avLst/>
          </a:prstGeom>
          <a:noFill/>
        </p:spPr>
        <p:txBody>
          <a:bodyPr wrap="square" lIns="0" rIns="0" tIns="0" bIns="0" anchor="t">
            <a:spAutoFit/>
          </a:bodyPr>
          <a:lstStyle/>
          <a:p>
            <a:pPr algn="ctr"/>
            <a:r>
              <a:rPr sz="1300" b="0" i="0">
                <a:solidFill>
                  <a:srgbClr val="5B6675"/>
                </a:solidFill>
                <a:latin typeface="Calibri"/>
              </a:rPr>
              <a:t>divide eq. 2 by 2</a:t>
            </a:r>
          </a:p>
        </p:txBody>
      </p:sp>
      <p:sp>
        <p:nvSpPr>
          <p:cNvPr id="12" name="Rounded Rectangle 11"/>
          <p:cNvSpPr/>
          <p:nvPr/>
        </p:nvSpPr>
        <p:spPr>
          <a:xfrm>
            <a:off x="5029200" y="1600200"/>
            <a:ext cx="3017520" cy="210312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2103120"/>
            <a:ext cx="2560320" cy="548640"/>
          </a:xfrm>
          <a:prstGeom prst="rect">
            <a:avLst/>
          </a:prstGeom>
          <a:noFill/>
        </p:spPr>
        <p:txBody>
          <a:bodyPr wrap="square" lIns="0" rIns="0" tIns="0" bIns="0" anchor="ctr">
            <a:spAutoFit/>
          </a:bodyPr>
          <a:lstStyle/>
          <a:p>
            <a:pPr algn="l"/>
            <a:r>
              <a:rPr sz="2400" b="0" i="0">
                <a:solidFill>
                  <a:srgbClr val="14213D"/>
                </a:solidFill>
                <a:latin typeface="Cambria"/>
              </a:rPr>
              <a:t>a + b = 10</a:t>
            </a:r>
          </a:p>
        </p:txBody>
      </p:sp>
      <p:sp>
        <p:nvSpPr>
          <p:cNvPr id="14" name="TextBox 13"/>
          <p:cNvSpPr txBox="1"/>
          <p:nvPr/>
        </p:nvSpPr>
        <p:spPr>
          <a:xfrm>
            <a:off x="5303520" y="2651760"/>
            <a:ext cx="2560320" cy="548640"/>
          </a:xfrm>
          <a:prstGeom prst="rect">
            <a:avLst/>
          </a:prstGeom>
          <a:noFill/>
        </p:spPr>
        <p:txBody>
          <a:bodyPr wrap="square" lIns="0" rIns="0" tIns="0" bIns="0" anchor="ctr">
            <a:spAutoFit/>
          </a:bodyPr>
          <a:lstStyle/>
          <a:p>
            <a:pPr algn="l"/>
            <a:r>
              <a:rPr sz="2400" b="0" i="0">
                <a:solidFill>
                  <a:srgbClr val="14213D"/>
                </a:solidFill>
                <a:latin typeface="Cambria"/>
              </a:rPr>
              <a:t>a + b = 10</a:t>
            </a:r>
          </a:p>
        </p:txBody>
      </p:sp>
      <p:sp>
        <p:nvSpPr>
          <p:cNvPr id="15" name="Right Arrow 14"/>
          <p:cNvSpPr/>
          <p:nvPr/>
        </p:nvSpPr>
        <p:spPr>
          <a:xfrm>
            <a:off x="8275320" y="2468880"/>
            <a:ext cx="822960" cy="347472"/>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2871216"/>
            <a:ext cx="2011680" cy="731520"/>
          </a:xfrm>
          <a:prstGeom prst="rect">
            <a:avLst/>
          </a:prstGeom>
          <a:noFill/>
        </p:spPr>
        <p:txBody>
          <a:bodyPr wrap="square" lIns="0" rIns="0" tIns="0" bIns="0" anchor="t">
            <a:spAutoFit/>
          </a:bodyPr>
          <a:lstStyle/>
          <a:p>
            <a:pPr algn="ctr"/>
            <a:r>
              <a:rPr sz="1300" b="0" i="0">
                <a:solidFill>
                  <a:srgbClr val="5B6675"/>
                </a:solidFill>
                <a:latin typeface="Calibri"/>
              </a:rPr>
              <a:t>subtract eq. 1</a:t>
            </a:r>
          </a:p>
        </p:txBody>
      </p:sp>
      <p:sp>
        <p:nvSpPr>
          <p:cNvPr id="17" name="Rounded Rectangle 16"/>
          <p:cNvSpPr/>
          <p:nvPr/>
        </p:nvSpPr>
        <p:spPr>
          <a:xfrm>
            <a:off x="9326880" y="1600200"/>
            <a:ext cx="2286000" cy="2103120"/>
          </a:xfrm>
          <a:prstGeom prst="roundRect">
            <a:avLst>
              <a:gd name="adj" fmla="val 5000"/>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2103120"/>
            <a:ext cx="1828800" cy="548640"/>
          </a:xfrm>
          <a:prstGeom prst="rect">
            <a:avLst/>
          </a:prstGeom>
          <a:noFill/>
        </p:spPr>
        <p:txBody>
          <a:bodyPr wrap="square" lIns="0" rIns="0" tIns="0" bIns="0" anchor="ctr">
            <a:spAutoFit/>
          </a:bodyPr>
          <a:lstStyle/>
          <a:p>
            <a:pPr algn="l"/>
            <a:r>
              <a:rPr sz="2400" b="0" i="0">
                <a:solidFill>
                  <a:srgbClr val="14213D"/>
                </a:solidFill>
                <a:latin typeface="Cambria"/>
              </a:rPr>
              <a:t>a + b = 10</a:t>
            </a:r>
          </a:p>
        </p:txBody>
      </p:sp>
      <p:sp>
        <p:nvSpPr>
          <p:cNvPr id="19" name="TextBox 18"/>
          <p:cNvSpPr txBox="1"/>
          <p:nvPr/>
        </p:nvSpPr>
        <p:spPr>
          <a:xfrm>
            <a:off x="9601200" y="2651760"/>
            <a:ext cx="1828800" cy="548640"/>
          </a:xfrm>
          <a:prstGeom prst="rect">
            <a:avLst/>
          </a:prstGeom>
          <a:noFill/>
        </p:spPr>
        <p:txBody>
          <a:bodyPr wrap="square" lIns="0" rIns="0" tIns="0" bIns="0" anchor="ctr">
            <a:spAutoFit/>
          </a:bodyPr>
          <a:lstStyle/>
          <a:p>
            <a:pPr algn="l"/>
            <a:r>
              <a:rPr sz="2400" b="1" i="0">
                <a:solidFill>
                  <a:srgbClr val="14213D"/>
                </a:solidFill>
                <a:latin typeface="Cambria"/>
              </a:rPr>
              <a:t>0 = 0</a:t>
            </a:r>
          </a:p>
        </p:txBody>
      </p:sp>
      <p:sp>
        <p:nvSpPr>
          <p:cNvPr id="20" name="TextBox 19"/>
          <p:cNvSpPr txBox="1"/>
          <p:nvPr/>
        </p:nvSpPr>
        <p:spPr>
          <a:xfrm>
            <a:off x="548640" y="4206240"/>
            <a:ext cx="6766560" cy="1828800"/>
          </a:xfrm>
          <a:prstGeom prst="rect">
            <a:avLst/>
          </a:prstGeom>
          <a:noFill/>
        </p:spPr>
        <p:txBody>
          <a:bodyPr wrap="square" lIns="0" rIns="0" tIns="0" bIns="0" anchor="t">
            <a:spAutoFit/>
          </a:bodyPr>
          <a:lstStyle/>
          <a:p>
            <a:pPr algn="l">
              <a:lnSpc>
                <a:spcPct val="120000"/>
              </a:lnSpc>
              <a:spcAft>
                <a:spcPts val="800"/>
              </a:spcAft>
            </a:pPr>
            <a:r>
              <a:rPr sz="1700" b="1" i="0">
                <a:solidFill>
                  <a:srgbClr val="5B6675"/>
                </a:solidFill>
                <a:latin typeface="Calibri"/>
              </a:rPr>
              <a:t>The second equation carried no new information.</a:t>
            </a:r>
          </a:p>
          <a:p>
            <a:pPr algn="l">
              <a:lnSpc>
                <a:spcPct val="120000"/>
              </a:lnSpc>
              <a:spcAft>
                <a:spcPts val="800"/>
              </a:spcAft>
            </a:pPr>
            <a:r>
              <a:rPr sz="1700" b="0" i="0">
                <a:solidFill>
                  <a:srgbClr val="5B6675"/>
                </a:solidFill>
                <a:latin typeface="Calibri"/>
              </a:rPr>
              <a:t>After elimination only one equation survives, and one equation cannot pin down two unknowns.</a:t>
            </a:r>
          </a:p>
          <a:p>
            <a:pPr algn="l">
              <a:lnSpc>
                <a:spcPct val="120000"/>
              </a:lnSpc>
              <a:spcAft>
                <a:spcPts val="800"/>
              </a:spcAft>
            </a:pPr>
            <a:r>
              <a:rPr sz="1700" b="0" i="0">
                <a:solidFill>
                  <a:srgbClr val="5B6675"/>
                </a:solidFill>
                <a:latin typeface="Calibri"/>
              </a:rPr>
              <a:t>Pick any value a = x. Then b = 10 − x also works: the system has infinitely many solutions, with one degree of freedom.</a:t>
            </a:r>
          </a:p>
        </p:txBody>
      </p:sp>
      <p:sp>
        <p:nvSpPr>
          <p:cNvPr id="21" name="Rounded Rectangle 20"/>
          <p:cNvSpPr/>
          <p:nvPr/>
        </p:nvSpPr>
        <p:spPr>
          <a:xfrm>
            <a:off x="7680960" y="4206240"/>
            <a:ext cx="3931920" cy="173736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4343400"/>
            <a:ext cx="3474720" cy="274320"/>
          </a:xfrm>
          <a:prstGeom prst="rect">
            <a:avLst/>
          </a:prstGeom>
          <a:noFill/>
        </p:spPr>
        <p:txBody>
          <a:bodyPr wrap="square" lIns="0" rIns="0" tIns="0" bIns="0" anchor="t">
            <a:spAutoFit/>
          </a:bodyPr>
          <a:lstStyle/>
          <a:p>
            <a:pPr algn="l"/>
            <a:r>
              <a:rPr sz="1200" b="1" i="0">
                <a:solidFill>
                  <a:srgbClr val="1F6F8B"/>
                </a:solidFill>
                <a:latin typeface="Calibri"/>
              </a:rPr>
              <a:t>SOLUTION SET</a:t>
            </a:r>
          </a:p>
        </p:txBody>
      </p:sp>
      <p:sp>
        <p:nvSpPr>
          <p:cNvPr id="23" name="TextBox 22"/>
          <p:cNvSpPr txBox="1"/>
          <p:nvPr/>
        </p:nvSpPr>
        <p:spPr>
          <a:xfrm>
            <a:off x="7955279" y="4663440"/>
            <a:ext cx="3474720" cy="502920"/>
          </a:xfrm>
          <a:prstGeom prst="rect">
            <a:avLst/>
          </a:prstGeom>
          <a:noFill/>
        </p:spPr>
        <p:txBody>
          <a:bodyPr wrap="square" lIns="0" rIns="0" tIns="0" bIns="0" anchor="ctr">
            <a:spAutoFit/>
          </a:bodyPr>
          <a:lstStyle/>
          <a:p>
            <a:pPr algn="l"/>
            <a:r>
              <a:rPr sz="2400" b="0" i="0">
                <a:solidFill>
                  <a:srgbClr val="14213D"/>
                </a:solidFill>
                <a:latin typeface="Cambria"/>
              </a:rPr>
              <a:t>a = x</a:t>
            </a:r>
          </a:p>
        </p:txBody>
      </p:sp>
      <p:sp>
        <p:nvSpPr>
          <p:cNvPr id="24" name="TextBox 23"/>
          <p:cNvSpPr txBox="1"/>
          <p:nvPr/>
        </p:nvSpPr>
        <p:spPr>
          <a:xfrm>
            <a:off x="7955279" y="5166359"/>
            <a:ext cx="3474720" cy="502920"/>
          </a:xfrm>
          <a:prstGeom prst="rect">
            <a:avLst/>
          </a:prstGeom>
          <a:noFill/>
        </p:spPr>
        <p:txBody>
          <a:bodyPr wrap="square" lIns="0" rIns="0" tIns="0" bIns="0" anchor="ctr">
            <a:spAutoFit/>
          </a:bodyPr>
          <a:lstStyle/>
          <a:p>
            <a:pPr algn="l"/>
            <a:r>
              <a:rPr sz="2400" b="0" i="0">
                <a:solidFill>
                  <a:srgbClr val="14213D"/>
                </a:solidFill>
                <a:latin typeface="Cambria"/>
              </a:rPr>
              <a:t>b = 10 − x</a:t>
            </a:r>
          </a:p>
        </p:txBody>
      </p:sp>
      <p:sp>
        <p:nvSpPr>
          <p:cNvPr id="25" name="TextBox 24"/>
          <p:cNvSpPr txBox="1"/>
          <p:nvPr/>
        </p:nvSpPr>
        <p:spPr>
          <a:xfrm>
            <a:off x="7955279" y="5623560"/>
            <a:ext cx="3474720" cy="274320"/>
          </a:xfrm>
          <a:prstGeom prst="rect">
            <a:avLst/>
          </a:prstGeom>
          <a:noFill/>
        </p:spPr>
        <p:txBody>
          <a:bodyPr wrap="square" lIns="0" rIns="0" tIns="0" bIns="0" anchor="t">
            <a:spAutoFit/>
          </a:bodyPr>
          <a:lstStyle/>
          <a:p>
            <a:pPr algn="l"/>
            <a:r>
              <a:rPr sz="1400" b="0" i="0">
                <a:solidFill>
                  <a:srgbClr val="5B6675"/>
                </a:solidFill>
                <a:latin typeface="Calibri"/>
              </a:rPr>
              <a:t>for every real number 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What if the system is singular? (contradictory)</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12</a:t>
            </a:r>
          </a:p>
        </p:txBody>
      </p:sp>
      <p:sp>
        <p:nvSpPr>
          <p:cNvPr id="6" name="Rounded Rectangle 5"/>
          <p:cNvSpPr/>
          <p:nvPr/>
        </p:nvSpPr>
        <p:spPr>
          <a:xfrm>
            <a:off x="548640" y="1600200"/>
            <a:ext cx="3200400" cy="210312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2743200" cy="274320"/>
          </a:xfrm>
          <a:prstGeom prst="rect">
            <a:avLst/>
          </a:prstGeom>
          <a:noFill/>
        </p:spPr>
        <p:txBody>
          <a:bodyPr wrap="square" lIns="0" rIns="0" tIns="0" bIns="0" anchor="t">
            <a:spAutoFit/>
          </a:bodyPr>
          <a:lstStyle/>
          <a:p>
            <a:pPr algn="l"/>
            <a:r>
              <a:rPr sz="1200" b="1" i="0">
                <a:solidFill>
                  <a:srgbClr val="1F6F8B"/>
                </a:solidFill>
                <a:latin typeface="Calibri"/>
              </a:rPr>
              <a:t>SYSTEM</a:t>
            </a:r>
          </a:p>
        </p:txBody>
      </p:sp>
      <p:sp>
        <p:nvSpPr>
          <p:cNvPr id="8" name="TextBox 7"/>
          <p:cNvSpPr txBox="1"/>
          <p:nvPr/>
        </p:nvSpPr>
        <p:spPr>
          <a:xfrm>
            <a:off x="822960" y="2103120"/>
            <a:ext cx="2743200" cy="548640"/>
          </a:xfrm>
          <a:prstGeom prst="rect">
            <a:avLst/>
          </a:prstGeom>
          <a:noFill/>
        </p:spPr>
        <p:txBody>
          <a:bodyPr wrap="square" lIns="0" rIns="0" tIns="0" bIns="0" anchor="ctr">
            <a:spAutoFit/>
          </a:bodyPr>
          <a:lstStyle/>
          <a:p>
            <a:pPr algn="l"/>
            <a:r>
              <a:rPr sz="2400" b="0" i="0">
                <a:solidFill>
                  <a:srgbClr val="14213D"/>
                </a:solidFill>
                <a:latin typeface="Cambria"/>
              </a:rPr>
              <a:t>a + b = 10</a:t>
            </a:r>
          </a:p>
        </p:txBody>
      </p:sp>
      <p:sp>
        <p:nvSpPr>
          <p:cNvPr id="9" name="TextBox 8"/>
          <p:cNvSpPr txBox="1"/>
          <p:nvPr/>
        </p:nvSpPr>
        <p:spPr>
          <a:xfrm>
            <a:off x="822960" y="2651760"/>
            <a:ext cx="2743200" cy="548640"/>
          </a:xfrm>
          <a:prstGeom prst="rect">
            <a:avLst/>
          </a:prstGeom>
          <a:noFill/>
        </p:spPr>
        <p:txBody>
          <a:bodyPr wrap="square" lIns="0" rIns="0" tIns="0" bIns="0" anchor="ctr">
            <a:spAutoFit/>
          </a:bodyPr>
          <a:lstStyle/>
          <a:p>
            <a:pPr algn="l"/>
            <a:r>
              <a:rPr sz="2400" b="0" i="0">
                <a:solidFill>
                  <a:srgbClr val="14213D"/>
                </a:solidFill>
                <a:latin typeface="Cambria"/>
              </a:rPr>
              <a:t>2a + 2b = 24</a:t>
            </a:r>
          </a:p>
        </p:txBody>
      </p:sp>
      <p:sp>
        <p:nvSpPr>
          <p:cNvPr id="10" name="Right Arrow 9"/>
          <p:cNvSpPr/>
          <p:nvPr/>
        </p:nvSpPr>
        <p:spPr>
          <a:xfrm>
            <a:off x="3977639" y="2468880"/>
            <a:ext cx="822960" cy="347472"/>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79" y="2871216"/>
            <a:ext cx="2011680" cy="731520"/>
          </a:xfrm>
          <a:prstGeom prst="rect">
            <a:avLst/>
          </a:prstGeom>
          <a:noFill/>
        </p:spPr>
        <p:txBody>
          <a:bodyPr wrap="square" lIns="0" rIns="0" tIns="0" bIns="0" anchor="t">
            <a:spAutoFit/>
          </a:bodyPr>
          <a:lstStyle/>
          <a:p>
            <a:pPr algn="ctr"/>
            <a:r>
              <a:rPr sz="1300" b="0" i="0">
                <a:solidFill>
                  <a:srgbClr val="5B6675"/>
                </a:solidFill>
                <a:latin typeface="Calibri"/>
              </a:rPr>
              <a:t>divide eq. 2 by 2</a:t>
            </a:r>
          </a:p>
        </p:txBody>
      </p:sp>
      <p:sp>
        <p:nvSpPr>
          <p:cNvPr id="12" name="Rounded Rectangle 11"/>
          <p:cNvSpPr/>
          <p:nvPr/>
        </p:nvSpPr>
        <p:spPr>
          <a:xfrm>
            <a:off x="5029200" y="1600200"/>
            <a:ext cx="3017520" cy="210312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2103120"/>
            <a:ext cx="2560320" cy="548640"/>
          </a:xfrm>
          <a:prstGeom prst="rect">
            <a:avLst/>
          </a:prstGeom>
          <a:noFill/>
        </p:spPr>
        <p:txBody>
          <a:bodyPr wrap="square" lIns="0" rIns="0" tIns="0" bIns="0" anchor="ctr">
            <a:spAutoFit/>
          </a:bodyPr>
          <a:lstStyle/>
          <a:p>
            <a:pPr algn="l"/>
            <a:r>
              <a:rPr sz="2400" b="0" i="0">
                <a:solidFill>
                  <a:srgbClr val="14213D"/>
                </a:solidFill>
                <a:latin typeface="Cambria"/>
              </a:rPr>
              <a:t>a + b = 10</a:t>
            </a:r>
          </a:p>
        </p:txBody>
      </p:sp>
      <p:sp>
        <p:nvSpPr>
          <p:cNvPr id="14" name="TextBox 13"/>
          <p:cNvSpPr txBox="1"/>
          <p:nvPr/>
        </p:nvSpPr>
        <p:spPr>
          <a:xfrm>
            <a:off x="5303520" y="2651760"/>
            <a:ext cx="2560320" cy="548640"/>
          </a:xfrm>
          <a:prstGeom prst="rect">
            <a:avLst/>
          </a:prstGeom>
          <a:noFill/>
        </p:spPr>
        <p:txBody>
          <a:bodyPr wrap="square" lIns="0" rIns="0" tIns="0" bIns="0" anchor="ctr">
            <a:spAutoFit/>
          </a:bodyPr>
          <a:lstStyle/>
          <a:p>
            <a:pPr algn="l"/>
            <a:r>
              <a:rPr sz="2400" b="0" i="0">
                <a:solidFill>
                  <a:srgbClr val="14213D"/>
                </a:solidFill>
                <a:latin typeface="Cambria"/>
              </a:rPr>
              <a:t>a + b = 12</a:t>
            </a:r>
          </a:p>
        </p:txBody>
      </p:sp>
      <p:sp>
        <p:nvSpPr>
          <p:cNvPr id="15" name="Right Arrow 14"/>
          <p:cNvSpPr/>
          <p:nvPr/>
        </p:nvSpPr>
        <p:spPr>
          <a:xfrm>
            <a:off x="8275320" y="2468880"/>
            <a:ext cx="822960" cy="347472"/>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2871216"/>
            <a:ext cx="2011680" cy="731520"/>
          </a:xfrm>
          <a:prstGeom prst="rect">
            <a:avLst/>
          </a:prstGeom>
          <a:noFill/>
        </p:spPr>
        <p:txBody>
          <a:bodyPr wrap="square" lIns="0" rIns="0" tIns="0" bIns="0" anchor="t">
            <a:spAutoFit/>
          </a:bodyPr>
          <a:lstStyle/>
          <a:p>
            <a:pPr algn="ctr"/>
            <a:r>
              <a:rPr sz="1300" b="0" i="0">
                <a:solidFill>
                  <a:srgbClr val="5B6675"/>
                </a:solidFill>
                <a:latin typeface="Calibri"/>
              </a:rPr>
              <a:t>subtract eq. 1</a:t>
            </a:r>
          </a:p>
        </p:txBody>
      </p:sp>
      <p:sp>
        <p:nvSpPr>
          <p:cNvPr id="17" name="Rounded Rectangle 16"/>
          <p:cNvSpPr/>
          <p:nvPr/>
        </p:nvSpPr>
        <p:spPr>
          <a:xfrm>
            <a:off x="9326880" y="1600200"/>
            <a:ext cx="2286000" cy="2103120"/>
          </a:xfrm>
          <a:prstGeom prst="roundRect">
            <a:avLst>
              <a:gd name="adj" fmla="val 5000"/>
            </a:avLst>
          </a:prstGeom>
          <a:solidFill>
            <a:srgbClr val="F6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2103120"/>
            <a:ext cx="1828800" cy="548640"/>
          </a:xfrm>
          <a:prstGeom prst="rect">
            <a:avLst/>
          </a:prstGeom>
          <a:noFill/>
        </p:spPr>
        <p:txBody>
          <a:bodyPr wrap="square" lIns="0" rIns="0" tIns="0" bIns="0" anchor="ctr">
            <a:spAutoFit/>
          </a:bodyPr>
          <a:lstStyle/>
          <a:p>
            <a:pPr algn="l"/>
            <a:r>
              <a:rPr sz="2400" b="0" i="0">
                <a:solidFill>
                  <a:srgbClr val="14213D"/>
                </a:solidFill>
                <a:latin typeface="Cambria"/>
              </a:rPr>
              <a:t>a + b = 10</a:t>
            </a:r>
          </a:p>
        </p:txBody>
      </p:sp>
      <p:sp>
        <p:nvSpPr>
          <p:cNvPr id="19" name="TextBox 18"/>
          <p:cNvSpPr txBox="1"/>
          <p:nvPr/>
        </p:nvSpPr>
        <p:spPr>
          <a:xfrm>
            <a:off x="9601200" y="2651760"/>
            <a:ext cx="1828800" cy="548640"/>
          </a:xfrm>
          <a:prstGeom prst="rect">
            <a:avLst/>
          </a:prstGeom>
          <a:noFill/>
        </p:spPr>
        <p:txBody>
          <a:bodyPr wrap="square" lIns="0" rIns="0" tIns="0" bIns="0" anchor="ctr">
            <a:spAutoFit/>
          </a:bodyPr>
          <a:lstStyle/>
          <a:p>
            <a:pPr algn="l"/>
            <a:r>
              <a:rPr sz="2400" b="1" i="0">
                <a:solidFill>
                  <a:srgbClr val="B23A3A"/>
                </a:solidFill>
                <a:latin typeface="Cambria"/>
              </a:rPr>
              <a:t>0 = 2</a:t>
            </a:r>
          </a:p>
        </p:txBody>
      </p:sp>
      <p:sp>
        <p:nvSpPr>
          <p:cNvPr id="20" name="TextBox 19"/>
          <p:cNvSpPr txBox="1"/>
          <p:nvPr/>
        </p:nvSpPr>
        <p:spPr>
          <a:xfrm>
            <a:off x="548640" y="4206240"/>
            <a:ext cx="6766560" cy="1828800"/>
          </a:xfrm>
          <a:prstGeom prst="rect">
            <a:avLst/>
          </a:prstGeom>
          <a:noFill/>
        </p:spPr>
        <p:txBody>
          <a:bodyPr wrap="square" lIns="0" rIns="0" tIns="0" bIns="0" anchor="t">
            <a:spAutoFit/>
          </a:bodyPr>
          <a:lstStyle/>
          <a:p>
            <a:pPr algn="l">
              <a:lnSpc>
                <a:spcPct val="120000"/>
              </a:lnSpc>
              <a:spcAft>
                <a:spcPts val="800"/>
              </a:spcAft>
            </a:pPr>
            <a:r>
              <a:rPr sz="1700" b="1" i="0">
                <a:solidFill>
                  <a:srgbClr val="B23A3A"/>
                </a:solidFill>
                <a:latin typeface="Calibri"/>
              </a:rPr>
              <a:t>A contradiction.</a:t>
            </a:r>
          </a:p>
          <a:p>
            <a:pPr algn="l">
              <a:lnSpc>
                <a:spcPct val="120000"/>
              </a:lnSpc>
              <a:spcAft>
                <a:spcPts val="800"/>
              </a:spcAft>
            </a:pPr>
            <a:r>
              <a:rPr sz="1700" b="0" i="0">
                <a:solidFill>
                  <a:srgbClr val="5B6675"/>
                </a:solidFill>
                <a:latin typeface="Calibri"/>
              </a:rPr>
              <a:t>No choice of a and b can make 0 equal to 2, so no pair satisfies both equations.</a:t>
            </a:r>
          </a:p>
          <a:p>
            <a:pPr algn="l">
              <a:lnSpc>
                <a:spcPct val="120000"/>
              </a:lnSpc>
              <a:spcAft>
                <a:spcPts val="800"/>
              </a:spcAft>
            </a:pPr>
            <a:r>
              <a:rPr sz="1700" b="0" i="0">
                <a:solidFill>
                  <a:srgbClr val="5B6675"/>
                </a:solidFill>
                <a:latin typeface="Calibri"/>
              </a:rPr>
              <a:t>The left-hand sides are proportional (2a + 2b is twice a + b) but the right-hand sides are not (24 is not twice 10).</a:t>
            </a:r>
          </a:p>
        </p:txBody>
      </p:sp>
      <p:sp>
        <p:nvSpPr>
          <p:cNvPr id="21" name="Rounded Rectangle 20"/>
          <p:cNvSpPr/>
          <p:nvPr/>
        </p:nvSpPr>
        <p:spPr>
          <a:xfrm>
            <a:off x="7680960" y="4206240"/>
            <a:ext cx="3931920" cy="1737360"/>
          </a:xfrm>
          <a:prstGeom prst="roundRect">
            <a:avLst>
              <a:gd name="adj" fmla="val 5000"/>
            </a:avLst>
          </a:prstGeom>
          <a:solidFill>
            <a:srgbClr val="F6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4343400"/>
            <a:ext cx="3474720" cy="274320"/>
          </a:xfrm>
          <a:prstGeom prst="rect">
            <a:avLst/>
          </a:prstGeom>
          <a:noFill/>
        </p:spPr>
        <p:txBody>
          <a:bodyPr wrap="square" lIns="0" rIns="0" tIns="0" bIns="0" anchor="t">
            <a:spAutoFit/>
          </a:bodyPr>
          <a:lstStyle/>
          <a:p>
            <a:pPr algn="l"/>
            <a:r>
              <a:rPr sz="1200" b="1" i="0">
                <a:solidFill>
                  <a:srgbClr val="B23A3A"/>
                </a:solidFill>
                <a:latin typeface="Calibri"/>
              </a:rPr>
              <a:t>SOLUTION SET</a:t>
            </a:r>
          </a:p>
        </p:txBody>
      </p:sp>
      <p:sp>
        <p:nvSpPr>
          <p:cNvPr id="23" name="TextBox 22"/>
          <p:cNvSpPr txBox="1"/>
          <p:nvPr/>
        </p:nvSpPr>
        <p:spPr>
          <a:xfrm>
            <a:off x="7955279" y="4663440"/>
            <a:ext cx="3474720" cy="640080"/>
          </a:xfrm>
          <a:prstGeom prst="rect">
            <a:avLst/>
          </a:prstGeom>
          <a:noFill/>
        </p:spPr>
        <p:txBody>
          <a:bodyPr wrap="square" lIns="0" rIns="0" tIns="0" bIns="0" anchor="t">
            <a:spAutoFit/>
          </a:bodyPr>
          <a:lstStyle/>
          <a:p>
            <a:pPr algn="l"/>
            <a:r>
              <a:rPr sz="2800" b="1" i="0">
                <a:solidFill>
                  <a:srgbClr val="14213D"/>
                </a:solidFill>
                <a:latin typeface="Cambria"/>
              </a:rPr>
              <a:t>empty</a:t>
            </a:r>
          </a:p>
        </p:txBody>
      </p:sp>
      <p:sp>
        <p:nvSpPr>
          <p:cNvPr id="24" name="TextBox 23"/>
          <p:cNvSpPr txBox="1"/>
          <p:nvPr/>
        </p:nvSpPr>
        <p:spPr>
          <a:xfrm>
            <a:off x="7955279" y="5349240"/>
            <a:ext cx="3474720" cy="457200"/>
          </a:xfrm>
          <a:prstGeom prst="rect">
            <a:avLst/>
          </a:prstGeom>
          <a:noFill/>
        </p:spPr>
        <p:txBody>
          <a:bodyPr wrap="square" lIns="0" rIns="0" tIns="0" bIns="0" anchor="t">
            <a:spAutoFit/>
          </a:bodyPr>
          <a:lstStyle/>
          <a:p>
            <a:pPr algn="l"/>
            <a:r>
              <a:rPr sz="1400" b="0" i="0">
                <a:solidFill>
                  <a:srgbClr val="5B6675"/>
                </a:solidFill>
                <a:latin typeface="Calibri"/>
              </a:rPr>
              <a:t>the system has no solutions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Classifying systems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13</a:t>
            </a:r>
          </a:p>
        </p:txBody>
      </p:sp>
      <p:sp>
        <p:nvSpPr>
          <p:cNvPr id="6" name="Rounded Rectangle 5"/>
          <p:cNvSpPr/>
          <p:nvPr/>
        </p:nvSpPr>
        <p:spPr>
          <a:xfrm>
            <a:off x="548640" y="1508760"/>
            <a:ext cx="11064240" cy="178308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09928"/>
            <a:ext cx="1051560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2020824"/>
            <a:ext cx="10515600" cy="1143000"/>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A system is </a:t>
            </a:r>
            <a:r>
              <a:rPr sz="1700" b="1" i="0">
                <a:solidFill>
                  <a:srgbClr val="14213D"/>
                </a:solidFill>
                <a:latin typeface="Calibri"/>
              </a:rPr>
              <a:t>consistent</a:t>
            </a:r>
            <a:r>
              <a:rPr sz="1700" b="0" i="0">
                <a:solidFill>
                  <a:srgbClr val="14213D"/>
                </a:solidFill>
                <a:latin typeface="Calibri"/>
              </a:rPr>
              <a:t> if it has at least one solution and </a:t>
            </a:r>
            <a:r>
              <a:rPr sz="1700" b="1" i="0">
                <a:solidFill>
                  <a:srgbClr val="14213D"/>
                </a:solidFill>
                <a:latin typeface="Calibri"/>
              </a:rPr>
              <a:t>inconsistent</a:t>
            </a:r>
            <a:r>
              <a:rPr sz="1700" b="0" i="0">
                <a:solidFill>
                  <a:srgbClr val="14213D"/>
                </a:solidFill>
                <a:latin typeface="Calibri"/>
              </a:rPr>
              <a:t> if it has none.</a:t>
            </a:r>
          </a:p>
          <a:p>
            <a:pPr algn="l">
              <a:lnSpc>
                <a:spcPct val="115000"/>
              </a:lnSpc>
              <a:spcAft>
                <a:spcPts val="600"/>
              </a:spcAft>
            </a:pPr>
            <a:r>
              <a:rPr sz="1700" b="0" i="0">
                <a:solidFill>
                  <a:srgbClr val="14213D"/>
                </a:solidFill>
                <a:latin typeface="Calibri"/>
              </a:rPr>
              <a:t>A square system (as many equations as unknowns) is </a:t>
            </a:r>
            <a:r>
              <a:rPr sz="1700" b="1" i="0">
                <a:solidFill>
                  <a:srgbClr val="14213D"/>
                </a:solidFill>
                <a:latin typeface="Calibri"/>
              </a:rPr>
              <a:t>non-singular</a:t>
            </a:r>
            <a:r>
              <a:rPr sz="1700" b="0" i="0">
                <a:solidFill>
                  <a:srgbClr val="14213D"/>
                </a:solidFill>
                <a:latin typeface="Calibri"/>
              </a:rPr>
              <a:t> if it has exactly one solution, and </a:t>
            </a:r>
            <a:r>
              <a:rPr sz="1700" b="1" i="0">
                <a:solidFill>
                  <a:srgbClr val="14213D"/>
                </a:solidFill>
                <a:latin typeface="Calibri"/>
              </a:rPr>
              <a:t>singular</a:t>
            </a:r>
            <a:r>
              <a:rPr sz="1700" b="0" i="0">
                <a:solidFill>
                  <a:srgbClr val="14213D"/>
                </a:solidFill>
                <a:latin typeface="Calibri"/>
              </a:rPr>
              <a:t> otherwise, that is, when it has infinitely many solutions or none.</a:t>
            </a:r>
          </a:p>
        </p:txBody>
      </p:sp>
      <p:sp>
        <p:nvSpPr>
          <p:cNvPr id="9" name="Rounded Rectangle 8"/>
          <p:cNvSpPr/>
          <p:nvPr/>
        </p:nvSpPr>
        <p:spPr>
          <a:xfrm>
            <a:off x="548640" y="3566160"/>
            <a:ext cx="3566160" cy="251460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03320"/>
            <a:ext cx="3108960" cy="365760"/>
          </a:xfrm>
          <a:prstGeom prst="rect">
            <a:avLst/>
          </a:prstGeom>
          <a:noFill/>
        </p:spPr>
        <p:txBody>
          <a:bodyPr wrap="square" lIns="0" rIns="0" tIns="0" bIns="0" anchor="t">
            <a:spAutoFit/>
          </a:bodyPr>
          <a:lstStyle/>
          <a:p>
            <a:pPr algn="l"/>
            <a:r>
              <a:rPr sz="1800" b="1" i="0">
                <a:solidFill>
                  <a:srgbClr val="14213D"/>
                </a:solidFill>
                <a:latin typeface="Calibri"/>
              </a:rPr>
              <a:t>Unique solution</a:t>
            </a:r>
          </a:p>
        </p:txBody>
      </p:sp>
      <p:sp>
        <p:nvSpPr>
          <p:cNvPr id="11" name="TextBox 10"/>
          <p:cNvSpPr txBox="1"/>
          <p:nvPr/>
        </p:nvSpPr>
        <p:spPr>
          <a:xfrm>
            <a:off x="777240" y="4041648"/>
            <a:ext cx="3108960" cy="274320"/>
          </a:xfrm>
          <a:prstGeom prst="rect">
            <a:avLst/>
          </a:prstGeom>
          <a:noFill/>
        </p:spPr>
        <p:txBody>
          <a:bodyPr wrap="square" lIns="0" rIns="0" tIns="0" bIns="0" anchor="t">
            <a:spAutoFit/>
          </a:bodyPr>
          <a:lstStyle/>
          <a:p>
            <a:pPr algn="l"/>
            <a:r>
              <a:rPr sz="1100" b="1" i="0">
                <a:solidFill>
                  <a:srgbClr val="1F6F8B"/>
                </a:solidFill>
                <a:latin typeface="Calibri"/>
              </a:rPr>
              <a:t>NON-SINGULAR</a:t>
            </a:r>
          </a:p>
        </p:txBody>
      </p:sp>
      <p:sp>
        <p:nvSpPr>
          <p:cNvPr id="12" name="TextBox 11"/>
          <p:cNvSpPr txBox="1"/>
          <p:nvPr/>
        </p:nvSpPr>
        <p:spPr>
          <a:xfrm>
            <a:off x="777240" y="4434840"/>
            <a:ext cx="3108960" cy="411480"/>
          </a:xfrm>
          <a:prstGeom prst="rect">
            <a:avLst/>
          </a:prstGeom>
          <a:noFill/>
        </p:spPr>
        <p:txBody>
          <a:bodyPr wrap="square" lIns="0" rIns="0" tIns="0" bIns="0" anchor="ctr">
            <a:spAutoFit/>
          </a:bodyPr>
          <a:lstStyle/>
          <a:p>
            <a:pPr algn="l"/>
            <a:r>
              <a:rPr sz="2000" b="0" i="0">
                <a:solidFill>
                  <a:srgbClr val="14213D"/>
                </a:solidFill>
                <a:latin typeface="Cambria"/>
              </a:rPr>
              <a:t>a + b = 10</a:t>
            </a:r>
          </a:p>
        </p:txBody>
      </p:sp>
      <p:sp>
        <p:nvSpPr>
          <p:cNvPr id="13" name="TextBox 12"/>
          <p:cNvSpPr txBox="1"/>
          <p:nvPr/>
        </p:nvSpPr>
        <p:spPr>
          <a:xfrm>
            <a:off x="777240" y="4846320"/>
            <a:ext cx="3108960" cy="411480"/>
          </a:xfrm>
          <a:prstGeom prst="rect">
            <a:avLst/>
          </a:prstGeom>
          <a:noFill/>
        </p:spPr>
        <p:txBody>
          <a:bodyPr wrap="square" lIns="0" rIns="0" tIns="0" bIns="0" anchor="ctr">
            <a:spAutoFit/>
          </a:bodyPr>
          <a:lstStyle/>
          <a:p>
            <a:pPr algn="l"/>
            <a:r>
              <a:rPr sz="2000" b="0" i="0">
                <a:solidFill>
                  <a:srgbClr val="14213D"/>
                </a:solidFill>
                <a:latin typeface="Cambria"/>
              </a:rPr>
              <a:t>a + 2b = 12</a:t>
            </a:r>
          </a:p>
        </p:txBody>
      </p:sp>
      <p:sp>
        <p:nvSpPr>
          <p:cNvPr id="14" name="TextBox 13"/>
          <p:cNvSpPr txBox="1"/>
          <p:nvPr/>
        </p:nvSpPr>
        <p:spPr>
          <a:xfrm>
            <a:off x="777240" y="5394960"/>
            <a:ext cx="3108960" cy="548640"/>
          </a:xfrm>
          <a:prstGeom prst="rect">
            <a:avLst/>
          </a:prstGeom>
          <a:noFill/>
        </p:spPr>
        <p:txBody>
          <a:bodyPr wrap="square" lIns="0" rIns="0" tIns="0" bIns="0" anchor="t">
            <a:spAutoFit/>
          </a:bodyPr>
          <a:lstStyle/>
          <a:p>
            <a:pPr algn="l"/>
            <a:r>
              <a:rPr sz="1300" b="0" i="0">
                <a:solidFill>
                  <a:srgbClr val="5B6675"/>
                </a:solidFill>
                <a:latin typeface="Calibri"/>
              </a:rPr>
              <a:t>Geometrically: two lines that cross in one point</a:t>
            </a:r>
          </a:p>
        </p:txBody>
      </p:sp>
      <p:sp>
        <p:nvSpPr>
          <p:cNvPr id="15" name="Rounded Rectangle 14"/>
          <p:cNvSpPr/>
          <p:nvPr/>
        </p:nvSpPr>
        <p:spPr>
          <a:xfrm>
            <a:off x="4297679" y="3566160"/>
            <a:ext cx="3566160" cy="2514600"/>
          </a:xfrm>
          <a:prstGeom prst="roundRect">
            <a:avLst>
              <a:gd name="adj" fmla="val 5000"/>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79" y="3703320"/>
            <a:ext cx="3108960" cy="365760"/>
          </a:xfrm>
          <a:prstGeom prst="rect">
            <a:avLst/>
          </a:prstGeom>
          <a:noFill/>
        </p:spPr>
        <p:txBody>
          <a:bodyPr wrap="square" lIns="0" rIns="0" tIns="0" bIns="0" anchor="t">
            <a:spAutoFit/>
          </a:bodyPr>
          <a:lstStyle/>
          <a:p>
            <a:pPr algn="l"/>
            <a:r>
              <a:rPr sz="1800" b="1" i="0">
                <a:solidFill>
                  <a:srgbClr val="14213D"/>
                </a:solidFill>
                <a:latin typeface="Calibri"/>
              </a:rPr>
              <a:t>Infinitely many solutions</a:t>
            </a:r>
          </a:p>
        </p:txBody>
      </p:sp>
      <p:sp>
        <p:nvSpPr>
          <p:cNvPr id="17" name="TextBox 16"/>
          <p:cNvSpPr txBox="1"/>
          <p:nvPr/>
        </p:nvSpPr>
        <p:spPr>
          <a:xfrm>
            <a:off x="4526279" y="4041648"/>
            <a:ext cx="3108960" cy="274320"/>
          </a:xfrm>
          <a:prstGeom prst="rect">
            <a:avLst/>
          </a:prstGeom>
          <a:noFill/>
        </p:spPr>
        <p:txBody>
          <a:bodyPr wrap="square" lIns="0" rIns="0" tIns="0" bIns="0" anchor="t">
            <a:spAutoFit/>
          </a:bodyPr>
          <a:lstStyle/>
          <a:p>
            <a:pPr algn="l"/>
            <a:r>
              <a:rPr sz="1100" b="1" i="0">
                <a:solidFill>
                  <a:srgbClr val="1F6F8B"/>
                </a:solidFill>
                <a:latin typeface="Calibri"/>
              </a:rPr>
              <a:t>SINGULAR · REDUNDANT</a:t>
            </a:r>
          </a:p>
        </p:txBody>
      </p:sp>
      <p:sp>
        <p:nvSpPr>
          <p:cNvPr id="18" name="TextBox 17"/>
          <p:cNvSpPr txBox="1"/>
          <p:nvPr/>
        </p:nvSpPr>
        <p:spPr>
          <a:xfrm>
            <a:off x="4526279" y="4434840"/>
            <a:ext cx="3108960" cy="411480"/>
          </a:xfrm>
          <a:prstGeom prst="rect">
            <a:avLst/>
          </a:prstGeom>
          <a:noFill/>
        </p:spPr>
        <p:txBody>
          <a:bodyPr wrap="square" lIns="0" rIns="0" tIns="0" bIns="0" anchor="ctr">
            <a:spAutoFit/>
          </a:bodyPr>
          <a:lstStyle/>
          <a:p>
            <a:pPr algn="l"/>
            <a:r>
              <a:rPr sz="2000" b="0" i="0">
                <a:solidFill>
                  <a:srgbClr val="14213D"/>
                </a:solidFill>
                <a:latin typeface="Cambria"/>
              </a:rPr>
              <a:t>a + b = 10</a:t>
            </a:r>
          </a:p>
        </p:txBody>
      </p:sp>
      <p:sp>
        <p:nvSpPr>
          <p:cNvPr id="19" name="TextBox 18"/>
          <p:cNvSpPr txBox="1"/>
          <p:nvPr/>
        </p:nvSpPr>
        <p:spPr>
          <a:xfrm>
            <a:off x="4526279" y="4846320"/>
            <a:ext cx="3108960" cy="411480"/>
          </a:xfrm>
          <a:prstGeom prst="rect">
            <a:avLst/>
          </a:prstGeom>
          <a:noFill/>
        </p:spPr>
        <p:txBody>
          <a:bodyPr wrap="square" lIns="0" rIns="0" tIns="0" bIns="0" anchor="ctr">
            <a:spAutoFit/>
          </a:bodyPr>
          <a:lstStyle/>
          <a:p>
            <a:pPr algn="l"/>
            <a:r>
              <a:rPr sz="2000" b="0" i="0">
                <a:solidFill>
                  <a:srgbClr val="14213D"/>
                </a:solidFill>
                <a:latin typeface="Cambria"/>
              </a:rPr>
              <a:t>2a + 2b = 20</a:t>
            </a:r>
          </a:p>
        </p:txBody>
      </p:sp>
      <p:sp>
        <p:nvSpPr>
          <p:cNvPr id="20" name="TextBox 19"/>
          <p:cNvSpPr txBox="1"/>
          <p:nvPr/>
        </p:nvSpPr>
        <p:spPr>
          <a:xfrm>
            <a:off x="4526279" y="5394960"/>
            <a:ext cx="3108960" cy="548640"/>
          </a:xfrm>
          <a:prstGeom prst="rect">
            <a:avLst/>
          </a:prstGeom>
          <a:noFill/>
        </p:spPr>
        <p:txBody>
          <a:bodyPr wrap="square" lIns="0" rIns="0" tIns="0" bIns="0" anchor="t">
            <a:spAutoFit/>
          </a:bodyPr>
          <a:lstStyle/>
          <a:p>
            <a:pPr algn="l"/>
            <a:r>
              <a:rPr sz="1300" b="0" i="0">
                <a:solidFill>
                  <a:srgbClr val="5B6675"/>
                </a:solidFill>
                <a:latin typeface="Calibri"/>
              </a:rPr>
              <a:t>Geometrically: two equations for the same line</a:t>
            </a:r>
          </a:p>
        </p:txBody>
      </p:sp>
      <p:sp>
        <p:nvSpPr>
          <p:cNvPr id="21" name="Rounded Rectangle 20"/>
          <p:cNvSpPr/>
          <p:nvPr/>
        </p:nvSpPr>
        <p:spPr>
          <a:xfrm>
            <a:off x="8046719" y="3566160"/>
            <a:ext cx="3566160" cy="2514600"/>
          </a:xfrm>
          <a:prstGeom prst="roundRect">
            <a:avLst>
              <a:gd name="adj" fmla="val 5000"/>
            </a:avLst>
          </a:prstGeom>
          <a:solidFill>
            <a:srgbClr val="F6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19" y="3703320"/>
            <a:ext cx="3108960" cy="365760"/>
          </a:xfrm>
          <a:prstGeom prst="rect">
            <a:avLst/>
          </a:prstGeom>
          <a:noFill/>
        </p:spPr>
        <p:txBody>
          <a:bodyPr wrap="square" lIns="0" rIns="0" tIns="0" bIns="0" anchor="t">
            <a:spAutoFit/>
          </a:bodyPr>
          <a:lstStyle/>
          <a:p>
            <a:pPr algn="l"/>
            <a:r>
              <a:rPr sz="1800" b="1" i="0">
                <a:solidFill>
                  <a:srgbClr val="14213D"/>
                </a:solidFill>
                <a:latin typeface="Calibri"/>
              </a:rPr>
              <a:t>No solution</a:t>
            </a:r>
          </a:p>
        </p:txBody>
      </p:sp>
      <p:sp>
        <p:nvSpPr>
          <p:cNvPr id="23" name="TextBox 22"/>
          <p:cNvSpPr txBox="1"/>
          <p:nvPr/>
        </p:nvSpPr>
        <p:spPr>
          <a:xfrm>
            <a:off x="8275319" y="4041648"/>
            <a:ext cx="3108960" cy="274320"/>
          </a:xfrm>
          <a:prstGeom prst="rect">
            <a:avLst/>
          </a:prstGeom>
          <a:noFill/>
        </p:spPr>
        <p:txBody>
          <a:bodyPr wrap="square" lIns="0" rIns="0" tIns="0" bIns="0" anchor="t">
            <a:spAutoFit/>
          </a:bodyPr>
          <a:lstStyle/>
          <a:p>
            <a:pPr algn="l"/>
            <a:r>
              <a:rPr sz="1100" b="1" i="0">
                <a:solidFill>
                  <a:srgbClr val="1F6F8B"/>
                </a:solidFill>
                <a:latin typeface="Calibri"/>
              </a:rPr>
              <a:t>SINGULAR · CONTRADICTORY</a:t>
            </a:r>
          </a:p>
        </p:txBody>
      </p:sp>
      <p:sp>
        <p:nvSpPr>
          <p:cNvPr id="24" name="TextBox 23"/>
          <p:cNvSpPr txBox="1"/>
          <p:nvPr/>
        </p:nvSpPr>
        <p:spPr>
          <a:xfrm>
            <a:off x="8275319" y="4434840"/>
            <a:ext cx="3108960" cy="411480"/>
          </a:xfrm>
          <a:prstGeom prst="rect">
            <a:avLst/>
          </a:prstGeom>
          <a:noFill/>
        </p:spPr>
        <p:txBody>
          <a:bodyPr wrap="square" lIns="0" rIns="0" tIns="0" bIns="0" anchor="ctr">
            <a:spAutoFit/>
          </a:bodyPr>
          <a:lstStyle/>
          <a:p>
            <a:pPr algn="l"/>
            <a:r>
              <a:rPr sz="2000" b="0" i="0">
                <a:solidFill>
                  <a:srgbClr val="14213D"/>
                </a:solidFill>
                <a:latin typeface="Cambria"/>
              </a:rPr>
              <a:t>a + b = 10</a:t>
            </a:r>
          </a:p>
        </p:txBody>
      </p:sp>
      <p:sp>
        <p:nvSpPr>
          <p:cNvPr id="25" name="TextBox 24"/>
          <p:cNvSpPr txBox="1"/>
          <p:nvPr/>
        </p:nvSpPr>
        <p:spPr>
          <a:xfrm>
            <a:off x="8275319" y="4846320"/>
            <a:ext cx="3108960" cy="411480"/>
          </a:xfrm>
          <a:prstGeom prst="rect">
            <a:avLst/>
          </a:prstGeom>
          <a:noFill/>
        </p:spPr>
        <p:txBody>
          <a:bodyPr wrap="square" lIns="0" rIns="0" tIns="0" bIns="0" anchor="ctr">
            <a:spAutoFit/>
          </a:bodyPr>
          <a:lstStyle/>
          <a:p>
            <a:pPr algn="l"/>
            <a:r>
              <a:rPr sz="2000" b="0" i="0">
                <a:solidFill>
                  <a:srgbClr val="14213D"/>
                </a:solidFill>
                <a:latin typeface="Cambria"/>
              </a:rPr>
              <a:t>2a + 2b = 24</a:t>
            </a:r>
          </a:p>
        </p:txBody>
      </p:sp>
      <p:sp>
        <p:nvSpPr>
          <p:cNvPr id="26" name="TextBox 25"/>
          <p:cNvSpPr txBox="1"/>
          <p:nvPr/>
        </p:nvSpPr>
        <p:spPr>
          <a:xfrm>
            <a:off x="8275319" y="5394960"/>
            <a:ext cx="3108960" cy="548640"/>
          </a:xfrm>
          <a:prstGeom prst="rect">
            <a:avLst/>
          </a:prstGeom>
          <a:noFill/>
        </p:spPr>
        <p:txBody>
          <a:bodyPr wrap="square" lIns="0" rIns="0" tIns="0" bIns="0" anchor="t">
            <a:spAutoFit/>
          </a:bodyPr>
          <a:lstStyle/>
          <a:p>
            <a:pPr algn="l"/>
            <a:r>
              <a:rPr sz="1300" b="0" i="0">
                <a:solidFill>
                  <a:srgbClr val="5B6675"/>
                </a:solidFill>
                <a:latin typeface="Calibri"/>
              </a:rPr>
              <a:t>Geometrically: two parallel lines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14</a:t>
            </a:r>
          </a:p>
        </p:txBody>
      </p:sp>
      <p:sp>
        <p:nvSpPr>
          <p:cNvPr id="4" name="TextBox 3"/>
          <p:cNvSpPr txBox="1"/>
          <p:nvPr/>
        </p:nvSpPr>
        <p:spPr>
          <a:xfrm>
            <a:off x="548640" y="548640"/>
            <a:ext cx="7315200" cy="365760"/>
          </a:xfrm>
          <a:prstGeom prst="rect">
            <a:avLst/>
          </a:prstGeom>
          <a:noFill/>
        </p:spPr>
        <p:txBody>
          <a:bodyPr wrap="square" lIns="0" rIns="0" tIns="0" bIns="0" anchor="t">
            <a:spAutoFit/>
          </a:bodyPr>
          <a:lstStyle/>
          <a:p>
            <a:pPr algn="l"/>
            <a:r>
              <a:rPr sz="1400" b="1" i="0">
                <a:solidFill>
                  <a:srgbClr val="F2B263"/>
                </a:solidFill>
                <a:latin typeface="Calibri"/>
              </a:rPr>
              <a:t>QUIZ 2  ·  PAUSE AND SOLVE</a:t>
            </a:r>
          </a:p>
        </p:txBody>
      </p:sp>
      <p:sp>
        <p:nvSpPr>
          <p:cNvPr id="5" name="TextBox 4"/>
          <p:cNvSpPr txBox="1"/>
          <p:nvPr/>
        </p:nvSpPr>
        <p:spPr>
          <a:xfrm>
            <a:off x="548640" y="1005840"/>
            <a:ext cx="10515600" cy="914400"/>
          </a:xfrm>
          <a:prstGeom prst="rect">
            <a:avLst/>
          </a:prstGeom>
          <a:noFill/>
        </p:spPr>
        <p:txBody>
          <a:bodyPr wrap="square" lIns="0" rIns="0" tIns="0" bIns="0" anchor="t">
            <a:spAutoFit/>
          </a:bodyPr>
          <a:lstStyle/>
          <a:p>
            <a:pPr algn="l"/>
            <a:r>
              <a:rPr sz="4000" b="1" i="0">
                <a:solidFill>
                  <a:srgbClr val="FFFFFF"/>
                </a:solidFill>
                <a:latin typeface="Cambria"/>
              </a:rPr>
              <a:t>Solve the following system of equations</a:t>
            </a:r>
          </a:p>
        </p:txBody>
      </p:sp>
      <p:sp>
        <p:nvSpPr>
          <p:cNvPr id="6" name="Rounded Rectangle 5"/>
          <p:cNvSpPr/>
          <p:nvPr/>
        </p:nvSpPr>
        <p:spPr>
          <a:xfrm>
            <a:off x="548640" y="2377440"/>
            <a:ext cx="5669280" cy="1773936"/>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97480"/>
            <a:ext cx="5120640" cy="548640"/>
          </a:xfrm>
          <a:prstGeom prst="rect">
            <a:avLst/>
          </a:prstGeom>
          <a:noFill/>
        </p:spPr>
        <p:txBody>
          <a:bodyPr wrap="square" lIns="0" rIns="0" tIns="0" bIns="0" anchor="ctr">
            <a:spAutoFit/>
          </a:bodyPr>
          <a:lstStyle/>
          <a:p>
            <a:pPr algn="l"/>
            <a:r>
              <a:rPr sz="3000" b="0" i="0">
                <a:solidFill>
                  <a:srgbClr val="FFFFFF"/>
                </a:solidFill>
                <a:latin typeface="Cambria"/>
              </a:rPr>
              <a:t>5a + b = 11</a:t>
            </a:r>
          </a:p>
        </p:txBody>
      </p:sp>
      <p:sp>
        <p:nvSpPr>
          <p:cNvPr id="8" name="TextBox 7"/>
          <p:cNvSpPr txBox="1"/>
          <p:nvPr/>
        </p:nvSpPr>
        <p:spPr>
          <a:xfrm>
            <a:off x="914400" y="3264408"/>
            <a:ext cx="5120640" cy="548640"/>
          </a:xfrm>
          <a:prstGeom prst="rect">
            <a:avLst/>
          </a:prstGeom>
          <a:noFill/>
        </p:spPr>
        <p:txBody>
          <a:bodyPr wrap="square" lIns="0" rIns="0" tIns="0" bIns="0" anchor="ctr">
            <a:spAutoFit/>
          </a:bodyPr>
          <a:lstStyle/>
          <a:p>
            <a:pPr algn="l"/>
            <a:r>
              <a:rPr sz="3000" b="0" i="0">
                <a:solidFill>
                  <a:srgbClr val="FFFFFF"/>
                </a:solidFill>
                <a:latin typeface="Cambria"/>
              </a:rPr>
              <a:t>10a + 2b = 22</a:t>
            </a:r>
          </a:p>
        </p:txBody>
      </p:sp>
      <p:sp>
        <p:nvSpPr>
          <p:cNvPr id="9" name="TextBox 8"/>
          <p:cNvSpPr txBox="1"/>
          <p:nvPr/>
        </p:nvSpPr>
        <p:spPr>
          <a:xfrm>
            <a:off x="6675120" y="2468880"/>
            <a:ext cx="4937760" cy="2286000"/>
          </a:xfrm>
          <a:prstGeom prst="rect">
            <a:avLst/>
          </a:prstGeom>
          <a:noFill/>
        </p:spPr>
        <p:txBody>
          <a:bodyPr wrap="square" lIns="0" rIns="0" tIns="0" bIns="0" anchor="t">
            <a:spAutoFit/>
          </a:bodyPr>
          <a:lstStyle/>
          <a:p>
            <a:pPr algn="l">
              <a:lnSpc>
                <a:spcPct val="125000"/>
              </a:lnSpc>
            </a:pPr>
            <a:r>
              <a:rPr sz="1800" b="0" i="0">
                <a:solidFill>
                  <a:srgbClr val="BFD8D5"/>
                </a:solidFill>
                <a:latin typeface="Calibri"/>
              </a:rPr>
              <a:t>Look closely at the two equations before you start computing.</a:t>
            </a:r>
          </a:p>
          <a:p>
            <a:pPr algn="l">
              <a:lnSpc>
                <a:spcPct val="125000"/>
              </a:lnSpc>
            </a:pPr>
            <a:r>
              <a:rPr sz="1800" b="0" i="0">
                <a:solidFill>
                  <a:srgbClr val="BFD8D5"/>
                </a:solidFill>
                <a:latin typeface="Calibri"/>
              </a:rPr>
              <a:t/>
            </a:r>
          </a:p>
          <a:p>
            <a:pPr algn="l">
              <a:lnSpc>
                <a:spcPct val="125000"/>
              </a:lnSpc>
            </a:pPr>
            <a:r>
              <a:rPr sz="1800" b="0" i="0">
                <a:solidFill>
                  <a:srgbClr val="BFD8D5"/>
                </a:solidFill>
                <a:latin typeface="Calibri"/>
              </a:rPr>
              <a:t>Is the system non-singular, redundant, or contradictory? Describe every solution.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Quiz 2 · Solution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15</a:t>
            </a:r>
          </a:p>
        </p:txBody>
      </p:sp>
      <p:sp>
        <p:nvSpPr>
          <p:cNvPr id="6" name="Rounded Rectangle 5"/>
          <p:cNvSpPr/>
          <p:nvPr/>
        </p:nvSpPr>
        <p:spPr>
          <a:xfrm>
            <a:off x="548640" y="1554480"/>
            <a:ext cx="3291840" cy="18288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91640"/>
            <a:ext cx="2834640" cy="274320"/>
          </a:xfrm>
          <a:prstGeom prst="rect">
            <a:avLst/>
          </a:prstGeom>
          <a:noFill/>
        </p:spPr>
        <p:txBody>
          <a:bodyPr wrap="square" lIns="0" rIns="0" tIns="0" bIns="0" anchor="t">
            <a:spAutoFit/>
          </a:bodyPr>
          <a:lstStyle/>
          <a:p>
            <a:pPr algn="l"/>
            <a:r>
              <a:rPr sz="1200" b="1" i="0">
                <a:solidFill>
                  <a:srgbClr val="1F6F8B"/>
                </a:solidFill>
                <a:latin typeface="Calibri"/>
              </a:rPr>
              <a:t>SYSTEM</a:t>
            </a:r>
          </a:p>
        </p:txBody>
      </p:sp>
      <p:sp>
        <p:nvSpPr>
          <p:cNvPr id="8" name="TextBox 7"/>
          <p:cNvSpPr txBox="1"/>
          <p:nvPr/>
        </p:nvSpPr>
        <p:spPr>
          <a:xfrm>
            <a:off x="822960" y="2011680"/>
            <a:ext cx="2834640" cy="530352"/>
          </a:xfrm>
          <a:prstGeom prst="rect">
            <a:avLst/>
          </a:prstGeom>
          <a:noFill/>
        </p:spPr>
        <p:txBody>
          <a:bodyPr wrap="square" lIns="0" rIns="0" tIns="0" bIns="0" anchor="ctr">
            <a:spAutoFit/>
          </a:bodyPr>
          <a:lstStyle/>
          <a:p>
            <a:pPr algn="l"/>
            <a:r>
              <a:rPr sz="2400" b="0" i="0">
                <a:solidFill>
                  <a:srgbClr val="14213D"/>
                </a:solidFill>
                <a:latin typeface="Cambria"/>
              </a:rPr>
              <a:t>5a + b = 11</a:t>
            </a:r>
          </a:p>
        </p:txBody>
      </p:sp>
      <p:sp>
        <p:nvSpPr>
          <p:cNvPr id="9" name="TextBox 8"/>
          <p:cNvSpPr txBox="1"/>
          <p:nvPr/>
        </p:nvSpPr>
        <p:spPr>
          <a:xfrm>
            <a:off x="822960" y="2542032"/>
            <a:ext cx="2834640" cy="530352"/>
          </a:xfrm>
          <a:prstGeom prst="rect">
            <a:avLst/>
          </a:prstGeom>
          <a:noFill/>
        </p:spPr>
        <p:txBody>
          <a:bodyPr wrap="square" lIns="0" rIns="0" tIns="0" bIns="0" anchor="ctr">
            <a:spAutoFit/>
          </a:bodyPr>
          <a:lstStyle/>
          <a:p>
            <a:pPr algn="l"/>
            <a:r>
              <a:rPr sz="2400" b="0" i="0">
                <a:solidFill>
                  <a:srgbClr val="14213D"/>
                </a:solidFill>
                <a:latin typeface="Cambria"/>
              </a:rPr>
              <a:t>10a + 2b = 22</a:t>
            </a:r>
          </a:p>
        </p:txBody>
      </p:sp>
      <p:sp>
        <p:nvSpPr>
          <p:cNvPr id="10" name="TextBox 9"/>
          <p:cNvSpPr txBox="1"/>
          <p:nvPr/>
        </p:nvSpPr>
        <p:spPr>
          <a:xfrm>
            <a:off x="4206240" y="1554480"/>
            <a:ext cx="7406640" cy="274320"/>
          </a:xfrm>
          <a:prstGeom prst="rect">
            <a:avLst/>
          </a:prstGeom>
          <a:noFill/>
        </p:spPr>
        <p:txBody>
          <a:bodyPr wrap="square" lIns="0" rIns="0" tIns="0" bIns="0" anchor="t">
            <a:spAutoFit/>
          </a:bodyPr>
          <a:lstStyle/>
          <a:p>
            <a:pPr algn="l"/>
            <a:r>
              <a:rPr sz="1200" b="1" i="0">
                <a:solidFill>
                  <a:srgbClr val="1F6F8B"/>
                </a:solidFill>
                <a:latin typeface="Calibri"/>
              </a:rPr>
              <a:t>ELIMINATE</a:t>
            </a:r>
          </a:p>
        </p:txBody>
      </p:sp>
      <p:sp>
        <p:nvSpPr>
          <p:cNvPr id="11" name="TextBox 10"/>
          <p:cNvSpPr txBox="1"/>
          <p:nvPr/>
        </p:nvSpPr>
        <p:spPr>
          <a:xfrm>
            <a:off x="4206240" y="1874519"/>
            <a:ext cx="7406640" cy="457200"/>
          </a:xfrm>
          <a:prstGeom prst="rect">
            <a:avLst/>
          </a:prstGeom>
          <a:noFill/>
        </p:spPr>
        <p:txBody>
          <a:bodyPr wrap="square" lIns="0" rIns="0" tIns="0" bIns="0" anchor="ctr">
            <a:spAutoFit/>
          </a:bodyPr>
          <a:lstStyle/>
          <a:p>
            <a:pPr algn="l"/>
            <a:r>
              <a:rPr sz="2000" b="0" i="0">
                <a:solidFill>
                  <a:srgbClr val="14213D"/>
                </a:solidFill>
                <a:latin typeface="Cambria"/>
              </a:rPr>
              <a:t>Divide equation 2 by 2:       5a + b = 11</a:t>
            </a:r>
          </a:p>
        </p:txBody>
      </p:sp>
      <p:sp>
        <p:nvSpPr>
          <p:cNvPr id="12" name="TextBox 11"/>
          <p:cNvSpPr txBox="1"/>
          <p:nvPr/>
        </p:nvSpPr>
        <p:spPr>
          <a:xfrm>
            <a:off x="4206240" y="2331720"/>
            <a:ext cx="7406640" cy="457200"/>
          </a:xfrm>
          <a:prstGeom prst="rect">
            <a:avLst/>
          </a:prstGeom>
          <a:noFill/>
        </p:spPr>
        <p:txBody>
          <a:bodyPr wrap="square" lIns="0" rIns="0" tIns="0" bIns="0" anchor="ctr">
            <a:spAutoFit/>
          </a:bodyPr>
          <a:lstStyle/>
          <a:p>
            <a:pPr algn="l"/>
            <a:r>
              <a:rPr sz="2000" b="0" i="0">
                <a:solidFill>
                  <a:srgbClr val="14213D"/>
                </a:solidFill>
                <a:latin typeface="Cambria"/>
              </a:rPr>
              <a:t>This is equation 1 again. Subtracting gives</a:t>
            </a:r>
          </a:p>
        </p:txBody>
      </p:sp>
      <p:sp>
        <p:nvSpPr>
          <p:cNvPr id="13" name="TextBox 12"/>
          <p:cNvSpPr txBox="1"/>
          <p:nvPr/>
        </p:nvSpPr>
        <p:spPr>
          <a:xfrm>
            <a:off x="4206240" y="2788920"/>
            <a:ext cx="7406640" cy="457200"/>
          </a:xfrm>
          <a:prstGeom prst="rect">
            <a:avLst/>
          </a:prstGeom>
          <a:noFill/>
        </p:spPr>
        <p:txBody>
          <a:bodyPr wrap="square" lIns="0" rIns="0" tIns="0" bIns="0" anchor="ctr">
            <a:spAutoFit/>
          </a:bodyPr>
          <a:lstStyle/>
          <a:p>
            <a:pPr algn="l"/>
            <a:r>
              <a:rPr sz="2000" b="1" i="0">
                <a:solidFill>
                  <a:srgbClr val="14213D"/>
                </a:solidFill>
                <a:latin typeface="Cambria"/>
              </a:rPr>
              <a:t>0 = 0</a:t>
            </a:r>
          </a:p>
        </p:txBody>
      </p:sp>
      <p:sp>
        <p:nvSpPr>
          <p:cNvPr id="14" name="TextBox 13"/>
          <p:cNvSpPr txBox="1"/>
          <p:nvPr/>
        </p:nvSpPr>
        <p:spPr>
          <a:xfrm>
            <a:off x="4206240" y="3474720"/>
            <a:ext cx="7406640" cy="1463040"/>
          </a:xfrm>
          <a:prstGeom prst="rect">
            <a:avLst/>
          </a:prstGeom>
          <a:noFill/>
        </p:spPr>
        <p:txBody>
          <a:bodyPr wrap="square" lIns="0" rIns="0" tIns="0" bIns="0" anchor="t">
            <a:spAutoFit/>
          </a:bodyPr>
          <a:lstStyle/>
          <a:p>
            <a:pPr algn="l">
              <a:lnSpc>
                <a:spcPct val="120000"/>
              </a:lnSpc>
              <a:spcAft>
                <a:spcPts val="800"/>
              </a:spcAft>
            </a:pPr>
            <a:r>
              <a:rPr sz="1700" b="1" i="0">
                <a:solidFill>
                  <a:srgbClr val="14213D"/>
                </a:solidFill>
                <a:latin typeface="Calibri"/>
              </a:rPr>
              <a:t>The system is singular and redundant: </a:t>
            </a:r>
            <a:r>
              <a:rPr sz="1700" b="0" i="0">
                <a:solidFill>
                  <a:srgbClr val="5B6675"/>
                </a:solidFill>
                <a:latin typeface="Calibri"/>
              </a:rPr>
              <a:t>equation 2 is just twice equation 1, so it adds no information.</a:t>
            </a:r>
          </a:p>
          <a:p>
            <a:pPr algn="l">
              <a:lnSpc>
                <a:spcPct val="120000"/>
              </a:lnSpc>
              <a:spcAft>
                <a:spcPts val="800"/>
              </a:spcAft>
            </a:pPr>
            <a:r>
              <a:rPr sz="1700" b="0" i="0">
                <a:solidFill>
                  <a:srgbClr val="5B6675"/>
                </a:solidFill>
                <a:latin typeface="Calibri"/>
              </a:rPr>
              <a:t>One equation in two unknowns leaves one degree of freedom, so there are infinitely many solutions.</a:t>
            </a:r>
          </a:p>
        </p:txBody>
      </p:sp>
      <p:sp>
        <p:nvSpPr>
          <p:cNvPr id="15" name="Rounded Rectangle 14"/>
          <p:cNvSpPr/>
          <p:nvPr/>
        </p:nvSpPr>
        <p:spPr>
          <a:xfrm>
            <a:off x="548640" y="3657600"/>
            <a:ext cx="3291840" cy="146304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94760"/>
            <a:ext cx="2834640" cy="274320"/>
          </a:xfrm>
          <a:prstGeom prst="rect">
            <a:avLst/>
          </a:prstGeom>
          <a:noFill/>
        </p:spPr>
        <p:txBody>
          <a:bodyPr wrap="square" lIns="0" rIns="0" tIns="0" bIns="0" anchor="t">
            <a:spAutoFit/>
          </a:bodyPr>
          <a:lstStyle/>
          <a:p>
            <a:pPr algn="l"/>
            <a:r>
              <a:rPr sz="1200" b="1" i="0">
                <a:solidFill>
                  <a:srgbClr val="1F6F8B"/>
                </a:solidFill>
                <a:latin typeface="Calibri"/>
              </a:rPr>
              <a:t>SOLUTION SET</a:t>
            </a:r>
          </a:p>
        </p:txBody>
      </p:sp>
      <p:sp>
        <p:nvSpPr>
          <p:cNvPr id="17" name="TextBox 16"/>
          <p:cNvSpPr txBox="1"/>
          <p:nvPr/>
        </p:nvSpPr>
        <p:spPr>
          <a:xfrm>
            <a:off x="822960" y="4069080"/>
            <a:ext cx="2834640" cy="457200"/>
          </a:xfrm>
          <a:prstGeom prst="rect">
            <a:avLst/>
          </a:prstGeom>
          <a:noFill/>
        </p:spPr>
        <p:txBody>
          <a:bodyPr wrap="square" lIns="0" rIns="0" tIns="0" bIns="0" anchor="t">
            <a:spAutoFit/>
          </a:bodyPr>
          <a:lstStyle/>
          <a:p>
            <a:pPr algn="l"/>
            <a:r>
              <a:rPr sz="2600" b="1" i="0">
                <a:solidFill>
                  <a:srgbClr val="14213D"/>
                </a:solidFill>
                <a:latin typeface="Cambria"/>
              </a:rPr>
              <a:t>b = 11 − 5a</a:t>
            </a:r>
          </a:p>
        </p:txBody>
      </p:sp>
      <p:sp>
        <p:nvSpPr>
          <p:cNvPr id="18" name="TextBox 17"/>
          <p:cNvSpPr txBox="1"/>
          <p:nvPr/>
        </p:nvSpPr>
        <p:spPr>
          <a:xfrm>
            <a:off x="822960" y="4617720"/>
            <a:ext cx="2834640" cy="365760"/>
          </a:xfrm>
          <a:prstGeom prst="rect">
            <a:avLst/>
          </a:prstGeom>
          <a:noFill/>
        </p:spPr>
        <p:txBody>
          <a:bodyPr wrap="square" lIns="0" rIns="0" tIns="0" bIns="0" anchor="t">
            <a:spAutoFit/>
          </a:bodyPr>
          <a:lstStyle/>
          <a:p>
            <a:pPr algn="l"/>
            <a:r>
              <a:rPr sz="1400" b="0" i="0">
                <a:solidFill>
                  <a:srgbClr val="5B6675"/>
                </a:solidFill>
                <a:latin typeface="Calibri"/>
              </a:rPr>
              <a:t>for any real number a</a:t>
            </a:r>
          </a:p>
        </p:txBody>
      </p:sp>
      <p:sp>
        <p:nvSpPr>
          <p:cNvPr id="19" name="TextBox 18"/>
          <p:cNvSpPr txBox="1"/>
          <p:nvPr/>
        </p:nvSpPr>
        <p:spPr>
          <a:xfrm>
            <a:off x="4206240" y="4937760"/>
            <a:ext cx="5029200" cy="274320"/>
          </a:xfrm>
          <a:prstGeom prst="rect">
            <a:avLst/>
          </a:prstGeom>
          <a:noFill/>
        </p:spPr>
        <p:txBody>
          <a:bodyPr wrap="square" lIns="0" rIns="0" tIns="0" bIns="0" anchor="t">
            <a:spAutoFit/>
          </a:bodyPr>
          <a:lstStyle/>
          <a:p>
            <a:pPr algn="l"/>
            <a:r>
              <a:rPr sz="1100" b="1" i="0">
                <a:solidFill>
                  <a:srgbClr val="1F6F8B"/>
                </a:solidFill>
                <a:latin typeface="Calibri"/>
              </a:rPr>
              <a:t>CHECK</a:t>
            </a:r>
          </a:p>
        </p:txBody>
      </p:sp>
      <p:sp>
        <p:nvSpPr>
          <p:cNvPr id="20" name="TextBox 19"/>
          <p:cNvSpPr txBox="1"/>
          <p:nvPr/>
        </p:nvSpPr>
        <p:spPr>
          <a:xfrm>
            <a:off x="4206240" y="5212080"/>
            <a:ext cx="5029200" cy="1097280"/>
          </a:xfrm>
          <a:prstGeom prst="rect">
            <a:avLst/>
          </a:prstGeom>
          <a:noFill/>
        </p:spPr>
        <p:txBody>
          <a:bodyPr wrap="square" lIns="0" rIns="0" tIns="0" bIns="0" anchor="t">
            <a:spAutoFit/>
          </a:bodyPr>
          <a:lstStyle/>
          <a:p>
            <a:pPr algn="l">
              <a:spcAft>
                <a:spcPts val="300"/>
              </a:spcAft>
            </a:pPr>
            <a:r>
              <a:rPr sz="1500" b="0" i="0">
                <a:solidFill>
                  <a:srgbClr val="5B6675"/>
                </a:solidFill>
                <a:latin typeface="Cambria"/>
              </a:rPr>
              <a:t>(a, b) = (0, 11), (1, 6), (2, 1), (−1, 16), … all satisfy both equations.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Elimination with three variables (1 of 3)</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16</a:t>
            </a:r>
          </a:p>
        </p:txBody>
      </p:sp>
      <p:sp>
        <p:nvSpPr>
          <p:cNvPr id="6" name="Rounded Rectangle 5"/>
          <p:cNvSpPr/>
          <p:nvPr/>
        </p:nvSpPr>
        <p:spPr>
          <a:xfrm>
            <a:off x="548640" y="1600200"/>
            <a:ext cx="3566160" cy="356616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3108960" cy="548640"/>
          </a:xfrm>
          <a:prstGeom prst="rect">
            <a:avLst/>
          </a:prstGeom>
          <a:noFill/>
        </p:spPr>
        <p:txBody>
          <a:bodyPr wrap="square" lIns="0" rIns="0" tIns="0" bIns="0" anchor="t">
            <a:spAutoFit/>
          </a:bodyPr>
          <a:lstStyle/>
          <a:p>
            <a:pPr algn="l"/>
            <a:r>
              <a:rPr sz="1100" b="1" i="0">
                <a:solidFill>
                  <a:srgbClr val="1F6F8B"/>
                </a:solidFill>
                <a:latin typeface="Calibri"/>
              </a:rPr>
              <a:t>SYSTEM</a:t>
            </a:r>
          </a:p>
        </p:txBody>
      </p:sp>
      <p:sp>
        <p:nvSpPr>
          <p:cNvPr id="8" name="TextBox 7"/>
          <p:cNvSpPr txBox="1"/>
          <p:nvPr/>
        </p:nvSpPr>
        <p:spPr>
          <a:xfrm>
            <a:off x="777240" y="233172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b + 2c = 12</a:t>
            </a:r>
          </a:p>
        </p:txBody>
      </p:sp>
      <p:sp>
        <p:nvSpPr>
          <p:cNvPr id="9" name="TextBox 8"/>
          <p:cNvSpPr txBox="1"/>
          <p:nvPr/>
        </p:nvSpPr>
        <p:spPr>
          <a:xfrm>
            <a:off x="777240" y="2880360"/>
            <a:ext cx="3108960" cy="548640"/>
          </a:xfrm>
          <a:prstGeom prst="rect">
            <a:avLst/>
          </a:prstGeom>
          <a:noFill/>
        </p:spPr>
        <p:txBody>
          <a:bodyPr wrap="square" lIns="0" rIns="0" tIns="0" bIns="0" anchor="ctr">
            <a:spAutoFit/>
          </a:bodyPr>
          <a:lstStyle/>
          <a:p>
            <a:pPr algn="l"/>
            <a:r>
              <a:rPr sz="2100" b="0" i="0">
                <a:solidFill>
                  <a:srgbClr val="14213D"/>
                </a:solidFill>
                <a:latin typeface="Cambria"/>
              </a:rPr>
              <a:t>3a − 3b − c = 3</a:t>
            </a:r>
          </a:p>
        </p:txBody>
      </p:sp>
      <p:sp>
        <p:nvSpPr>
          <p:cNvPr id="10" name="TextBox 9"/>
          <p:cNvSpPr txBox="1"/>
          <p:nvPr/>
        </p:nvSpPr>
        <p:spPr>
          <a:xfrm>
            <a:off x="777240" y="3429000"/>
            <a:ext cx="3108960" cy="548640"/>
          </a:xfrm>
          <a:prstGeom prst="rect">
            <a:avLst/>
          </a:prstGeom>
          <a:noFill/>
        </p:spPr>
        <p:txBody>
          <a:bodyPr wrap="square" lIns="0" rIns="0" tIns="0" bIns="0" anchor="ctr">
            <a:spAutoFit/>
          </a:bodyPr>
          <a:lstStyle/>
          <a:p>
            <a:pPr algn="l"/>
            <a:r>
              <a:rPr sz="2100" b="0" i="0">
                <a:solidFill>
                  <a:srgbClr val="14213D"/>
                </a:solidFill>
                <a:latin typeface="Cambria"/>
              </a:rPr>
              <a:t>2a − b + 6c = 24</a:t>
            </a:r>
          </a:p>
        </p:txBody>
      </p:sp>
      <p:sp>
        <p:nvSpPr>
          <p:cNvPr id="11" name="TextBox 10"/>
          <p:cNvSpPr txBox="1"/>
          <p:nvPr/>
        </p:nvSpPr>
        <p:spPr>
          <a:xfrm>
            <a:off x="777240" y="41148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Three equations, three unknowns.</a:t>
            </a:r>
          </a:p>
        </p:txBody>
      </p:sp>
      <p:sp>
        <p:nvSpPr>
          <p:cNvPr id="12" name="Rounded Rectangle 11"/>
          <p:cNvSpPr/>
          <p:nvPr/>
        </p:nvSpPr>
        <p:spPr>
          <a:xfrm>
            <a:off x="4297679" y="1600200"/>
            <a:ext cx="3566160" cy="356616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1737360"/>
            <a:ext cx="3108960" cy="548640"/>
          </a:xfrm>
          <a:prstGeom prst="rect">
            <a:avLst/>
          </a:prstGeom>
          <a:noFill/>
        </p:spPr>
        <p:txBody>
          <a:bodyPr wrap="square" lIns="0" rIns="0" tIns="0" bIns="0" anchor="t">
            <a:spAutoFit/>
          </a:bodyPr>
          <a:lstStyle/>
          <a:p>
            <a:pPr algn="l"/>
            <a:r>
              <a:rPr sz="1100" b="1" i="0">
                <a:solidFill>
                  <a:srgbClr val="1F6F8B"/>
                </a:solidFill>
                <a:latin typeface="Calibri"/>
              </a:rPr>
              <a:t>DIVIDE EACH ROW BY ITS COEFFICIENT OF a</a:t>
            </a:r>
          </a:p>
        </p:txBody>
      </p:sp>
      <p:sp>
        <p:nvSpPr>
          <p:cNvPr id="14" name="TextBox 13"/>
          <p:cNvSpPr txBox="1"/>
          <p:nvPr/>
        </p:nvSpPr>
        <p:spPr>
          <a:xfrm>
            <a:off x="4526279" y="233172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b + 2c = 12</a:t>
            </a:r>
          </a:p>
        </p:txBody>
      </p:sp>
      <p:sp>
        <p:nvSpPr>
          <p:cNvPr id="15" name="TextBox 14"/>
          <p:cNvSpPr txBox="1"/>
          <p:nvPr/>
        </p:nvSpPr>
        <p:spPr>
          <a:xfrm>
            <a:off x="4526279" y="288036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b − ⅓c = 1</a:t>
            </a:r>
          </a:p>
        </p:txBody>
      </p:sp>
      <p:sp>
        <p:nvSpPr>
          <p:cNvPr id="16" name="TextBox 15"/>
          <p:cNvSpPr txBox="1"/>
          <p:nvPr/>
        </p:nvSpPr>
        <p:spPr>
          <a:xfrm>
            <a:off x="4526279" y="342900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½b + 3c = 12</a:t>
            </a:r>
          </a:p>
        </p:txBody>
      </p:sp>
      <p:sp>
        <p:nvSpPr>
          <p:cNvPr id="17" name="TextBox 16"/>
          <p:cNvSpPr txBox="1"/>
          <p:nvPr/>
        </p:nvSpPr>
        <p:spPr>
          <a:xfrm>
            <a:off x="4526279" y="41148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Now every equation starts with a.</a:t>
            </a:r>
          </a:p>
        </p:txBody>
      </p:sp>
      <p:sp>
        <p:nvSpPr>
          <p:cNvPr id="18" name="Rounded Rectangle 17"/>
          <p:cNvSpPr/>
          <p:nvPr/>
        </p:nvSpPr>
        <p:spPr>
          <a:xfrm>
            <a:off x="8046719" y="1600200"/>
            <a:ext cx="3566160" cy="356616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737360"/>
            <a:ext cx="3108960" cy="548640"/>
          </a:xfrm>
          <a:prstGeom prst="rect">
            <a:avLst/>
          </a:prstGeom>
          <a:noFill/>
        </p:spPr>
        <p:txBody>
          <a:bodyPr wrap="square" lIns="0" rIns="0" tIns="0" bIns="0" anchor="t">
            <a:spAutoFit/>
          </a:bodyPr>
          <a:lstStyle/>
          <a:p>
            <a:pPr algn="l"/>
            <a:r>
              <a:rPr sz="1100" b="1" i="0">
                <a:solidFill>
                  <a:srgbClr val="1F6F8B"/>
                </a:solidFill>
                <a:latin typeface="Calibri"/>
              </a:rPr>
              <a:t>SUBTRACT EQUATION 1 FROM THE OTHERS</a:t>
            </a:r>
          </a:p>
        </p:txBody>
      </p:sp>
      <p:sp>
        <p:nvSpPr>
          <p:cNvPr id="20" name="TextBox 19"/>
          <p:cNvSpPr txBox="1"/>
          <p:nvPr/>
        </p:nvSpPr>
        <p:spPr>
          <a:xfrm>
            <a:off x="8275319" y="233172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b + 2c = 12</a:t>
            </a:r>
          </a:p>
        </p:txBody>
      </p:sp>
      <p:sp>
        <p:nvSpPr>
          <p:cNvPr id="21" name="TextBox 20"/>
          <p:cNvSpPr txBox="1"/>
          <p:nvPr/>
        </p:nvSpPr>
        <p:spPr>
          <a:xfrm>
            <a:off x="8275319" y="2880360"/>
            <a:ext cx="3108960" cy="548640"/>
          </a:xfrm>
          <a:prstGeom prst="rect">
            <a:avLst/>
          </a:prstGeom>
          <a:noFill/>
        </p:spPr>
        <p:txBody>
          <a:bodyPr wrap="square" lIns="0" rIns="0" tIns="0" bIns="0" anchor="ctr">
            <a:spAutoFit/>
          </a:bodyPr>
          <a:lstStyle/>
          <a:p>
            <a:pPr algn="l"/>
            <a:r>
              <a:rPr sz="2100" b="1" i="0">
                <a:solidFill>
                  <a:srgbClr val="14213D"/>
                </a:solidFill>
                <a:latin typeface="Cambria"/>
              </a:rPr>
              <a:t>−2b − 7⁄3 c = −11</a:t>
            </a:r>
          </a:p>
        </p:txBody>
      </p:sp>
      <p:sp>
        <p:nvSpPr>
          <p:cNvPr id="22" name="TextBox 21"/>
          <p:cNvSpPr txBox="1"/>
          <p:nvPr/>
        </p:nvSpPr>
        <p:spPr>
          <a:xfrm>
            <a:off x="8275319" y="3429000"/>
            <a:ext cx="3108960" cy="548640"/>
          </a:xfrm>
          <a:prstGeom prst="rect">
            <a:avLst/>
          </a:prstGeom>
          <a:noFill/>
        </p:spPr>
        <p:txBody>
          <a:bodyPr wrap="square" lIns="0" rIns="0" tIns="0" bIns="0" anchor="ctr">
            <a:spAutoFit/>
          </a:bodyPr>
          <a:lstStyle/>
          <a:p>
            <a:pPr algn="l"/>
            <a:r>
              <a:rPr sz="2100" b="1" i="0">
                <a:solidFill>
                  <a:srgbClr val="14213D"/>
                </a:solidFill>
                <a:latin typeface="Cambria"/>
              </a:rPr>
              <a:t>−3⁄2 b + c = 0</a:t>
            </a:r>
          </a:p>
        </p:txBody>
      </p:sp>
      <p:sp>
        <p:nvSpPr>
          <p:cNvPr id="23" name="TextBox 22"/>
          <p:cNvSpPr txBox="1"/>
          <p:nvPr/>
        </p:nvSpPr>
        <p:spPr>
          <a:xfrm>
            <a:off x="8275319" y="41148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a is isolated in equation 1; equations 2 and 3 form a 2×2 system in b and c.</a:t>
            </a:r>
          </a:p>
        </p:txBody>
      </p:sp>
      <p:sp>
        <p:nvSpPr>
          <p:cNvPr id="24" name="TextBox 23"/>
          <p:cNvSpPr txBox="1"/>
          <p:nvPr/>
        </p:nvSpPr>
        <p:spPr>
          <a:xfrm>
            <a:off x="548640" y="5440680"/>
            <a:ext cx="10972800" cy="731520"/>
          </a:xfrm>
          <a:prstGeom prst="rect">
            <a:avLst/>
          </a:prstGeom>
          <a:noFill/>
        </p:spPr>
        <p:txBody>
          <a:bodyPr wrap="square" lIns="0" rIns="0" tIns="0" bIns="0" anchor="t">
            <a:spAutoFit/>
          </a:bodyPr>
          <a:lstStyle/>
          <a:p>
            <a:pPr algn="l">
              <a:lnSpc>
                <a:spcPct val="120000"/>
              </a:lnSpc>
            </a:pPr>
            <a:r>
              <a:rPr sz="1600" b="0" i="0">
                <a:solidFill>
                  <a:srgbClr val="5B6675"/>
                </a:solidFill>
                <a:latin typeface="Calibri"/>
              </a:rPr>
              <a:t>Same idea as before: use the first equation to remove a from every other equation, then solve what is left.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Elimination with three variables (2 of 3)</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17</a:t>
            </a:r>
          </a:p>
        </p:txBody>
      </p:sp>
      <p:sp>
        <p:nvSpPr>
          <p:cNvPr id="6" name="Rounded Rectangle 5"/>
          <p:cNvSpPr/>
          <p:nvPr/>
        </p:nvSpPr>
        <p:spPr>
          <a:xfrm>
            <a:off x="548640" y="1600200"/>
            <a:ext cx="3566160" cy="356616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3108960" cy="548640"/>
          </a:xfrm>
          <a:prstGeom prst="rect">
            <a:avLst/>
          </a:prstGeom>
          <a:noFill/>
        </p:spPr>
        <p:txBody>
          <a:bodyPr wrap="square" lIns="0" rIns="0" tIns="0" bIns="0" anchor="t">
            <a:spAutoFit/>
          </a:bodyPr>
          <a:lstStyle/>
          <a:p>
            <a:pPr algn="l"/>
            <a:r>
              <a:rPr sz="1100" b="1" i="0">
                <a:solidFill>
                  <a:srgbClr val="1F6F8B"/>
                </a:solidFill>
                <a:latin typeface="Calibri"/>
              </a:rPr>
              <a:t>THE SYSTEM SO FAR</a:t>
            </a:r>
          </a:p>
        </p:txBody>
      </p:sp>
      <p:sp>
        <p:nvSpPr>
          <p:cNvPr id="8" name="TextBox 7"/>
          <p:cNvSpPr txBox="1"/>
          <p:nvPr/>
        </p:nvSpPr>
        <p:spPr>
          <a:xfrm>
            <a:off x="777240" y="233172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b + 2c = 12</a:t>
            </a:r>
          </a:p>
        </p:txBody>
      </p:sp>
      <p:sp>
        <p:nvSpPr>
          <p:cNvPr id="9" name="TextBox 8"/>
          <p:cNvSpPr txBox="1"/>
          <p:nvPr/>
        </p:nvSpPr>
        <p:spPr>
          <a:xfrm>
            <a:off x="777240" y="2880360"/>
            <a:ext cx="3108960" cy="548640"/>
          </a:xfrm>
          <a:prstGeom prst="rect">
            <a:avLst/>
          </a:prstGeom>
          <a:noFill/>
        </p:spPr>
        <p:txBody>
          <a:bodyPr wrap="square" lIns="0" rIns="0" tIns="0" bIns="0" anchor="ctr">
            <a:spAutoFit/>
          </a:bodyPr>
          <a:lstStyle/>
          <a:p>
            <a:pPr algn="l"/>
            <a:r>
              <a:rPr sz="2100" b="0" i="0">
                <a:solidFill>
                  <a:srgbClr val="14213D"/>
                </a:solidFill>
                <a:latin typeface="Cambria"/>
              </a:rPr>
              <a:t>−2b − 7⁄3 c = −11</a:t>
            </a:r>
          </a:p>
        </p:txBody>
      </p:sp>
      <p:sp>
        <p:nvSpPr>
          <p:cNvPr id="10" name="TextBox 9"/>
          <p:cNvSpPr txBox="1"/>
          <p:nvPr/>
        </p:nvSpPr>
        <p:spPr>
          <a:xfrm>
            <a:off x="777240" y="3429000"/>
            <a:ext cx="3108960" cy="548640"/>
          </a:xfrm>
          <a:prstGeom prst="rect">
            <a:avLst/>
          </a:prstGeom>
          <a:noFill/>
        </p:spPr>
        <p:txBody>
          <a:bodyPr wrap="square" lIns="0" rIns="0" tIns="0" bIns="0" anchor="ctr">
            <a:spAutoFit/>
          </a:bodyPr>
          <a:lstStyle/>
          <a:p>
            <a:pPr algn="l"/>
            <a:r>
              <a:rPr sz="2100" b="0" i="0">
                <a:solidFill>
                  <a:srgbClr val="14213D"/>
                </a:solidFill>
                <a:latin typeface="Cambria"/>
              </a:rPr>
              <a:t>−3⁄2 b + c = 0</a:t>
            </a:r>
          </a:p>
        </p:txBody>
      </p:sp>
      <p:sp>
        <p:nvSpPr>
          <p:cNvPr id="11" name="TextBox 10"/>
          <p:cNvSpPr txBox="1"/>
          <p:nvPr/>
        </p:nvSpPr>
        <p:spPr>
          <a:xfrm>
            <a:off x="777240" y="41148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Work on the last two equations only.</a:t>
            </a:r>
          </a:p>
        </p:txBody>
      </p:sp>
      <p:sp>
        <p:nvSpPr>
          <p:cNvPr id="12" name="Rounded Rectangle 11"/>
          <p:cNvSpPr/>
          <p:nvPr/>
        </p:nvSpPr>
        <p:spPr>
          <a:xfrm>
            <a:off x="4297679" y="1600200"/>
            <a:ext cx="3566160" cy="356616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1737360"/>
            <a:ext cx="3108960" cy="548640"/>
          </a:xfrm>
          <a:prstGeom prst="rect">
            <a:avLst/>
          </a:prstGeom>
          <a:noFill/>
        </p:spPr>
        <p:txBody>
          <a:bodyPr wrap="square" lIns="0" rIns="0" tIns="0" bIns="0" anchor="t">
            <a:spAutoFit/>
          </a:bodyPr>
          <a:lstStyle/>
          <a:p>
            <a:pPr algn="l"/>
            <a:r>
              <a:rPr sz="1100" b="1" i="0">
                <a:solidFill>
                  <a:srgbClr val="1F6F8B"/>
                </a:solidFill>
                <a:latin typeface="Calibri"/>
              </a:rPr>
              <a:t>DIVIDE BY THE COEFFICIENT OF b</a:t>
            </a:r>
          </a:p>
        </p:txBody>
      </p:sp>
      <p:sp>
        <p:nvSpPr>
          <p:cNvPr id="14" name="TextBox 13"/>
          <p:cNvSpPr txBox="1"/>
          <p:nvPr/>
        </p:nvSpPr>
        <p:spPr>
          <a:xfrm>
            <a:off x="4526279" y="233172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b + 2c = 12</a:t>
            </a:r>
          </a:p>
        </p:txBody>
      </p:sp>
      <p:sp>
        <p:nvSpPr>
          <p:cNvPr id="15" name="TextBox 14"/>
          <p:cNvSpPr txBox="1"/>
          <p:nvPr/>
        </p:nvSpPr>
        <p:spPr>
          <a:xfrm>
            <a:off x="4526279" y="2880360"/>
            <a:ext cx="3108960" cy="548640"/>
          </a:xfrm>
          <a:prstGeom prst="rect">
            <a:avLst/>
          </a:prstGeom>
          <a:noFill/>
        </p:spPr>
        <p:txBody>
          <a:bodyPr wrap="square" lIns="0" rIns="0" tIns="0" bIns="0" anchor="ctr">
            <a:spAutoFit/>
          </a:bodyPr>
          <a:lstStyle/>
          <a:p>
            <a:pPr algn="l"/>
            <a:r>
              <a:rPr sz="2100" b="0" i="0">
                <a:solidFill>
                  <a:srgbClr val="14213D"/>
                </a:solidFill>
                <a:latin typeface="Cambria"/>
              </a:rPr>
              <a:t>b + 7⁄6 c = 11⁄2</a:t>
            </a:r>
          </a:p>
        </p:txBody>
      </p:sp>
      <p:sp>
        <p:nvSpPr>
          <p:cNvPr id="16" name="TextBox 15"/>
          <p:cNvSpPr txBox="1"/>
          <p:nvPr/>
        </p:nvSpPr>
        <p:spPr>
          <a:xfrm>
            <a:off x="4526279" y="3429000"/>
            <a:ext cx="3108960" cy="548640"/>
          </a:xfrm>
          <a:prstGeom prst="rect">
            <a:avLst/>
          </a:prstGeom>
          <a:noFill/>
        </p:spPr>
        <p:txBody>
          <a:bodyPr wrap="square" lIns="0" rIns="0" tIns="0" bIns="0" anchor="ctr">
            <a:spAutoFit/>
          </a:bodyPr>
          <a:lstStyle/>
          <a:p>
            <a:pPr algn="l"/>
            <a:r>
              <a:rPr sz="2100" b="0" i="0">
                <a:solidFill>
                  <a:srgbClr val="14213D"/>
                </a:solidFill>
                <a:latin typeface="Cambria"/>
              </a:rPr>
              <a:t>b − 2⁄3 c = 0</a:t>
            </a:r>
          </a:p>
        </p:txBody>
      </p:sp>
      <p:sp>
        <p:nvSpPr>
          <p:cNvPr id="17" name="TextBox 16"/>
          <p:cNvSpPr txBox="1"/>
          <p:nvPr/>
        </p:nvSpPr>
        <p:spPr>
          <a:xfrm>
            <a:off x="4526279" y="41148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Both now start with b.</a:t>
            </a:r>
          </a:p>
        </p:txBody>
      </p:sp>
      <p:sp>
        <p:nvSpPr>
          <p:cNvPr id="18" name="Rounded Rectangle 17"/>
          <p:cNvSpPr/>
          <p:nvPr/>
        </p:nvSpPr>
        <p:spPr>
          <a:xfrm>
            <a:off x="8046719" y="1600200"/>
            <a:ext cx="3566160" cy="356616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737360"/>
            <a:ext cx="3108960" cy="548640"/>
          </a:xfrm>
          <a:prstGeom prst="rect">
            <a:avLst/>
          </a:prstGeom>
          <a:noFill/>
        </p:spPr>
        <p:txBody>
          <a:bodyPr wrap="square" lIns="0" rIns="0" tIns="0" bIns="0" anchor="t">
            <a:spAutoFit/>
          </a:bodyPr>
          <a:lstStyle/>
          <a:p>
            <a:pPr algn="l"/>
            <a:r>
              <a:rPr sz="1100" b="1" i="0">
                <a:solidFill>
                  <a:srgbClr val="1F6F8B"/>
                </a:solidFill>
                <a:latin typeface="Calibri"/>
              </a:rPr>
              <a:t>SUBTRACT EQUATION 2 FROM EQUATION 3</a:t>
            </a:r>
          </a:p>
        </p:txBody>
      </p:sp>
      <p:sp>
        <p:nvSpPr>
          <p:cNvPr id="20" name="TextBox 19"/>
          <p:cNvSpPr txBox="1"/>
          <p:nvPr/>
        </p:nvSpPr>
        <p:spPr>
          <a:xfrm>
            <a:off x="8275319" y="2331720"/>
            <a:ext cx="3108960" cy="548640"/>
          </a:xfrm>
          <a:prstGeom prst="rect">
            <a:avLst/>
          </a:prstGeom>
          <a:noFill/>
        </p:spPr>
        <p:txBody>
          <a:bodyPr wrap="square" lIns="0" rIns="0" tIns="0" bIns="0" anchor="ctr">
            <a:spAutoFit/>
          </a:bodyPr>
          <a:lstStyle/>
          <a:p>
            <a:pPr algn="l"/>
            <a:r>
              <a:rPr sz="2100" b="0" i="0">
                <a:solidFill>
                  <a:srgbClr val="14213D"/>
                </a:solidFill>
                <a:latin typeface="Cambria"/>
              </a:rPr>
              <a:t>a + b + 2c = 12</a:t>
            </a:r>
          </a:p>
        </p:txBody>
      </p:sp>
      <p:sp>
        <p:nvSpPr>
          <p:cNvPr id="21" name="TextBox 20"/>
          <p:cNvSpPr txBox="1"/>
          <p:nvPr/>
        </p:nvSpPr>
        <p:spPr>
          <a:xfrm>
            <a:off x="8275319" y="2880360"/>
            <a:ext cx="3108960" cy="548640"/>
          </a:xfrm>
          <a:prstGeom prst="rect">
            <a:avLst/>
          </a:prstGeom>
          <a:noFill/>
        </p:spPr>
        <p:txBody>
          <a:bodyPr wrap="square" lIns="0" rIns="0" tIns="0" bIns="0" anchor="ctr">
            <a:spAutoFit/>
          </a:bodyPr>
          <a:lstStyle/>
          <a:p>
            <a:pPr algn="l"/>
            <a:r>
              <a:rPr sz="2100" b="0" i="0">
                <a:solidFill>
                  <a:srgbClr val="14213D"/>
                </a:solidFill>
                <a:latin typeface="Cambria"/>
              </a:rPr>
              <a:t>b + 7⁄6 c = 11⁄2</a:t>
            </a:r>
          </a:p>
        </p:txBody>
      </p:sp>
      <p:sp>
        <p:nvSpPr>
          <p:cNvPr id="22" name="TextBox 21"/>
          <p:cNvSpPr txBox="1"/>
          <p:nvPr/>
        </p:nvSpPr>
        <p:spPr>
          <a:xfrm>
            <a:off x="8275319" y="3429000"/>
            <a:ext cx="3108960" cy="548640"/>
          </a:xfrm>
          <a:prstGeom prst="rect">
            <a:avLst/>
          </a:prstGeom>
          <a:noFill/>
        </p:spPr>
        <p:txBody>
          <a:bodyPr wrap="square" lIns="0" rIns="0" tIns="0" bIns="0" anchor="ctr">
            <a:spAutoFit/>
          </a:bodyPr>
          <a:lstStyle/>
          <a:p>
            <a:pPr algn="l"/>
            <a:r>
              <a:rPr sz="2100" b="1" i="0">
                <a:solidFill>
                  <a:srgbClr val="14213D"/>
                </a:solidFill>
                <a:latin typeface="Cambria"/>
              </a:rPr>
              <a:t>−11⁄6 c = −11⁄2</a:t>
            </a:r>
          </a:p>
        </p:txBody>
      </p:sp>
      <p:sp>
        <p:nvSpPr>
          <p:cNvPr id="23" name="TextBox 22"/>
          <p:cNvSpPr txBox="1"/>
          <p:nvPr/>
        </p:nvSpPr>
        <p:spPr>
          <a:xfrm>
            <a:off x="8275319" y="41148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b is isolated in equation 2, and the last equation gives c = 3.</a:t>
            </a:r>
          </a:p>
        </p:txBody>
      </p:sp>
      <p:sp>
        <p:nvSpPr>
          <p:cNvPr id="24" name="TextBox 23"/>
          <p:cNvSpPr txBox="1"/>
          <p:nvPr/>
        </p:nvSpPr>
        <p:spPr>
          <a:xfrm>
            <a:off x="548640" y="5440680"/>
            <a:ext cx="10972800" cy="731520"/>
          </a:xfrm>
          <a:prstGeom prst="rect">
            <a:avLst/>
          </a:prstGeom>
          <a:noFill/>
        </p:spPr>
        <p:txBody>
          <a:bodyPr wrap="square" lIns="0" rIns="0" tIns="0" bIns="0" anchor="t">
            <a:spAutoFit/>
          </a:bodyPr>
          <a:lstStyle/>
          <a:p>
            <a:pPr algn="l">
              <a:lnSpc>
                <a:spcPct val="120000"/>
              </a:lnSpc>
            </a:pPr>
            <a:r>
              <a:rPr sz="1600" b="0" i="0">
                <a:solidFill>
                  <a:srgbClr val="5B6675"/>
                </a:solidFill>
                <a:latin typeface="Calibri"/>
              </a:rPr>
              <a:t>The system is now triangular: the first equation has a, b, c; the second has b, c; the third has c alone.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SOLVING SYSTEMS OF EQUATIONS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Three variables (3 of 3): back substitution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18</a:t>
            </a:r>
          </a:p>
        </p:txBody>
      </p:sp>
      <p:sp>
        <p:nvSpPr>
          <p:cNvPr id="6" name="Rounded Rectangle 5"/>
          <p:cNvSpPr/>
          <p:nvPr/>
        </p:nvSpPr>
        <p:spPr>
          <a:xfrm>
            <a:off x="548640" y="1600200"/>
            <a:ext cx="3566160" cy="237744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3108960" cy="274320"/>
          </a:xfrm>
          <a:prstGeom prst="rect">
            <a:avLst/>
          </a:prstGeom>
          <a:noFill/>
        </p:spPr>
        <p:txBody>
          <a:bodyPr wrap="square" lIns="0" rIns="0" tIns="0" bIns="0" anchor="t">
            <a:spAutoFit/>
          </a:bodyPr>
          <a:lstStyle/>
          <a:p>
            <a:pPr algn="l"/>
            <a:r>
              <a:rPr sz="1100" b="1" i="0">
                <a:solidFill>
                  <a:srgbClr val="1F6F8B"/>
                </a:solidFill>
                <a:latin typeface="Calibri"/>
              </a:rPr>
              <a:t>TRIANGULAR SYSTEM</a:t>
            </a:r>
          </a:p>
        </p:txBody>
      </p:sp>
      <p:sp>
        <p:nvSpPr>
          <p:cNvPr id="8" name="TextBox 7"/>
          <p:cNvSpPr txBox="1"/>
          <p:nvPr/>
        </p:nvSpPr>
        <p:spPr>
          <a:xfrm>
            <a:off x="777240" y="2103120"/>
            <a:ext cx="3108960" cy="548640"/>
          </a:xfrm>
          <a:prstGeom prst="rect">
            <a:avLst/>
          </a:prstGeom>
          <a:noFill/>
        </p:spPr>
        <p:txBody>
          <a:bodyPr wrap="square" lIns="0" rIns="0" tIns="0" bIns="0" anchor="ctr">
            <a:spAutoFit/>
          </a:bodyPr>
          <a:lstStyle/>
          <a:p>
            <a:pPr algn="l"/>
            <a:r>
              <a:rPr sz="2200" b="0" i="0">
                <a:solidFill>
                  <a:srgbClr val="14213D"/>
                </a:solidFill>
                <a:latin typeface="Cambria"/>
              </a:rPr>
              <a:t>a + b + 2c = 12</a:t>
            </a:r>
          </a:p>
        </p:txBody>
      </p:sp>
      <p:sp>
        <p:nvSpPr>
          <p:cNvPr id="9" name="TextBox 8"/>
          <p:cNvSpPr txBox="1"/>
          <p:nvPr/>
        </p:nvSpPr>
        <p:spPr>
          <a:xfrm>
            <a:off x="777240" y="2651760"/>
            <a:ext cx="3108960" cy="548640"/>
          </a:xfrm>
          <a:prstGeom prst="rect">
            <a:avLst/>
          </a:prstGeom>
          <a:noFill/>
        </p:spPr>
        <p:txBody>
          <a:bodyPr wrap="square" lIns="0" rIns="0" tIns="0" bIns="0" anchor="ctr">
            <a:spAutoFit/>
          </a:bodyPr>
          <a:lstStyle/>
          <a:p>
            <a:pPr algn="l"/>
            <a:r>
              <a:rPr sz="2200" b="0" i="0">
                <a:solidFill>
                  <a:srgbClr val="14213D"/>
                </a:solidFill>
                <a:latin typeface="Cambria"/>
              </a:rPr>
              <a:t>b + 7⁄6 c = 11⁄2</a:t>
            </a:r>
          </a:p>
        </p:txBody>
      </p:sp>
      <p:sp>
        <p:nvSpPr>
          <p:cNvPr id="10" name="TextBox 9"/>
          <p:cNvSpPr txBox="1"/>
          <p:nvPr/>
        </p:nvSpPr>
        <p:spPr>
          <a:xfrm>
            <a:off x="777240" y="3200400"/>
            <a:ext cx="3108960" cy="548640"/>
          </a:xfrm>
          <a:prstGeom prst="rect">
            <a:avLst/>
          </a:prstGeom>
          <a:noFill/>
        </p:spPr>
        <p:txBody>
          <a:bodyPr wrap="square" lIns="0" rIns="0" tIns="0" bIns="0" anchor="ctr">
            <a:spAutoFit/>
          </a:bodyPr>
          <a:lstStyle/>
          <a:p>
            <a:pPr algn="l"/>
            <a:r>
              <a:rPr sz="2200" b="0" i="0">
                <a:solidFill>
                  <a:srgbClr val="14213D"/>
                </a:solidFill>
                <a:latin typeface="Cambria"/>
              </a:rPr>
              <a:t>c = 3</a:t>
            </a:r>
          </a:p>
        </p:txBody>
      </p:sp>
      <p:sp>
        <p:nvSpPr>
          <p:cNvPr id="11" name="TextBox 10"/>
          <p:cNvSpPr txBox="1"/>
          <p:nvPr/>
        </p:nvSpPr>
        <p:spPr>
          <a:xfrm>
            <a:off x="4480560" y="1600200"/>
            <a:ext cx="7132320" cy="274320"/>
          </a:xfrm>
          <a:prstGeom prst="rect">
            <a:avLst/>
          </a:prstGeom>
          <a:noFill/>
        </p:spPr>
        <p:txBody>
          <a:bodyPr wrap="square" lIns="0" rIns="0" tIns="0" bIns="0" anchor="t">
            <a:spAutoFit/>
          </a:bodyPr>
          <a:lstStyle/>
          <a:p>
            <a:pPr algn="l"/>
            <a:r>
              <a:rPr sz="1100" b="1" i="0">
                <a:solidFill>
                  <a:srgbClr val="1F6F8B"/>
                </a:solidFill>
                <a:latin typeface="Calibri"/>
              </a:rPr>
              <a:t>SUBSTITUTE UPWARDS</a:t>
            </a:r>
          </a:p>
        </p:txBody>
      </p:sp>
      <p:sp>
        <p:nvSpPr>
          <p:cNvPr id="12" name="TextBox 11"/>
          <p:cNvSpPr txBox="1"/>
          <p:nvPr/>
        </p:nvSpPr>
        <p:spPr>
          <a:xfrm>
            <a:off x="4480560" y="1920240"/>
            <a:ext cx="7132320" cy="640080"/>
          </a:xfrm>
          <a:prstGeom prst="rect">
            <a:avLst/>
          </a:prstGeom>
          <a:noFill/>
        </p:spPr>
        <p:txBody>
          <a:bodyPr wrap="square" lIns="0" rIns="0" tIns="0" bIns="0" anchor="ctr">
            <a:spAutoFit/>
          </a:bodyPr>
          <a:lstStyle/>
          <a:p>
            <a:pPr algn="l"/>
            <a:r>
              <a:rPr sz="1800" b="0" i="0">
                <a:solidFill>
                  <a:srgbClr val="14213D"/>
                </a:solidFill>
                <a:latin typeface="Cambria"/>
              </a:rPr>
              <a:t>c = 3 into equation 2:   b + 7⁄6 · 3 = 11⁄2,  so  b + 7⁄2 = 11⁄2,  so  b = 2</a:t>
            </a:r>
          </a:p>
        </p:txBody>
      </p:sp>
      <p:sp>
        <p:nvSpPr>
          <p:cNvPr id="13" name="TextBox 12"/>
          <p:cNvSpPr txBox="1"/>
          <p:nvPr/>
        </p:nvSpPr>
        <p:spPr>
          <a:xfrm>
            <a:off x="4480560" y="2560320"/>
            <a:ext cx="7132320" cy="640080"/>
          </a:xfrm>
          <a:prstGeom prst="rect">
            <a:avLst/>
          </a:prstGeom>
          <a:noFill/>
        </p:spPr>
        <p:txBody>
          <a:bodyPr wrap="square" lIns="0" rIns="0" tIns="0" bIns="0" anchor="ctr">
            <a:spAutoFit/>
          </a:bodyPr>
          <a:lstStyle/>
          <a:p>
            <a:pPr algn="l"/>
            <a:r>
              <a:rPr sz="1800" b="0" i="0">
                <a:solidFill>
                  <a:srgbClr val="14213D"/>
                </a:solidFill>
                <a:latin typeface="Cambria"/>
              </a:rPr>
              <a:t>b = 2, c = 3 into equation 1:   a + 2 + 6 = 12,  so  a = 4</a:t>
            </a:r>
          </a:p>
        </p:txBody>
      </p:sp>
      <p:sp>
        <p:nvSpPr>
          <p:cNvPr id="14" name="Rounded Rectangle 13"/>
          <p:cNvSpPr/>
          <p:nvPr/>
        </p:nvSpPr>
        <p:spPr>
          <a:xfrm>
            <a:off x="4480560" y="3429000"/>
            <a:ext cx="7132320" cy="91440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520440"/>
            <a:ext cx="6583680" cy="731520"/>
          </a:xfrm>
          <a:prstGeom prst="rect">
            <a:avLst/>
          </a:prstGeom>
          <a:noFill/>
        </p:spPr>
        <p:txBody>
          <a:bodyPr wrap="square" lIns="0" rIns="0" tIns="0" bIns="0" anchor="ctr">
            <a:spAutoFit/>
          </a:bodyPr>
          <a:lstStyle/>
          <a:p>
            <a:pPr algn="l"/>
            <a:r>
              <a:rPr sz="2600" b="1" i="0">
                <a:solidFill>
                  <a:srgbClr val="14213D"/>
                </a:solidFill>
                <a:latin typeface="Cambria"/>
              </a:rPr>
              <a:t>Solution:  a = 4,  b = 2,  c = 3</a:t>
            </a:r>
          </a:p>
        </p:txBody>
      </p:sp>
      <p:sp>
        <p:nvSpPr>
          <p:cNvPr id="16" name="TextBox 15"/>
          <p:cNvSpPr txBox="1"/>
          <p:nvPr/>
        </p:nvSpPr>
        <p:spPr>
          <a:xfrm>
            <a:off x="4480560" y="4572000"/>
            <a:ext cx="5029200" cy="274320"/>
          </a:xfrm>
          <a:prstGeom prst="rect">
            <a:avLst/>
          </a:prstGeom>
          <a:noFill/>
        </p:spPr>
        <p:txBody>
          <a:bodyPr wrap="square" lIns="0" rIns="0" tIns="0" bIns="0" anchor="t">
            <a:spAutoFit/>
          </a:bodyPr>
          <a:lstStyle/>
          <a:p>
            <a:pPr algn="l"/>
            <a:r>
              <a:rPr sz="1100" b="1" i="0">
                <a:solidFill>
                  <a:srgbClr val="1F6F8B"/>
                </a:solidFill>
                <a:latin typeface="Calibri"/>
              </a:rPr>
              <a:t>CHECK</a:t>
            </a:r>
          </a:p>
        </p:txBody>
      </p:sp>
      <p:sp>
        <p:nvSpPr>
          <p:cNvPr id="17" name="TextBox 16"/>
          <p:cNvSpPr txBox="1"/>
          <p:nvPr/>
        </p:nvSpPr>
        <p:spPr>
          <a:xfrm>
            <a:off x="4480560" y="4846320"/>
            <a:ext cx="5029200" cy="1097280"/>
          </a:xfrm>
          <a:prstGeom prst="rect">
            <a:avLst/>
          </a:prstGeom>
          <a:noFill/>
        </p:spPr>
        <p:txBody>
          <a:bodyPr wrap="square" lIns="0" rIns="0" tIns="0" bIns="0" anchor="t">
            <a:spAutoFit/>
          </a:bodyPr>
          <a:lstStyle/>
          <a:p>
            <a:pPr algn="l">
              <a:spcAft>
                <a:spcPts val="300"/>
              </a:spcAft>
            </a:pPr>
            <a:r>
              <a:rPr sz="1500" b="0" i="0">
                <a:solidFill>
                  <a:srgbClr val="5B6675"/>
                </a:solidFill>
                <a:latin typeface="Cambria"/>
              </a:rPr>
              <a:t>4 + 2 + 2(3) = 12  ✓</a:t>
            </a:r>
          </a:p>
          <a:p>
            <a:pPr algn="l">
              <a:spcAft>
                <a:spcPts val="300"/>
              </a:spcAft>
            </a:pPr>
            <a:r>
              <a:rPr sz="1500" b="0" i="0">
                <a:solidFill>
                  <a:srgbClr val="5B6675"/>
                </a:solidFill>
                <a:latin typeface="Cambria"/>
              </a:rPr>
              <a:t>3(4) − 3(2) − 3 = 3  ✓</a:t>
            </a:r>
          </a:p>
          <a:p>
            <a:pPr algn="l">
              <a:spcAft>
                <a:spcPts val="300"/>
              </a:spcAft>
            </a:pPr>
            <a:r>
              <a:rPr sz="1500" b="0" i="0">
                <a:solidFill>
                  <a:srgbClr val="5B6675"/>
                </a:solidFill>
                <a:latin typeface="Cambria"/>
              </a:rPr>
              <a:t>2(4) − 2 + 6(3) = 24  ✓</a:t>
            </a:r>
          </a:p>
        </p:txBody>
      </p:sp>
      <p:sp>
        <p:nvSpPr>
          <p:cNvPr id="18" name="TextBox 17"/>
          <p:cNvSpPr txBox="1"/>
          <p:nvPr/>
        </p:nvSpPr>
        <p:spPr>
          <a:xfrm>
            <a:off x="548640" y="4297680"/>
            <a:ext cx="3566160" cy="1645920"/>
          </a:xfrm>
          <a:prstGeom prst="rect">
            <a:avLst/>
          </a:prstGeom>
          <a:noFill/>
        </p:spPr>
        <p:txBody>
          <a:bodyPr wrap="square" lIns="0" rIns="0" tIns="0" bIns="0" anchor="t">
            <a:spAutoFit/>
          </a:bodyPr>
          <a:lstStyle/>
          <a:p>
            <a:pPr algn="l">
              <a:lnSpc>
                <a:spcPct val="120000"/>
              </a:lnSpc>
            </a:pPr>
            <a:r>
              <a:rPr sz="1500" b="0" i="0">
                <a:solidFill>
                  <a:srgbClr val="5B6675"/>
                </a:solidFill>
                <a:latin typeface="Calibri"/>
              </a:rPr>
              <a:t>Back substitution: solve the last equation first and feed each answer into the equation above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19</a:t>
            </a:r>
          </a:p>
        </p:txBody>
      </p:sp>
      <p:sp>
        <p:nvSpPr>
          <p:cNvPr id="4" name="TextBox 3"/>
          <p:cNvSpPr txBox="1"/>
          <p:nvPr/>
        </p:nvSpPr>
        <p:spPr>
          <a:xfrm>
            <a:off x="548640" y="2011680"/>
            <a:ext cx="5486400" cy="365760"/>
          </a:xfrm>
          <a:prstGeom prst="rect">
            <a:avLst/>
          </a:prstGeom>
          <a:noFill/>
        </p:spPr>
        <p:txBody>
          <a:bodyPr wrap="square" lIns="0" rIns="0" tIns="0" bIns="0" anchor="t">
            <a:spAutoFit/>
          </a:bodyPr>
          <a:lstStyle/>
          <a:p>
            <a:pPr algn="l"/>
            <a:r>
              <a:rPr sz="1600" b="1" i="0">
                <a:solidFill>
                  <a:srgbClr val="F2B263"/>
                </a:solidFill>
                <a:latin typeface="Calibri"/>
              </a:rPr>
              <a:t>PART 2</a:t>
            </a:r>
          </a:p>
        </p:txBody>
      </p:sp>
      <p:sp>
        <p:nvSpPr>
          <p:cNvPr id="5" name="TextBox 4"/>
          <p:cNvSpPr txBox="1"/>
          <p:nvPr/>
        </p:nvSpPr>
        <p:spPr>
          <a:xfrm>
            <a:off x="548640" y="2468880"/>
            <a:ext cx="10515600" cy="1463040"/>
          </a:xfrm>
          <a:prstGeom prst="rect">
            <a:avLst/>
          </a:prstGeom>
          <a:noFill/>
        </p:spPr>
        <p:txBody>
          <a:bodyPr wrap="square" lIns="0" rIns="0" tIns="0" bIns="0" anchor="t">
            <a:spAutoFit/>
          </a:bodyPr>
          <a:lstStyle/>
          <a:p>
            <a:pPr algn="l"/>
            <a:r>
              <a:rPr sz="5400" b="1" i="0">
                <a:solidFill>
                  <a:srgbClr val="FFFFFF"/>
                </a:solidFill>
                <a:latin typeface="Cambria"/>
              </a:rPr>
              <a:t>Matrix row reduction</a:t>
            </a:r>
          </a:p>
        </p:txBody>
      </p:sp>
      <p:sp>
        <p:nvSpPr>
          <p:cNvPr id="6" name="TextBox 5"/>
          <p:cNvSpPr txBox="1"/>
          <p:nvPr/>
        </p:nvSpPr>
        <p:spPr>
          <a:xfrm>
            <a:off x="548640" y="4114800"/>
            <a:ext cx="8229600" cy="1097280"/>
          </a:xfrm>
          <a:prstGeom prst="rect">
            <a:avLst/>
          </a:prstGeom>
          <a:noFill/>
        </p:spPr>
        <p:txBody>
          <a:bodyPr wrap="square" lIns="0" rIns="0" tIns="0" bIns="0" anchor="t">
            <a:spAutoFit/>
          </a:bodyPr>
          <a:lstStyle/>
          <a:p>
            <a:pPr algn="l">
              <a:lnSpc>
                <a:spcPct val="120000"/>
              </a:lnSpc>
            </a:pPr>
            <a:r>
              <a:rPr sz="2000" b="0" i="0">
                <a:solidFill>
                  <a:srgbClr val="BFD8D5"/>
                </a:solidFill>
                <a:latin typeface="Calibri"/>
              </a:rPr>
              <a:t>The same elimination steps, written on the coefficients only. Rows replace equations.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MATRIX ROW REDUCTION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From systems to matrices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20</a:t>
            </a:r>
          </a:p>
        </p:txBody>
      </p:sp>
      <p:sp>
        <p:nvSpPr>
          <p:cNvPr id="6" name="Rounded Rectangle 5"/>
          <p:cNvSpPr/>
          <p:nvPr/>
        </p:nvSpPr>
        <p:spPr>
          <a:xfrm>
            <a:off x="548640" y="1463040"/>
            <a:ext cx="11064240" cy="137160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64208"/>
            <a:ext cx="1051560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1975104"/>
            <a:ext cx="10515600" cy="731520"/>
          </a:xfrm>
          <a:prstGeom prst="rect">
            <a:avLst/>
          </a:prstGeom>
          <a:noFill/>
        </p:spPr>
        <p:txBody>
          <a:bodyPr wrap="square" lIns="0" rIns="0" tIns="0" bIns="0" anchor="t">
            <a:spAutoFit/>
          </a:bodyPr>
          <a:lstStyle/>
          <a:p>
            <a:pPr algn="l">
              <a:lnSpc>
                <a:spcPct val="115000"/>
              </a:lnSpc>
              <a:spcAft>
                <a:spcPts val="600"/>
              </a:spcAft>
            </a:pPr>
            <a:r>
              <a:rPr sz="1700" b="1" i="0">
                <a:solidFill>
                  <a:srgbClr val="14213D"/>
                </a:solidFill>
                <a:latin typeface="Calibri"/>
              </a:rPr>
              <a:t>The coefficient matrix</a:t>
            </a:r>
            <a:r>
              <a:rPr sz="1700" b="0" i="0">
                <a:solidFill>
                  <a:srgbClr val="14213D"/>
                </a:solidFill>
                <a:latin typeface="Calibri"/>
              </a:rPr>
              <a:t> of a system lists the coefficients of the variables: one row per equation, one column per variable. </a:t>
            </a:r>
            <a:r>
              <a:rPr sz="1700" b="1" i="0">
                <a:solidFill>
                  <a:srgbClr val="14213D"/>
                </a:solidFill>
                <a:latin typeface="Calibri"/>
              </a:rPr>
              <a:t>Row reduction</a:t>
            </a:r>
            <a:r>
              <a:rPr sz="1700" b="0" i="0">
                <a:solidFill>
                  <a:srgbClr val="14213D"/>
                </a:solidFill>
                <a:latin typeface="Calibri"/>
              </a:rPr>
              <a:t> applies the three legal operations to the rows of the matrix instead of to the equations.</a:t>
            </a:r>
          </a:p>
        </p:txBody>
      </p:sp>
      <p:sp>
        <p:nvSpPr>
          <p:cNvPr id="9" name="TextBox 8"/>
          <p:cNvSpPr txBox="1"/>
          <p:nvPr/>
        </p:nvSpPr>
        <p:spPr>
          <a:xfrm>
            <a:off x="822960" y="3063240"/>
            <a:ext cx="2926080" cy="320040"/>
          </a:xfrm>
          <a:prstGeom prst="rect">
            <a:avLst/>
          </a:prstGeom>
          <a:noFill/>
        </p:spPr>
        <p:txBody>
          <a:bodyPr wrap="square" lIns="0" rIns="0" tIns="0" bIns="0" anchor="t">
            <a:spAutoFit/>
          </a:bodyPr>
          <a:lstStyle/>
          <a:p>
            <a:pPr algn="l"/>
            <a:r>
              <a:rPr sz="1400" b="1" i="0">
                <a:solidFill>
                  <a:srgbClr val="5B6675"/>
                </a:solidFill>
                <a:latin typeface="Calibri"/>
              </a:rPr>
              <a:t>ORIGINAL SYSTEM</a:t>
            </a:r>
          </a:p>
        </p:txBody>
      </p:sp>
      <p:sp>
        <p:nvSpPr>
          <p:cNvPr id="10" name="TextBox 9"/>
          <p:cNvSpPr txBox="1"/>
          <p:nvPr/>
        </p:nvSpPr>
        <p:spPr>
          <a:xfrm>
            <a:off x="822960" y="3410712"/>
            <a:ext cx="2926080" cy="411480"/>
          </a:xfrm>
          <a:prstGeom prst="rect">
            <a:avLst/>
          </a:prstGeom>
          <a:noFill/>
        </p:spPr>
        <p:txBody>
          <a:bodyPr wrap="square" lIns="0" rIns="0" tIns="0" bIns="0" anchor="ctr">
            <a:spAutoFit/>
          </a:bodyPr>
          <a:lstStyle/>
          <a:p>
            <a:pPr algn="l"/>
            <a:r>
              <a:rPr sz="2000" b="0" i="0">
                <a:solidFill>
                  <a:srgbClr val="14213D"/>
                </a:solidFill>
                <a:latin typeface="Cambria"/>
              </a:rPr>
              <a:t>5a + b = 17</a:t>
            </a:r>
          </a:p>
        </p:txBody>
      </p:sp>
      <p:sp>
        <p:nvSpPr>
          <p:cNvPr id="11" name="TextBox 10"/>
          <p:cNvSpPr txBox="1"/>
          <p:nvPr/>
        </p:nvSpPr>
        <p:spPr>
          <a:xfrm>
            <a:off x="822960" y="3822191"/>
            <a:ext cx="2926080" cy="411480"/>
          </a:xfrm>
          <a:prstGeom prst="rect">
            <a:avLst/>
          </a:prstGeom>
          <a:noFill/>
        </p:spPr>
        <p:txBody>
          <a:bodyPr wrap="square" lIns="0" rIns="0" tIns="0" bIns="0" anchor="ctr">
            <a:spAutoFit/>
          </a:bodyPr>
          <a:lstStyle/>
          <a:p>
            <a:pPr algn="l"/>
            <a:r>
              <a:rPr sz="2000" b="0" i="0">
                <a:solidFill>
                  <a:srgbClr val="14213D"/>
                </a:solidFill>
                <a:latin typeface="Cambria"/>
              </a:rPr>
              <a:t>4a − 3b = 6</a:t>
            </a:r>
          </a:p>
        </p:txBody>
      </p:sp>
      <p:sp>
        <p:nvSpPr>
          <p:cNvPr id="12" name="TextBox 11"/>
          <p:cNvSpPr txBox="1"/>
          <p:nvPr/>
        </p:nvSpPr>
        <p:spPr>
          <a:xfrm>
            <a:off x="4572000" y="3063240"/>
            <a:ext cx="2926080" cy="320040"/>
          </a:xfrm>
          <a:prstGeom prst="rect">
            <a:avLst/>
          </a:prstGeom>
          <a:noFill/>
        </p:spPr>
        <p:txBody>
          <a:bodyPr wrap="square" lIns="0" rIns="0" tIns="0" bIns="0" anchor="t">
            <a:spAutoFit/>
          </a:bodyPr>
          <a:lstStyle/>
          <a:p>
            <a:pPr algn="l"/>
            <a:r>
              <a:rPr sz="1400" b="1" i="0">
                <a:solidFill>
                  <a:srgbClr val="5B6675"/>
                </a:solidFill>
                <a:latin typeface="Calibri"/>
              </a:rPr>
              <a:t>INTERMEDIATE SYSTEM</a:t>
            </a:r>
          </a:p>
        </p:txBody>
      </p:sp>
      <p:sp>
        <p:nvSpPr>
          <p:cNvPr id="13" name="TextBox 12"/>
          <p:cNvSpPr txBox="1"/>
          <p:nvPr/>
        </p:nvSpPr>
        <p:spPr>
          <a:xfrm>
            <a:off x="4572000" y="3410712"/>
            <a:ext cx="2926080" cy="411480"/>
          </a:xfrm>
          <a:prstGeom prst="rect">
            <a:avLst/>
          </a:prstGeom>
          <a:noFill/>
        </p:spPr>
        <p:txBody>
          <a:bodyPr wrap="square" lIns="0" rIns="0" tIns="0" bIns="0" anchor="ctr">
            <a:spAutoFit/>
          </a:bodyPr>
          <a:lstStyle/>
          <a:p>
            <a:pPr algn="l"/>
            <a:r>
              <a:rPr sz="2000" b="0" i="0">
                <a:solidFill>
                  <a:srgbClr val="14213D"/>
                </a:solidFill>
                <a:latin typeface="Cambria"/>
              </a:rPr>
              <a:t>a + 0.2b = 3.4</a:t>
            </a:r>
          </a:p>
        </p:txBody>
      </p:sp>
      <p:sp>
        <p:nvSpPr>
          <p:cNvPr id="14" name="TextBox 13"/>
          <p:cNvSpPr txBox="1"/>
          <p:nvPr/>
        </p:nvSpPr>
        <p:spPr>
          <a:xfrm>
            <a:off x="4572000" y="3822191"/>
            <a:ext cx="2926080" cy="411480"/>
          </a:xfrm>
          <a:prstGeom prst="rect">
            <a:avLst/>
          </a:prstGeom>
          <a:noFill/>
        </p:spPr>
        <p:txBody>
          <a:bodyPr wrap="square" lIns="0" rIns="0" tIns="0" bIns="0" anchor="ctr">
            <a:spAutoFit/>
          </a:bodyPr>
          <a:lstStyle/>
          <a:p>
            <a:pPr algn="l"/>
            <a:r>
              <a:rPr sz="2000" b="0" i="0">
                <a:solidFill>
                  <a:srgbClr val="14213D"/>
                </a:solidFill>
                <a:latin typeface="Cambria"/>
              </a:rPr>
              <a:t>b = 2</a:t>
            </a:r>
          </a:p>
        </p:txBody>
      </p:sp>
      <p:sp>
        <p:nvSpPr>
          <p:cNvPr id="15" name="TextBox 14"/>
          <p:cNvSpPr txBox="1"/>
          <p:nvPr/>
        </p:nvSpPr>
        <p:spPr>
          <a:xfrm>
            <a:off x="8503920" y="3063240"/>
            <a:ext cx="2926080" cy="320040"/>
          </a:xfrm>
          <a:prstGeom prst="rect">
            <a:avLst/>
          </a:prstGeom>
          <a:noFill/>
        </p:spPr>
        <p:txBody>
          <a:bodyPr wrap="square" lIns="0" rIns="0" tIns="0" bIns="0" anchor="t">
            <a:spAutoFit/>
          </a:bodyPr>
          <a:lstStyle/>
          <a:p>
            <a:pPr algn="l"/>
            <a:r>
              <a:rPr sz="1400" b="1" i="0">
                <a:solidFill>
                  <a:srgbClr val="5B6675"/>
                </a:solidFill>
                <a:latin typeface="Calibri"/>
              </a:rPr>
              <a:t>SOLVED SYSTEM</a:t>
            </a:r>
          </a:p>
        </p:txBody>
      </p:sp>
      <p:sp>
        <p:nvSpPr>
          <p:cNvPr id="16" name="TextBox 15"/>
          <p:cNvSpPr txBox="1"/>
          <p:nvPr/>
        </p:nvSpPr>
        <p:spPr>
          <a:xfrm>
            <a:off x="8503920" y="3410712"/>
            <a:ext cx="2926080" cy="411480"/>
          </a:xfrm>
          <a:prstGeom prst="rect">
            <a:avLst/>
          </a:prstGeom>
          <a:noFill/>
        </p:spPr>
        <p:txBody>
          <a:bodyPr wrap="square" lIns="0" rIns="0" tIns="0" bIns="0" anchor="ctr">
            <a:spAutoFit/>
          </a:bodyPr>
          <a:lstStyle/>
          <a:p>
            <a:pPr algn="l"/>
            <a:r>
              <a:rPr sz="2000" b="0" i="0">
                <a:solidFill>
                  <a:srgbClr val="14213D"/>
                </a:solidFill>
                <a:latin typeface="Cambria"/>
              </a:rPr>
              <a:t>1a + 0b = 3</a:t>
            </a:r>
          </a:p>
        </p:txBody>
      </p:sp>
      <p:sp>
        <p:nvSpPr>
          <p:cNvPr id="17" name="TextBox 16"/>
          <p:cNvSpPr txBox="1"/>
          <p:nvPr/>
        </p:nvSpPr>
        <p:spPr>
          <a:xfrm>
            <a:off x="8503920" y="3822191"/>
            <a:ext cx="2926080" cy="411480"/>
          </a:xfrm>
          <a:prstGeom prst="rect">
            <a:avLst/>
          </a:prstGeom>
          <a:noFill/>
        </p:spPr>
        <p:txBody>
          <a:bodyPr wrap="square" lIns="0" rIns="0" tIns="0" bIns="0" anchor="ctr">
            <a:spAutoFit/>
          </a:bodyPr>
          <a:lstStyle/>
          <a:p>
            <a:pPr algn="l"/>
            <a:r>
              <a:rPr sz="2000" b="0" i="0">
                <a:solidFill>
                  <a:srgbClr val="14213D"/>
                </a:solidFill>
                <a:latin typeface="Cambria"/>
              </a:rPr>
              <a:t>0a + 1b = 2</a:t>
            </a:r>
          </a:p>
        </p:txBody>
      </p:sp>
      <p:sp>
        <p:nvSpPr>
          <p:cNvPr id="18" name="Rectangle 17"/>
          <p:cNvSpPr/>
          <p:nvPr/>
        </p:nvSpPr>
        <p:spPr>
          <a:xfrm>
            <a:off x="1225295" y="457200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5</a:t>
            </a:r>
          </a:p>
        </p:txBody>
      </p:sp>
      <p:sp>
        <p:nvSpPr>
          <p:cNvPr id="19" name="Rectangle 18"/>
          <p:cNvSpPr/>
          <p:nvPr/>
        </p:nvSpPr>
        <p:spPr>
          <a:xfrm>
            <a:off x="1801367" y="457200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20" name="Rectangle 19"/>
          <p:cNvSpPr/>
          <p:nvPr/>
        </p:nvSpPr>
        <p:spPr>
          <a:xfrm>
            <a:off x="1225295" y="507492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4</a:t>
            </a:r>
          </a:p>
        </p:txBody>
      </p:sp>
      <p:sp>
        <p:nvSpPr>
          <p:cNvPr id="21" name="Rectangle 20"/>
          <p:cNvSpPr/>
          <p:nvPr/>
        </p:nvSpPr>
        <p:spPr>
          <a:xfrm>
            <a:off x="1801367" y="507492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−3</a:t>
            </a:r>
          </a:p>
        </p:txBody>
      </p:sp>
      <p:sp>
        <p:nvSpPr>
          <p:cNvPr id="22" name="Left Bracket 21"/>
          <p:cNvSpPr/>
          <p:nvPr/>
        </p:nvSpPr>
        <p:spPr>
          <a:xfrm>
            <a:off x="1097280" y="4535424"/>
            <a:ext cx="128016" cy="1033272"/>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Bracket 22"/>
          <p:cNvSpPr/>
          <p:nvPr/>
        </p:nvSpPr>
        <p:spPr>
          <a:xfrm>
            <a:off x="2331720" y="4535424"/>
            <a:ext cx="128016" cy="1033272"/>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641848"/>
            <a:ext cx="2459736" cy="548640"/>
          </a:xfrm>
          <a:prstGeom prst="rect">
            <a:avLst/>
          </a:prstGeom>
          <a:noFill/>
        </p:spPr>
        <p:txBody>
          <a:bodyPr wrap="square" lIns="0" rIns="0" tIns="0" bIns="0" anchor="t">
            <a:spAutoFit/>
          </a:bodyPr>
          <a:lstStyle/>
          <a:p>
            <a:pPr algn="ctr"/>
            <a:r>
              <a:rPr sz="1400" b="0" i="0">
                <a:solidFill>
                  <a:srgbClr val="5B6675"/>
                </a:solidFill>
                <a:latin typeface="Calibri"/>
              </a:rPr>
              <a:t>Original matrix</a:t>
            </a:r>
          </a:p>
        </p:txBody>
      </p:sp>
      <p:sp>
        <p:nvSpPr>
          <p:cNvPr id="25" name="Right Arrow 24"/>
          <p:cNvSpPr/>
          <p:nvPr/>
        </p:nvSpPr>
        <p:spPr>
          <a:xfrm>
            <a:off x="2834640" y="4892040"/>
            <a:ext cx="1097280" cy="329184"/>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74336" y="457200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27" name="Rectangle 26"/>
          <p:cNvSpPr/>
          <p:nvPr/>
        </p:nvSpPr>
        <p:spPr>
          <a:xfrm>
            <a:off x="5550407" y="457200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0.2</a:t>
            </a:r>
          </a:p>
        </p:txBody>
      </p:sp>
      <p:sp>
        <p:nvSpPr>
          <p:cNvPr id="28" name="Rectangle 27"/>
          <p:cNvSpPr/>
          <p:nvPr/>
        </p:nvSpPr>
        <p:spPr>
          <a:xfrm>
            <a:off x="4974336" y="507492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29" name="Rectangle 28"/>
          <p:cNvSpPr/>
          <p:nvPr/>
        </p:nvSpPr>
        <p:spPr>
          <a:xfrm>
            <a:off x="5550407" y="5074920"/>
            <a:ext cx="530352" cy="45720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30" name="Left Bracket 29"/>
          <p:cNvSpPr/>
          <p:nvPr/>
        </p:nvSpPr>
        <p:spPr>
          <a:xfrm>
            <a:off x="4846320" y="4535424"/>
            <a:ext cx="128016" cy="1033272"/>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Bracket 30"/>
          <p:cNvSpPr/>
          <p:nvPr/>
        </p:nvSpPr>
        <p:spPr>
          <a:xfrm>
            <a:off x="6080760" y="4535424"/>
            <a:ext cx="128016" cy="1033272"/>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97680" y="5641848"/>
            <a:ext cx="2459736" cy="548640"/>
          </a:xfrm>
          <a:prstGeom prst="rect">
            <a:avLst/>
          </a:prstGeom>
          <a:noFill/>
        </p:spPr>
        <p:txBody>
          <a:bodyPr wrap="square" lIns="0" rIns="0" tIns="0" bIns="0" anchor="t">
            <a:spAutoFit/>
          </a:bodyPr>
          <a:lstStyle/>
          <a:p>
            <a:pPr algn="ctr"/>
            <a:r>
              <a:rPr sz="1400" b="0" i="0">
                <a:solidFill>
                  <a:srgbClr val="5B6675"/>
                </a:solidFill>
                <a:latin typeface="Calibri"/>
              </a:rPr>
              <a:t>Upper triangular: row echelon form</a:t>
            </a:r>
          </a:p>
        </p:txBody>
      </p:sp>
      <p:sp>
        <p:nvSpPr>
          <p:cNvPr id="33" name="Right Arrow 32"/>
          <p:cNvSpPr/>
          <p:nvPr/>
        </p:nvSpPr>
        <p:spPr>
          <a:xfrm>
            <a:off x="6675120" y="4892040"/>
            <a:ext cx="1097280" cy="329184"/>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4572000"/>
            <a:ext cx="530352" cy="45720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35" name="Rectangle 34"/>
          <p:cNvSpPr/>
          <p:nvPr/>
        </p:nvSpPr>
        <p:spPr>
          <a:xfrm>
            <a:off x="9482328" y="4572000"/>
            <a:ext cx="530352" cy="45720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36" name="Rectangle 35"/>
          <p:cNvSpPr/>
          <p:nvPr/>
        </p:nvSpPr>
        <p:spPr>
          <a:xfrm>
            <a:off x="8906256" y="5074920"/>
            <a:ext cx="530352" cy="45720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37" name="Rectangle 36"/>
          <p:cNvSpPr/>
          <p:nvPr/>
        </p:nvSpPr>
        <p:spPr>
          <a:xfrm>
            <a:off x="9482328" y="5074920"/>
            <a:ext cx="530352" cy="45720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38" name="Left Bracket 37"/>
          <p:cNvSpPr/>
          <p:nvPr/>
        </p:nvSpPr>
        <p:spPr>
          <a:xfrm>
            <a:off x="8778240" y="4535424"/>
            <a:ext cx="128016" cy="1033272"/>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Bracket 38"/>
          <p:cNvSpPr/>
          <p:nvPr/>
        </p:nvSpPr>
        <p:spPr>
          <a:xfrm>
            <a:off x="10012680" y="4535424"/>
            <a:ext cx="128016" cy="1033272"/>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5641848"/>
            <a:ext cx="2459736" cy="548640"/>
          </a:xfrm>
          <a:prstGeom prst="rect">
            <a:avLst/>
          </a:prstGeom>
          <a:noFill/>
        </p:spPr>
        <p:txBody>
          <a:bodyPr wrap="square" lIns="0" rIns="0" tIns="0" bIns="0" anchor="t">
            <a:spAutoFit/>
          </a:bodyPr>
          <a:lstStyle/>
          <a:p>
            <a:pPr algn="ctr"/>
            <a:r>
              <a:rPr sz="1400" b="0" i="0">
                <a:solidFill>
                  <a:srgbClr val="5B6675"/>
                </a:solidFill>
                <a:latin typeface="Calibri"/>
              </a:rPr>
              <a:t>Diagonal: reduced row echelon form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MATRIX ROW REDUCTION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Singular systems as matrices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21</a:t>
            </a:r>
          </a:p>
        </p:txBody>
      </p:sp>
      <p:sp>
        <p:nvSpPr>
          <p:cNvPr id="6" name="TextBox 5"/>
          <p:cNvSpPr txBox="1"/>
          <p:nvPr/>
        </p:nvSpPr>
        <p:spPr>
          <a:xfrm>
            <a:off x="548640" y="1417320"/>
            <a:ext cx="2743200" cy="274320"/>
          </a:xfrm>
          <a:prstGeom prst="rect">
            <a:avLst/>
          </a:prstGeom>
          <a:noFill/>
        </p:spPr>
        <p:txBody>
          <a:bodyPr wrap="square" lIns="0" rIns="0" tIns="0" bIns="0" anchor="t">
            <a:spAutoFit/>
          </a:bodyPr>
          <a:lstStyle/>
          <a:p>
            <a:pPr algn="l"/>
            <a:r>
              <a:rPr sz="1100" b="1" i="0">
                <a:solidFill>
                  <a:srgbClr val="1F6F8B"/>
                </a:solidFill>
                <a:latin typeface="Calibri"/>
              </a:rPr>
              <a:t>ORIGINAL SYSTEM</a:t>
            </a:r>
          </a:p>
        </p:txBody>
      </p:sp>
      <p:sp>
        <p:nvSpPr>
          <p:cNvPr id="7" name="TextBox 6"/>
          <p:cNvSpPr txBox="1"/>
          <p:nvPr/>
        </p:nvSpPr>
        <p:spPr>
          <a:xfrm>
            <a:off x="3291840" y="1417320"/>
            <a:ext cx="2743200" cy="274320"/>
          </a:xfrm>
          <a:prstGeom prst="rect">
            <a:avLst/>
          </a:prstGeom>
          <a:noFill/>
        </p:spPr>
        <p:txBody>
          <a:bodyPr wrap="square" lIns="0" rIns="0" tIns="0" bIns="0" anchor="t">
            <a:spAutoFit/>
          </a:bodyPr>
          <a:lstStyle/>
          <a:p>
            <a:pPr algn="l"/>
            <a:r>
              <a:rPr sz="1100" b="1" i="0">
                <a:solidFill>
                  <a:srgbClr val="1F6F8B"/>
                </a:solidFill>
                <a:latin typeface="Calibri"/>
              </a:rPr>
              <a:t>ORIGINAL MATRIX</a:t>
            </a:r>
          </a:p>
        </p:txBody>
      </p:sp>
      <p:sp>
        <p:nvSpPr>
          <p:cNvPr id="8" name="TextBox 7"/>
          <p:cNvSpPr txBox="1"/>
          <p:nvPr/>
        </p:nvSpPr>
        <p:spPr>
          <a:xfrm>
            <a:off x="6583680" y="1417320"/>
            <a:ext cx="2743200" cy="274320"/>
          </a:xfrm>
          <a:prstGeom prst="rect">
            <a:avLst/>
          </a:prstGeom>
          <a:noFill/>
        </p:spPr>
        <p:txBody>
          <a:bodyPr wrap="square" lIns="0" rIns="0" tIns="0" bIns="0" anchor="t">
            <a:spAutoFit/>
          </a:bodyPr>
          <a:lstStyle/>
          <a:p>
            <a:pPr algn="l"/>
            <a:r>
              <a:rPr sz="1100" b="1" i="0">
                <a:solidFill>
                  <a:srgbClr val="1F6F8B"/>
                </a:solidFill>
                <a:latin typeface="Calibri"/>
              </a:rPr>
              <a:t>AFTER ELIMINATION</a:t>
            </a:r>
          </a:p>
        </p:txBody>
      </p:sp>
      <p:sp>
        <p:nvSpPr>
          <p:cNvPr id="9" name="TextBox 8"/>
          <p:cNvSpPr txBox="1"/>
          <p:nvPr/>
        </p:nvSpPr>
        <p:spPr>
          <a:xfrm>
            <a:off x="9418320" y="1417320"/>
            <a:ext cx="2743200" cy="274320"/>
          </a:xfrm>
          <a:prstGeom prst="rect">
            <a:avLst/>
          </a:prstGeom>
          <a:noFill/>
        </p:spPr>
        <p:txBody>
          <a:bodyPr wrap="square" lIns="0" rIns="0" tIns="0" bIns="0" anchor="t">
            <a:spAutoFit/>
          </a:bodyPr>
          <a:lstStyle/>
          <a:p>
            <a:pPr algn="l"/>
            <a:r>
              <a:rPr sz="1100" b="1" i="0">
                <a:solidFill>
                  <a:srgbClr val="1F6F8B"/>
                </a:solidFill>
                <a:latin typeface="Calibri"/>
              </a:rPr>
              <a:t>ROW ECHELON FORM</a:t>
            </a:r>
          </a:p>
        </p:txBody>
      </p:sp>
      <p:sp>
        <p:nvSpPr>
          <p:cNvPr id="10" name="TextBox 9"/>
          <p:cNvSpPr txBox="1"/>
          <p:nvPr/>
        </p:nvSpPr>
        <p:spPr>
          <a:xfrm>
            <a:off x="548640" y="1783080"/>
            <a:ext cx="2743200" cy="384048"/>
          </a:xfrm>
          <a:prstGeom prst="rect">
            <a:avLst/>
          </a:prstGeom>
          <a:noFill/>
        </p:spPr>
        <p:txBody>
          <a:bodyPr wrap="square" lIns="0" rIns="0" tIns="0" bIns="0" anchor="ctr">
            <a:spAutoFit/>
          </a:bodyPr>
          <a:lstStyle/>
          <a:p>
            <a:pPr algn="l"/>
            <a:r>
              <a:rPr sz="1800" b="0" i="0">
                <a:solidFill>
                  <a:srgbClr val="14213D"/>
                </a:solidFill>
                <a:latin typeface="Cambria"/>
              </a:rPr>
              <a:t>a + b = 10</a:t>
            </a:r>
          </a:p>
        </p:txBody>
      </p:sp>
      <p:sp>
        <p:nvSpPr>
          <p:cNvPr id="11" name="TextBox 10"/>
          <p:cNvSpPr txBox="1"/>
          <p:nvPr/>
        </p:nvSpPr>
        <p:spPr>
          <a:xfrm>
            <a:off x="548640" y="2167128"/>
            <a:ext cx="2743200" cy="384048"/>
          </a:xfrm>
          <a:prstGeom prst="rect">
            <a:avLst/>
          </a:prstGeom>
          <a:noFill/>
        </p:spPr>
        <p:txBody>
          <a:bodyPr wrap="square" lIns="0" rIns="0" tIns="0" bIns="0" anchor="ctr">
            <a:spAutoFit/>
          </a:bodyPr>
          <a:lstStyle/>
          <a:p>
            <a:pPr algn="l"/>
            <a:r>
              <a:rPr sz="1800" b="0" i="0">
                <a:solidFill>
                  <a:srgbClr val="14213D"/>
                </a:solidFill>
                <a:latin typeface="Cambria"/>
              </a:rPr>
              <a:t>2a + 2b = 20</a:t>
            </a:r>
          </a:p>
        </p:txBody>
      </p:sp>
      <p:sp>
        <p:nvSpPr>
          <p:cNvPr id="12" name="Rectangle 11"/>
          <p:cNvSpPr/>
          <p:nvPr/>
        </p:nvSpPr>
        <p:spPr>
          <a:xfrm>
            <a:off x="3511296" y="182880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3" name="Rectangle 12"/>
          <p:cNvSpPr/>
          <p:nvPr/>
        </p:nvSpPr>
        <p:spPr>
          <a:xfrm>
            <a:off x="4014216" y="182880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4" name="Rectangle 13"/>
          <p:cNvSpPr/>
          <p:nvPr/>
        </p:nvSpPr>
        <p:spPr>
          <a:xfrm>
            <a:off x="3511296" y="225856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15" name="Rectangle 14"/>
          <p:cNvSpPr/>
          <p:nvPr/>
        </p:nvSpPr>
        <p:spPr>
          <a:xfrm>
            <a:off x="4014216" y="225856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16" name="Left Bracket 15"/>
          <p:cNvSpPr/>
          <p:nvPr/>
        </p:nvSpPr>
        <p:spPr>
          <a:xfrm>
            <a:off x="3383280" y="179222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Bracket 16"/>
          <p:cNvSpPr/>
          <p:nvPr/>
        </p:nvSpPr>
        <p:spPr>
          <a:xfrm>
            <a:off x="4471416" y="179222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5394960" y="205740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1783080"/>
            <a:ext cx="2743200" cy="384048"/>
          </a:xfrm>
          <a:prstGeom prst="rect">
            <a:avLst/>
          </a:prstGeom>
          <a:noFill/>
        </p:spPr>
        <p:txBody>
          <a:bodyPr wrap="square" lIns="0" rIns="0" tIns="0" bIns="0" anchor="ctr">
            <a:spAutoFit/>
          </a:bodyPr>
          <a:lstStyle/>
          <a:p>
            <a:pPr algn="l"/>
            <a:r>
              <a:rPr sz="1800" b="0" i="0">
                <a:solidFill>
                  <a:srgbClr val="14213D"/>
                </a:solidFill>
                <a:latin typeface="Cambria"/>
              </a:rPr>
              <a:t>a + b = 10</a:t>
            </a:r>
          </a:p>
        </p:txBody>
      </p:sp>
      <p:sp>
        <p:nvSpPr>
          <p:cNvPr id="20" name="TextBox 19"/>
          <p:cNvSpPr txBox="1"/>
          <p:nvPr/>
        </p:nvSpPr>
        <p:spPr>
          <a:xfrm>
            <a:off x="6583680" y="2167128"/>
            <a:ext cx="2743200" cy="384048"/>
          </a:xfrm>
          <a:prstGeom prst="rect">
            <a:avLst/>
          </a:prstGeom>
          <a:noFill/>
        </p:spPr>
        <p:txBody>
          <a:bodyPr wrap="square" lIns="0" rIns="0" tIns="0" bIns="0" anchor="ctr">
            <a:spAutoFit/>
          </a:bodyPr>
          <a:lstStyle/>
          <a:p>
            <a:pPr algn="l"/>
            <a:r>
              <a:rPr sz="1800" b="0" i="0">
                <a:solidFill>
                  <a:srgbClr val="14213D"/>
                </a:solidFill>
                <a:latin typeface="Cambria"/>
              </a:rPr>
              <a:t>0a + 0b = 0</a:t>
            </a:r>
          </a:p>
        </p:txBody>
      </p:sp>
      <p:sp>
        <p:nvSpPr>
          <p:cNvPr id="21" name="Rectangle 20"/>
          <p:cNvSpPr/>
          <p:nvPr/>
        </p:nvSpPr>
        <p:spPr>
          <a:xfrm>
            <a:off x="9637776" y="182880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2" name="Rectangle 21"/>
          <p:cNvSpPr/>
          <p:nvPr/>
        </p:nvSpPr>
        <p:spPr>
          <a:xfrm>
            <a:off x="10140696" y="182880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3" name="Rectangle 22"/>
          <p:cNvSpPr/>
          <p:nvPr/>
        </p:nvSpPr>
        <p:spPr>
          <a:xfrm>
            <a:off x="9637776" y="2258568"/>
            <a:ext cx="457200"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4" name="Rectangle 23"/>
          <p:cNvSpPr/>
          <p:nvPr/>
        </p:nvSpPr>
        <p:spPr>
          <a:xfrm>
            <a:off x="10140696" y="2258568"/>
            <a:ext cx="457200"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5" name="Left Bracket 24"/>
          <p:cNvSpPr/>
          <p:nvPr/>
        </p:nvSpPr>
        <p:spPr>
          <a:xfrm>
            <a:off x="9509760" y="179222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Bracket 25"/>
          <p:cNvSpPr/>
          <p:nvPr/>
        </p:nvSpPr>
        <p:spPr>
          <a:xfrm>
            <a:off x="10597896" y="179222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1965960"/>
            <a:ext cx="1097280" cy="457200"/>
          </a:xfrm>
          <a:prstGeom prst="rect">
            <a:avLst/>
          </a:prstGeom>
          <a:noFill/>
        </p:spPr>
        <p:txBody>
          <a:bodyPr wrap="square" lIns="0" rIns="0" tIns="0" bIns="0" anchor="t">
            <a:spAutoFit/>
          </a:bodyPr>
          <a:lstStyle/>
          <a:p>
            <a:pPr algn="l"/>
            <a:r>
              <a:rPr sz="1100" b="0" i="1">
                <a:solidFill>
                  <a:srgbClr val="5B6675"/>
                </a:solidFill>
                <a:latin typeface="Calibri"/>
              </a:rPr>
              <a:t>redundant</a:t>
            </a:r>
          </a:p>
        </p:txBody>
      </p:sp>
      <p:sp>
        <p:nvSpPr>
          <p:cNvPr id="28" name="TextBox 27"/>
          <p:cNvSpPr txBox="1"/>
          <p:nvPr/>
        </p:nvSpPr>
        <p:spPr>
          <a:xfrm>
            <a:off x="548640" y="3200400"/>
            <a:ext cx="2743200" cy="384048"/>
          </a:xfrm>
          <a:prstGeom prst="rect">
            <a:avLst/>
          </a:prstGeom>
          <a:noFill/>
        </p:spPr>
        <p:txBody>
          <a:bodyPr wrap="square" lIns="0" rIns="0" tIns="0" bIns="0" anchor="ctr">
            <a:spAutoFit/>
          </a:bodyPr>
          <a:lstStyle/>
          <a:p>
            <a:pPr algn="l"/>
            <a:r>
              <a:rPr sz="1800" b="0" i="0">
                <a:solidFill>
                  <a:srgbClr val="14213D"/>
                </a:solidFill>
                <a:latin typeface="Cambria"/>
              </a:rPr>
              <a:t>5a + b = 11</a:t>
            </a:r>
          </a:p>
        </p:txBody>
      </p:sp>
      <p:sp>
        <p:nvSpPr>
          <p:cNvPr id="29" name="TextBox 28"/>
          <p:cNvSpPr txBox="1"/>
          <p:nvPr/>
        </p:nvSpPr>
        <p:spPr>
          <a:xfrm>
            <a:off x="548640" y="3584448"/>
            <a:ext cx="2743200" cy="384048"/>
          </a:xfrm>
          <a:prstGeom prst="rect">
            <a:avLst/>
          </a:prstGeom>
          <a:noFill/>
        </p:spPr>
        <p:txBody>
          <a:bodyPr wrap="square" lIns="0" rIns="0" tIns="0" bIns="0" anchor="ctr">
            <a:spAutoFit/>
          </a:bodyPr>
          <a:lstStyle/>
          <a:p>
            <a:pPr algn="l"/>
            <a:r>
              <a:rPr sz="1800" b="0" i="0">
                <a:solidFill>
                  <a:srgbClr val="14213D"/>
                </a:solidFill>
                <a:latin typeface="Cambria"/>
              </a:rPr>
              <a:t>10a + 2b = 22</a:t>
            </a:r>
          </a:p>
        </p:txBody>
      </p:sp>
      <p:sp>
        <p:nvSpPr>
          <p:cNvPr id="30" name="Rectangle 29"/>
          <p:cNvSpPr/>
          <p:nvPr/>
        </p:nvSpPr>
        <p:spPr>
          <a:xfrm>
            <a:off x="3511296" y="324612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a:t>
            </a:r>
          </a:p>
        </p:txBody>
      </p:sp>
      <p:sp>
        <p:nvSpPr>
          <p:cNvPr id="31" name="Rectangle 30"/>
          <p:cNvSpPr/>
          <p:nvPr/>
        </p:nvSpPr>
        <p:spPr>
          <a:xfrm>
            <a:off x="4014216" y="324612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32" name="Rectangle 31"/>
          <p:cNvSpPr/>
          <p:nvPr/>
        </p:nvSpPr>
        <p:spPr>
          <a:xfrm>
            <a:off x="3511296" y="3675887"/>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10</a:t>
            </a:r>
          </a:p>
        </p:txBody>
      </p:sp>
      <p:sp>
        <p:nvSpPr>
          <p:cNvPr id="33" name="Rectangle 32"/>
          <p:cNvSpPr/>
          <p:nvPr/>
        </p:nvSpPr>
        <p:spPr>
          <a:xfrm>
            <a:off x="4014216" y="3675887"/>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34" name="Left Bracket 33"/>
          <p:cNvSpPr/>
          <p:nvPr/>
        </p:nvSpPr>
        <p:spPr>
          <a:xfrm>
            <a:off x="3383280" y="320954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ight Bracket 34"/>
          <p:cNvSpPr/>
          <p:nvPr/>
        </p:nvSpPr>
        <p:spPr>
          <a:xfrm>
            <a:off x="4471416" y="320954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Arrow 35"/>
          <p:cNvSpPr/>
          <p:nvPr/>
        </p:nvSpPr>
        <p:spPr>
          <a:xfrm>
            <a:off x="5394960" y="347472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3200400"/>
            <a:ext cx="2743200" cy="384048"/>
          </a:xfrm>
          <a:prstGeom prst="rect">
            <a:avLst/>
          </a:prstGeom>
          <a:noFill/>
        </p:spPr>
        <p:txBody>
          <a:bodyPr wrap="square" lIns="0" rIns="0" tIns="0" bIns="0" anchor="ctr">
            <a:spAutoFit/>
          </a:bodyPr>
          <a:lstStyle/>
          <a:p>
            <a:pPr algn="l"/>
            <a:r>
              <a:rPr sz="1800" b="0" i="0">
                <a:solidFill>
                  <a:srgbClr val="14213D"/>
                </a:solidFill>
                <a:latin typeface="Cambria"/>
              </a:rPr>
              <a:t>a + 0.2b = 2.2</a:t>
            </a:r>
          </a:p>
        </p:txBody>
      </p:sp>
      <p:sp>
        <p:nvSpPr>
          <p:cNvPr id="38" name="TextBox 37"/>
          <p:cNvSpPr txBox="1"/>
          <p:nvPr/>
        </p:nvSpPr>
        <p:spPr>
          <a:xfrm>
            <a:off x="6583680" y="3584448"/>
            <a:ext cx="2743200" cy="384048"/>
          </a:xfrm>
          <a:prstGeom prst="rect">
            <a:avLst/>
          </a:prstGeom>
          <a:noFill/>
        </p:spPr>
        <p:txBody>
          <a:bodyPr wrap="square" lIns="0" rIns="0" tIns="0" bIns="0" anchor="ctr">
            <a:spAutoFit/>
          </a:bodyPr>
          <a:lstStyle/>
          <a:p>
            <a:pPr algn="l"/>
            <a:r>
              <a:rPr sz="1800" b="0" i="0">
                <a:solidFill>
                  <a:srgbClr val="14213D"/>
                </a:solidFill>
                <a:latin typeface="Cambria"/>
              </a:rPr>
              <a:t>0a + 0b = 0</a:t>
            </a:r>
          </a:p>
        </p:txBody>
      </p:sp>
      <p:sp>
        <p:nvSpPr>
          <p:cNvPr id="39" name="Rectangle 38"/>
          <p:cNvSpPr/>
          <p:nvPr/>
        </p:nvSpPr>
        <p:spPr>
          <a:xfrm>
            <a:off x="9637776" y="324612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40" name="Rectangle 39"/>
          <p:cNvSpPr/>
          <p:nvPr/>
        </p:nvSpPr>
        <p:spPr>
          <a:xfrm>
            <a:off x="10140696" y="324612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0.2</a:t>
            </a:r>
          </a:p>
        </p:txBody>
      </p:sp>
      <p:sp>
        <p:nvSpPr>
          <p:cNvPr id="41" name="Rectangle 40"/>
          <p:cNvSpPr/>
          <p:nvPr/>
        </p:nvSpPr>
        <p:spPr>
          <a:xfrm>
            <a:off x="9637776" y="3675887"/>
            <a:ext cx="457200"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2" name="Rectangle 41"/>
          <p:cNvSpPr/>
          <p:nvPr/>
        </p:nvSpPr>
        <p:spPr>
          <a:xfrm>
            <a:off x="10140696" y="3675887"/>
            <a:ext cx="457200"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3" name="Left Bracket 42"/>
          <p:cNvSpPr/>
          <p:nvPr/>
        </p:nvSpPr>
        <p:spPr>
          <a:xfrm>
            <a:off x="9509760" y="320954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Bracket 43"/>
          <p:cNvSpPr/>
          <p:nvPr/>
        </p:nvSpPr>
        <p:spPr>
          <a:xfrm>
            <a:off x="10597896" y="320954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0" y="3383280"/>
            <a:ext cx="1097280" cy="457200"/>
          </a:xfrm>
          <a:prstGeom prst="rect">
            <a:avLst/>
          </a:prstGeom>
          <a:noFill/>
        </p:spPr>
        <p:txBody>
          <a:bodyPr wrap="square" lIns="0" rIns="0" tIns="0" bIns="0" anchor="t">
            <a:spAutoFit/>
          </a:bodyPr>
          <a:lstStyle/>
          <a:p>
            <a:pPr algn="l"/>
            <a:r>
              <a:rPr sz="1100" b="0" i="1">
                <a:solidFill>
                  <a:srgbClr val="5B6675"/>
                </a:solidFill>
                <a:latin typeface="Calibri"/>
              </a:rPr>
              <a:t>redundant</a:t>
            </a:r>
          </a:p>
        </p:txBody>
      </p:sp>
      <p:sp>
        <p:nvSpPr>
          <p:cNvPr id="46" name="TextBox 45"/>
          <p:cNvSpPr txBox="1"/>
          <p:nvPr/>
        </p:nvSpPr>
        <p:spPr>
          <a:xfrm>
            <a:off x="548640" y="4617720"/>
            <a:ext cx="2743200" cy="384048"/>
          </a:xfrm>
          <a:prstGeom prst="rect">
            <a:avLst/>
          </a:prstGeom>
          <a:noFill/>
        </p:spPr>
        <p:txBody>
          <a:bodyPr wrap="square" lIns="0" rIns="0" tIns="0" bIns="0" anchor="ctr">
            <a:spAutoFit/>
          </a:bodyPr>
          <a:lstStyle/>
          <a:p>
            <a:pPr algn="l"/>
            <a:r>
              <a:rPr sz="1800" b="0" i="0">
                <a:solidFill>
                  <a:srgbClr val="14213D"/>
                </a:solidFill>
                <a:latin typeface="Cambria"/>
              </a:rPr>
              <a:t>0a + 0b = 0</a:t>
            </a:r>
          </a:p>
        </p:txBody>
      </p:sp>
      <p:sp>
        <p:nvSpPr>
          <p:cNvPr id="47" name="TextBox 46"/>
          <p:cNvSpPr txBox="1"/>
          <p:nvPr/>
        </p:nvSpPr>
        <p:spPr>
          <a:xfrm>
            <a:off x="548640" y="5001768"/>
            <a:ext cx="2743200" cy="384048"/>
          </a:xfrm>
          <a:prstGeom prst="rect">
            <a:avLst/>
          </a:prstGeom>
          <a:noFill/>
        </p:spPr>
        <p:txBody>
          <a:bodyPr wrap="square" lIns="0" rIns="0" tIns="0" bIns="0" anchor="ctr">
            <a:spAutoFit/>
          </a:bodyPr>
          <a:lstStyle/>
          <a:p>
            <a:pPr algn="l"/>
            <a:r>
              <a:rPr sz="1800" b="0" i="0">
                <a:solidFill>
                  <a:srgbClr val="14213D"/>
                </a:solidFill>
                <a:latin typeface="Cambria"/>
              </a:rPr>
              <a:t>0a + 0b = 0</a:t>
            </a:r>
          </a:p>
        </p:txBody>
      </p:sp>
      <p:sp>
        <p:nvSpPr>
          <p:cNvPr id="48" name="Rectangle 47"/>
          <p:cNvSpPr/>
          <p:nvPr/>
        </p:nvSpPr>
        <p:spPr>
          <a:xfrm>
            <a:off x="3511296" y="466344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9" name="Rectangle 48"/>
          <p:cNvSpPr/>
          <p:nvPr/>
        </p:nvSpPr>
        <p:spPr>
          <a:xfrm>
            <a:off x="4014216" y="466344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0" name="Rectangle 49"/>
          <p:cNvSpPr/>
          <p:nvPr/>
        </p:nvSpPr>
        <p:spPr>
          <a:xfrm>
            <a:off x="3511296" y="5093207"/>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1" name="Rectangle 50"/>
          <p:cNvSpPr/>
          <p:nvPr/>
        </p:nvSpPr>
        <p:spPr>
          <a:xfrm>
            <a:off x="4014216" y="5093207"/>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2" name="Left Bracket 51"/>
          <p:cNvSpPr/>
          <p:nvPr/>
        </p:nvSpPr>
        <p:spPr>
          <a:xfrm>
            <a:off x="3383280" y="46268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ight Bracket 52"/>
          <p:cNvSpPr/>
          <p:nvPr/>
        </p:nvSpPr>
        <p:spPr>
          <a:xfrm>
            <a:off x="4471416" y="46268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Arrow 53"/>
          <p:cNvSpPr/>
          <p:nvPr/>
        </p:nvSpPr>
        <p:spPr>
          <a:xfrm>
            <a:off x="5394960" y="489204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4617720"/>
            <a:ext cx="2743200" cy="384048"/>
          </a:xfrm>
          <a:prstGeom prst="rect">
            <a:avLst/>
          </a:prstGeom>
          <a:noFill/>
        </p:spPr>
        <p:txBody>
          <a:bodyPr wrap="square" lIns="0" rIns="0" tIns="0" bIns="0" anchor="ctr">
            <a:spAutoFit/>
          </a:bodyPr>
          <a:lstStyle/>
          <a:p>
            <a:pPr algn="l"/>
            <a:r>
              <a:rPr sz="1800" b="0" i="0">
                <a:solidFill>
                  <a:srgbClr val="14213D"/>
                </a:solidFill>
                <a:latin typeface="Cambria"/>
              </a:rPr>
              <a:t>0a + 0b = 0</a:t>
            </a:r>
          </a:p>
        </p:txBody>
      </p:sp>
      <p:sp>
        <p:nvSpPr>
          <p:cNvPr id="56" name="TextBox 55"/>
          <p:cNvSpPr txBox="1"/>
          <p:nvPr/>
        </p:nvSpPr>
        <p:spPr>
          <a:xfrm>
            <a:off x="6583680" y="5001768"/>
            <a:ext cx="2743200" cy="384048"/>
          </a:xfrm>
          <a:prstGeom prst="rect">
            <a:avLst/>
          </a:prstGeom>
          <a:noFill/>
        </p:spPr>
        <p:txBody>
          <a:bodyPr wrap="square" lIns="0" rIns="0" tIns="0" bIns="0" anchor="ctr">
            <a:spAutoFit/>
          </a:bodyPr>
          <a:lstStyle/>
          <a:p>
            <a:pPr algn="l"/>
            <a:r>
              <a:rPr sz="1800" b="0" i="0">
                <a:solidFill>
                  <a:srgbClr val="14213D"/>
                </a:solidFill>
                <a:latin typeface="Cambria"/>
              </a:rPr>
              <a:t>0a + 0b = 0</a:t>
            </a:r>
          </a:p>
        </p:txBody>
      </p:sp>
      <p:sp>
        <p:nvSpPr>
          <p:cNvPr id="57" name="Rectangle 56"/>
          <p:cNvSpPr/>
          <p:nvPr/>
        </p:nvSpPr>
        <p:spPr>
          <a:xfrm>
            <a:off x="9637776" y="466344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8" name="Rectangle 57"/>
          <p:cNvSpPr/>
          <p:nvPr/>
        </p:nvSpPr>
        <p:spPr>
          <a:xfrm>
            <a:off x="10140696" y="466344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9" name="Rectangle 58"/>
          <p:cNvSpPr/>
          <p:nvPr/>
        </p:nvSpPr>
        <p:spPr>
          <a:xfrm>
            <a:off x="9637776" y="5093207"/>
            <a:ext cx="457200"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0" name="Rectangle 59"/>
          <p:cNvSpPr/>
          <p:nvPr/>
        </p:nvSpPr>
        <p:spPr>
          <a:xfrm>
            <a:off x="10140696" y="5093207"/>
            <a:ext cx="457200"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1" name="Left Bracket 60"/>
          <p:cNvSpPr/>
          <p:nvPr/>
        </p:nvSpPr>
        <p:spPr>
          <a:xfrm>
            <a:off x="9509760" y="46268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ight Bracket 61"/>
          <p:cNvSpPr/>
          <p:nvPr/>
        </p:nvSpPr>
        <p:spPr>
          <a:xfrm>
            <a:off x="10597896" y="46268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972800" y="4800600"/>
            <a:ext cx="1097280" cy="457200"/>
          </a:xfrm>
          <a:prstGeom prst="rect">
            <a:avLst/>
          </a:prstGeom>
          <a:noFill/>
        </p:spPr>
        <p:txBody>
          <a:bodyPr wrap="square" lIns="0" rIns="0" tIns="0" bIns="0" anchor="t">
            <a:spAutoFit/>
          </a:bodyPr>
          <a:lstStyle/>
          <a:p>
            <a:pPr algn="l"/>
            <a:r>
              <a:rPr sz="1100" b="0" i="1">
                <a:solidFill>
                  <a:srgbClr val="5B6675"/>
                </a:solidFill>
                <a:latin typeface="Calibri"/>
              </a:rPr>
              <a:t>no information at all</a:t>
            </a:r>
          </a:p>
        </p:txBody>
      </p:sp>
      <p:sp>
        <p:nvSpPr>
          <p:cNvPr id="64" name="TextBox 63"/>
          <p:cNvSpPr txBox="1"/>
          <p:nvPr/>
        </p:nvSpPr>
        <p:spPr>
          <a:xfrm>
            <a:off x="548640" y="5943600"/>
            <a:ext cx="10972800" cy="411480"/>
          </a:xfrm>
          <a:prstGeom prst="rect">
            <a:avLst/>
          </a:prstGeom>
          <a:noFill/>
        </p:spPr>
        <p:txBody>
          <a:bodyPr wrap="square" lIns="0" rIns="0" tIns="0" bIns="0" anchor="t">
            <a:spAutoFit/>
          </a:bodyPr>
          <a:lstStyle/>
          <a:p>
            <a:pPr algn="l"/>
            <a:r>
              <a:rPr sz="1700" b="1" i="0">
                <a:solidFill>
                  <a:srgbClr val="14213D"/>
                </a:solidFill>
                <a:latin typeface="Calibri"/>
              </a:rPr>
              <a:t>A row of zeros appears in the row echelon form exactly when the system is singular.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OPERATIONS THAT PRESERVE SINGULARITY</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Elementary row operations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22</a:t>
            </a:r>
          </a:p>
        </p:txBody>
      </p:sp>
      <p:sp>
        <p:nvSpPr>
          <p:cNvPr id="6" name="Rounded Rectangle 5"/>
          <p:cNvSpPr/>
          <p:nvPr/>
        </p:nvSpPr>
        <p:spPr>
          <a:xfrm>
            <a:off x="548640" y="1463040"/>
            <a:ext cx="11064240" cy="1874519"/>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64208"/>
            <a:ext cx="1051560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1975104"/>
            <a:ext cx="10515600" cy="1234439"/>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The three </a:t>
            </a:r>
            <a:r>
              <a:rPr sz="1700" b="1" i="0">
                <a:solidFill>
                  <a:srgbClr val="14213D"/>
                </a:solidFill>
                <a:latin typeface="Calibri"/>
              </a:rPr>
              <a:t>elementary row operations</a:t>
            </a:r>
            <a:r>
              <a:rPr sz="1700" b="0" i="0">
                <a:solidFill>
                  <a:srgbClr val="14213D"/>
                </a:solidFill>
                <a:latin typeface="Calibri"/>
              </a:rPr>
              <a:t> on a matrix are: swapping two rows, multiplying a row by a non-zero scalar, and adding a multiple of one row to another row.</a:t>
            </a:r>
          </a:p>
          <a:p>
            <a:pPr algn="l">
              <a:lnSpc>
                <a:spcPct val="115000"/>
              </a:lnSpc>
              <a:spcAft>
                <a:spcPts val="600"/>
              </a:spcAft>
            </a:pPr>
            <a:r>
              <a:rPr sz="1700" b="1" i="0">
                <a:solidFill>
                  <a:srgbClr val="14213D"/>
                </a:solidFill>
                <a:latin typeface="Calibri"/>
              </a:rPr>
              <a:t>Theorem. </a:t>
            </a:r>
            <a:r>
              <a:rPr sz="1700" b="0" i="0">
                <a:solidFill>
                  <a:srgbClr val="14213D"/>
                </a:solidFill>
                <a:latin typeface="Calibri"/>
              </a:rPr>
              <a:t>Elementary row operations do not change the solution set of the corresponding system, and they do not change whether the matrix is singular.</a:t>
            </a:r>
          </a:p>
        </p:txBody>
      </p:sp>
      <p:sp>
        <p:nvSpPr>
          <p:cNvPr id="9" name="Rounded Rectangle 8"/>
          <p:cNvSpPr/>
          <p:nvPr/>
        </p:nvSpPr>
        <p:spPr>
          <a:xfrm>
            <a:off x="548640" y="3566160"/>
            <a:ext cx="3566160" cy="25146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03320"/>
            <a:ext cx="3108960" cy="365760"/>
          </a:xfrm>
          <a:prstGeom prst="rect">
            <a:avLst/>
          </a:prstGeom>
          <a:noFill/>
        </p:spPr>
        <p:txBody>
          <a:bodyPr wrap="square" lIns="0" rIns="0" tIns="0" bIns="0" anchor="t">
            <a:spAutoFit/>
          </a:bodyPr>
          <a:lstStyle/>
          <a:p>
            <a:pPr algn="l"/>
            <a:r>
              <a:rPr sz="1800" b="1" i="0">
                <a:solidFill>
                  <a:srgbClr val="14213D"/>
                </a:solidFill>
                <a:latin typeface="Calibri"/>
              </a:rPr>
              <a:t>Swap</a:t>
            </a:r>
          </a:p>
        </p:txBody>
      </p:sp>
      <p:sp>
        <p:nvSpPr>
          <p:cNvPr id="11" name="TextBox 10"/>
          <p:cNvSpPr txBox="1"/>
          <p:nvPr/>
        </p:nvSpPr>
        <p:spPr>
          <a:xfrm>
            <a:off x="777240" y="4114800"/>
            <a:ext cx="3108960" cy="548640"/>
          </a:xfrm>
          <a:prstGeom prst="rect">
            <a:avLst/>
          </a:prstGeom>
          <a:noFill/>
        </p:spPr>
        <p:txBody>
          <a:bodyPr wrap="square" lIns="0" rIns="0" tIns="0" bIns="0" anchor="t">
            <a:spAutoFit/>
          </a:bodyPr>
          <a:lstStyle/>
          <a:p>
            <a:pPr algn="l"/>
            <a:r>
              <a:rPr sz="2400" b="0" i="0">
                <a:solidFill>
                  <a:srgbClr val="1F6F8B"/>
                </a:solidFill>
                <a:latin typeface="Cambria"/>
              </a:rPr>
              <a:t>Rᵢ ↔ Rⱼ</a:t>
            </a:r>
          </a:p>
        </p:txBody>
      </p:sp>
      <p:sp>
        <p:nvSpPr>
          <p:cNvPr id="12" name="TextBox 11"/>
          <p:cNvSpPr txBox="1"/>
          <p:nvPr/>
        </p:nvSpPr>
        <p:spPr>
          <a:xfrm>
            <a:off x="777240" y="48006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Reorders the equations. Nothing about the solutions changes.</a:t>
            </a:r>
          </a:p>
        </p:txBody>
      </p:sp>
      <p:sp>
        <p:nvSpPr>
          <p:cNvPr id="13" name="TextBox 12"/>
          <p:cNvSpPr txBox="1"/>
          <p:nvPr/>
        </p:nvSpPr>
        <p:spPr>
          <a:xfrm>
            <a:off x="777240" y="5669280"/>
            <a:ext cx="3108960" cy="365760"/>
          </a:xfrm>
          <a:prstGeom prst="rect">
            <a:avLst/>
          </a:prstGeom>
          <a:noFill/>
        </p:spPr>
        <p:txBody>
          <a:bodyPr wrap="square" lIns="0" rIns="0" tIns="0" bIns="0" anchor="t">
            <a:spAutoFit/>
          </a:bodyPr>
          <a:lstStyle/>
          <a:p>
            <a:pPr algn="l"/>
            <a:r>
              <a:rPr sz="1200" b="1" i="0">
                <a:solidFill>
                  <a:srgbClr val="1F6F8B"/>
                </a:solidFill>
                <a:latin typeface="Calibri"/>
              </a:rPr>
              <a:t>reversible</a:t>
            </a:r>
          </a:p>
        </p:txBody>
      </p:sp>
      <p:sp>
        <p:nvSpPr>
          <p:cNvPr id="14" name="Rounded Rectangle 13"/>
          <p:cNvSpPr/>
          <p:nvPr/>
        </p:nvSpPr>
        <p:spPr>
          <a:xfrm>
            <a:off x="4297679" y="3566160"/>
            <a:ext cx="3566160" cy="25146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79" y="3703320"/>
            <a:ext cx="3108960" cy="365760"/>
          </a:xfrm>
          <a:prstGeom prst="rect">
            <a:avLst/>
          </a:prstGeom>
          <a:noFill/>
        </p:spPr>
        <p:txBody>
          <a:bodyPr wrap="square" lIns="0" rIns="0" tIns="0" bIns="0" anchor="t">
            <a:spAutoFit/>
          </a:bodyPr>
          <a:lstStyle/>
          <a:p>
            <a:pPr algn="l"/>
            <a:r>
              <a:rPr sz="1800" b="1" i="0">
                <a:solidFill>
                  <a:srgbClr val="14213D"/>
                </a:solidFill>
                <a:latin typeface="Calibri"/>
              </a:rPr>
              <a:t>Scale</a:t>
            </a:r>
          </a:p>
        </p:txBody>
      </p:sp>
      <p:sp>
        <p:nvSpPr>
          <p:cNvPr id="16" name="TextBox 15"/>
          <p:cNvSpPr txBox="1"/>
          <p:nvPr/>
        </p:nvSpPr>
        <p:spPr>
          <a:xfrm>
            <a:off x="4526279" y="4114800"/>
            <a:ext cx="3108960" cy="548640"/>
          </a:xfrm>
          <a:prstGeom prst="rect">
            <a:avLst/>
          </a:prstGeom>
          <a:noFill/>
        </p:spPr>
        <p:txBody>
          <a:bodyPr wrap="square" lIns="0" rIns="0" tIns="0" bIns="0" anchor="t">
            <a:spAutoFit/>
          </a:bodyPr>
          <a:lstStyle/>
          <a:p>
            <a:pPr algn="l"/>
            <a:r>
              <a:rPr sz="2400" b="0" i="0">
                <a:solidFill>
                  <a:srgbClr val="1F6F8B"/>
                </a:solidFill>
                <a:latin typeface="Cambria"/>
              </a:rPr>
              <a:t>Rᵢ ← k · Rᵢ,  k ≠ 0</a:t>
            </a:r>
          </a:p>
        </p:txBody>
      </p:sp>
      <p:sp>
        <p:nvSpPr>
          <p:cNvPr id="17" name="TextBox 16"/>
          <p:cNvSpPr txBox="1"/>
          <p:nvPr/>
        </p:nvSpPr>
        <p:spPr>
          <a:xfrm>
            <a:off x="4526279" y="48006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Multiplies one equation by a constant. Dividing by k undoes it.</a:t>
            </a:r>
          </a:p>
        </p:txBody>
      </p:sp>
      <p:sp>
        <p:nvSpPr>
          <p:cNvPr id="18" name="TextBox 17"/>
          <p:cNvSpPr txBox="1"/>
          <p:nvPr/>
        </p:nvSpPr>
        <p:spPr>
          <a:xfrm>
            <a:off x="4526279" y="5669280"/>
            <a:ext cx="3108960" cy="365760"/>
          </a:xfrm>
          <a:prstGeom prst="rect">
            <a:avLst/>
          </a:prstGeom>
          <a:noFill/>
        </p:spPr>
        <p:txBody>
          <a:bodyPr wrap="square" lIns="0" rIns="0" tIns="0" bIns="0" anchor="t">
            <a:spAutoFit/>
          </a:bodyPr>
          <a:lstStyle/>
          <a:p>
            <a:pPr algn="l"/>
            <a:r>
              <a:rPr sz="1200" b="1" i="0">
                <a:solidFill>
                  <a:srgbClr val="1F6F8B"/>
                </a:solidFill>
                <a:latin typeface="Calibri"/>
              </a:rPr>
              <a:t>reversible</a:t>
            </a:r>
          </a:p>
        </p:txBody>
      </p:sp>
      <p:sp>
        <p:nvSpPr>
          <p:cNvPr id="19" name="Rounded Rectangle 18"/>
          <p:cNvSpPr/>
          <p:nvPr/>
        </p:nvSpPr>
        <p:spPr>
          <a:xfrm>
            <a:off x="8046719" y="3566160"/>
            <a:ext cx="3566160" cy="25146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19" y="3703320"/>
            <a:ext cx="3108960" cy="365760"/>
          </a:xfrm>
          <a:prstGeom prst="rect">
            <a:avLst/>
          </a:prstGeom>
          <a:noFill/>
        </p:spPr>
        <p:txBody>
          <a:bodyPr wrap="square" lIns="0" rIns="0" tIns="0" bIns="0" anchor="t">
            <a:spAutoFit/>
          </a:bodyPr>
          <a:lstStyle/>
          <a:p>
            <a:pPr algn="l"/>
            <a:r>
              <a:rPr sz="1800" b="1" i="0">
                <a:solidFill>
                  <a:srgbClr val="14213D"/>
                </a:solidFill>
                <a:latin typeface="Calibri"/>
              </a:rPr>
              <a:t>Replace</a:t>
            </a:r>
          </a:p>
        </p:txBody>
      </p:sp>
      <p:sp>
        <p:nvSpPr>
          <p:cNvPr id="21" name="TextBox 20"/>
          <p:cNvSpPr txBox="1"/>
          <p:nvPr/>
        </p:nvSpPr>
        <p:spPr>
          <a:xfrm>
            <a:off x="8275319" y="4114800"/>
            <a:ext cx="3108960" cy="548640"/>
          </a:xfrm>
          <a:prstGeom prst="rect">
            <a:avLst/>
          </a:prstGeom>
          <a:noFill/>
        </p:spPr>
        <p:txBody>
          <a:bodyPr wrap="square" lIns="0" rIns="0" tIns="0" bIns="0" anchor="t">
            <a:spAutoFit/>
          </a:bodyPr>
          <a:lstStyle/>
          <a:p>
            <a:pPr algn="l"/>
            <a:r>
              <a:rPr sz="2400" b="0" i="0">
                <a:solidFill>
                  <a:srgbClr val="1F6F8B"/>
                </a:solidFill>
                <a:latin typeface="Cambria"/>
              </a:rPr>
              <a:t>Rᵢ ← Rᵢ + k · Rⱼ</a:t>
            </a:r>
          </a:p>
        </p:txBody>
      </p:sp>
      <p:sp>
        <p:nvSpPr>
          <p:cNvPr id="22" name="TextBox 21"/>
          <p:cNvSpPr txBox="1"/>
          <p:nvPr/>
        </p:nvSpPr>
        <p:spPr>
          <a:xfrm>
            <a:off x="8275319" y="4800600"/>
            <a:ext cx="3108960" cy="914400"/>
          </a:xfrm>
          <a:prstGeom prst="rect">
            <a:avLst/>
          </a:prstGeom>
          <a:noFill/>
        </p:spPr>
        <p:txBody>
          <a:bodyPr wrap="square" lIns="0" rIns="0" tIns="0" bIns="0" anchor="t">
            <a:spAutoFit/>
          </a:bodyPr>
          <a:lstStyle/>
          <a:p>
            <a:pPr algn="l">
              <a:lnSpc>
                <a:spcPct val="115000"/>
              </a:lnSpc>
            </a:pPr>
            <a:r>
              <a:rPr sz="1400" b="0" i="0">
                <a:solidFill>
                  <a:srgbClr val="5B6675"/>
                </a:solidFill>
                <a:latin typeface="Calibri"/>
              </a:rPr>
              <a:t>Adds a multiple of another equation. Subtracting k · Rⱼ undoes it.</a:t>
            </a:r>
          </a:p>
        </p:txBody>
      </p:sp>
      <p:sp>
        <p:nvSpPr>
          <p:cNvPr id="23" name="TextBox 22"/>
          <p:cNvSpPr txBox="1"/>
          <p:nvPr/>
        </p:nvSpPr>
        <p:spPr>
          <a:xfrm>
            <a:off x="8275319" y="5669280"/>
            <a:ext cx="3108960" cy="365760"/>
          </a:xfrm>
          <a:prstGeom prst="rect">
            <a:avLst/>
          </a:prstGeom>
          <a:noFill/>
        </p:spPr>
        <p:txBody>
          <a:bodyPr wrap="square" lIns="0" rIns="0" tIns="0" bIns="0" anchor="t">
            <a:spAutoFit/>
          </a:bodyPr>
          <a:lstStyle/>
          <a:p>
            <a:pPr algn="l"/>
            <a:r>
              <a:rPr sz="1200" b="1" i="0">
                <a:solidFill>
                  <a:srgbClr val="1F6F8B"/>
                </a:solidFill>
                <a:latin typeface="Calibri"/>
              </a:rPr>
              <a:t>reversible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OPERATIONS THAT PRESERVE SINGULARITY</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Row operations and the determinant</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23</a:t>
            </a:r>
          </a:p>
        </p:txBody>
      </p:sp>
      <p:sp>
        <p:nvSpPr>
          <p:cNvPr id="6" name="TextBox 5"/>
          <p:cNvSpPr txBox="1"/>
          <p:nvPr/>
        </p:nvSpPr>
        <p:spPr>
          <a:xfrm>
            <a:off x="548640" y="1417320"/>
            <a:ext cx="10972800" cy="457200"/>
          </a:xfrm>
          <a:prstGeom prst="rect">
            <a:avLst/>
          </a:prstGeom>
          <a:noFill/>
        </p:spPr>
        <p:txBody>
          <a:bodyPr wrap="square" lIns="0" rIns="0" tIns="0" bIns="0" anchor="t">
            <a:spAutoFit/>
          </a:bodyPr>
          <a:lstStyle/>
          <a:p>
            <a:pPr algn="l"/>
            <a:r>
              <a:rPr sz="1700" b="0" i="0">
                <a:solidFill>
                  <a:srgbClr val="5B6675"/>
                </a:solidFill>
                <a:latin typeface="Calibri"/>
              </a:rPr>
              <a:t>Start from the same matrix each time and watch what happens to det = 5 · 3 − 1 · 4 = 11.</a:t>
            </a:r>
          </a:p>
        </p:txBody>
      </p:sp>
      <p:sp>
        <p:nvSpPr>
          <p:cNvPr id="7" name="Rounded Rectangle 6"/>
          <p:cNvSpPr/>
          <p:nvPr/>
        </p:nvSpPr>
        <p:spPr>
          <a:xfrm>
            <a:off x="548640" y="1965960"/>
            <a:ext cx="3566160" cy="36576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3108960" cy="365760"/>
          </a:xfrm>
          <a:prstGeom prst="rect">
            <a:avLst/>
          </a:prstGeom>
          <a:noFill/>
        </p:spPr>
        <p:txBody>
          <a:bodyPr wrap="square" lIns="0" rIns="0" tIns="0" bIns="0" anchor="t">
            <a:spAutoFit/>
          </a:bodyPr>
          <a:lstStyle/>
          <a:p>
            <a:pPr algn="l"/>
            <a:r>
              <a:rPr sz="1600" b="1" i="0">
                <a:solidFill>
                  <a:srgbClr val="14213D"/>
                </a:solidFill>
                <a:latin typeface="Calibri"/>
              </a:rPr>
              <a:t>Switch the rows</a:t>
            </a:r>
          </a:p>
        </p:txBody>
      </p:sp>
      <p:sp>
        <p:nvSpPr>
          <p:cNvPr id="9" name="Rectangle 8"/>
          <p:cNvSpPr/>
          <p:nvPr/>
        </p:nvSpPr>
        <p:spPr>
          <a:xfrm>
            <a:off x="996695" y="260604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a:t>
            </a:r>
          </a:p>
        </p:txBody>
      </p:sp>
      <p:sp>
        <p:nvSpPr>
          <p:cNvPr id="10" name="Rectangle 9"/>
          <p:cNvSpPr/>
          <p:nvPr/>
        </p:nvSpPr>
        <p:spPr>
          <a:xfrm>
            <a:off x="1481328" y="260604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1" name="Rectangle 10"/>
          <p:cNvSpPr/>
          <p:nvPr/>
        </p:nvSpPr>
        <p:spPr>
          <a:xfrm>
            <a:off x="996695" y="303580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4</a:t>
            </a:r>
          </a:p>
        </p:txBody>
      </p:sp>
      <p:sp>
        <p:nvSpPr>
          <p:cNvPr id="12" name="Rectangle 11"/>
          <p:cNvSpPr/>
          <p:nvPr/>
        </p:nvSpPr>
        <p:spPr>
          <a:xfrm>
            <a:off x="1481328" y="303580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13" name="Left Bracket 12"/>
          <p:cNvSpPr/>
          <p:nvPr/>
        </p:nvSpPr>
        <p:spPr>
          <a:xfrm>
            <a:off x="868680" y="25694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Bracket 13"/>
          <p:cNvSpPr/>
          <p:nvPr/>
        </p:nvSpPr>
        <p:spPr>
          <a:xfrm>
            <a:off x="1920240" y="25694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2148840" y="2834640"/>
            <a:ext cx="45720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1216" y="2606040"/>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4</a:t>
            </a:r>
          </a:p>
        </p:txBody>
      </p:sp>
      <p:sp>
        <p:nvSpPr>
          <p:cNvPr id="17" name="Rectangle 16"/>
          <p:cNvSpPr/>
          <p:nvPr/>
        </p:nvSpPr>
        <p:spPr>
          <a:xfrm>
            <a:off x="3355848" y="2606040"/>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18" name="Rectangle 17"/>
          <p:cNvSpPr/>
          <p:nvPr/>
        </p:nvSpPr>
        <p:spPr>
          <a:xfrm>
            <a:off x="2871216" y="3035808"/>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a:t>
            </a:r>
          </a:p>
        </p:txBody>
      </p:sp>
      <p:sp>
        <p:nvSpPr>
          <p:cNvPr id="19" name="Rectangle 18"/>
          <p:cNvSpPr/>
          <p:nvPr/>
        </p:nvSpPr>
        <p:spPr>
          <a:xfrm>
            <a:off x="3355848" y="3035808"/>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0" name="Left Bracket 19"/>
          <p:cNvSpPr/>
          <p:nvPr/>
        </p:nvSpPr>
        <p:spPr>
          <a:xfrm>
            <a:off x="2743200" y="25694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Bracket 20"/>
          <p:cNvSpPr/>
          <p:nvPr/>
        </p:nvSpPr>
        <p:spPr>
          <a:xfrm>
            <a:off x="3794760" y="25694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749039"/>
            <a:ext cx="3108960" cy="457200"/>
          </a:xfrm>
          <a:prstGeom prst="rect">
            <a:avLst/>
          </a:prstGeom>
          <a:noFill/>
        </p:spPr>
        <p:txBody>
          <a:bodyPr wrap="square" lIns="0" rIns="0" tIns="0" bIns="0" anchor="t">
            <a:spAutoFit/>
          </a:bodyPr>
          <a:lstStyle/>
          <a:p>
            <a:pPr algn="l"/>
            <a:r>
              <a:rPr sz="1300" b="0" i="0">
                <a:solidFill>
                  <a:srgbClr val="5B6675"/>
                </a:solidFill>
                <a:latin typeface="Calibri"/>
              </a:rPr>
              <a:t>det = 11</a:t>
            </a:r>
          </a:p>
        </p:txBody>
      </p:sp>
      <p:sp>
        <p:nvSpPr>
          <p:cNvPr id="23" name="TextBox 22"/>
          <p:cNvSpPr txBox="1"/>
          <p:nvPr/>
        </p:nvSpPr>
        <p:spPr>
          <a:xfrm>
            <a:off x="777240" y="4206240"/>
            <a:ext cx="3108960" cy="457200"/>
          </a:xfrm>
          <a:prstGeom prst="rect">
            <a:avLst/>
          </a:prstGeom>
          <a:noFill/>
        </p:spPr>
        <p:txBody>
          <a:bodyPr wrap="square" lIns="0" rIns="0" tIns="0" bIns="0" anchor="t">
            <a:spAutoFit/>
          </a:bodyPr>
          <a:lstStyle/>
          <a:p>
            <a:pPr algn="l"/>
            <a:r>
              <a:rPr sz="1600" b="0" i="0">
                <a:solidFill>
                  <a:srgbClr val="14213D"/>
                </a:solidFill>
                <a:latin typeface="Cambria"/>
              </a:rPr>
              <a:t>det = 4 · 1 − 3 · 5 = −11</a:t>
            </a:r>
          </a:p>
        </p:txBody>
      </p:sp>
      <p:sp>
        <p:nvSpPr>
          <p:cNvPr id="24" name="TextBox 23"/>
          <p:cNvSpPr txBox="1"/>
          <p:nvPr/>
        </p:nvSpPr>
        <p:spPr>
          <a:xfrm>
            <a:off x="777240" y="4846320"/>
            <a:ext cx="3108960" cy="640080"/>
          </a:xfrm>
          <a:prstGeom prst="rect">
            <a:avLst/>
          </a:prstGeom>
          <a:noFill/>
        </p:spPr>
        <p:txBody>
          <a:bodyPr wrap="square" lIns="0" rIns="0" tIns="0" bIns="0" anchor="t">
            <a:spAutoFit/>
          </a:bodyPr>
          <a:lstStyle/>
          <a:p>
            <a:pPr algn="l"/>
            <a:r>
              <a:rPr sz="1400" b="0" i="0">
                <a:solidFill>
                  <a:srgbClr val="5B6675"/>
                </a:solidFill>
                <a:latin typeface="Calibri"/>
              </a:rPr>
              <a:t>The sign flips.</a:t>
            </a:r>
          </a:p>
        </p:txBody>
      </p:sp>
      <p:sp>
        <p:nvSpPr>
          <p:cNvPr id="25" name="Rounded Rectangle 24"/>
          <p:cNvSpPr/>
          <p:nvPr/>
        </p:nvSpPr>
        <p:spPr>
          <a:xfrm>
            <a:off x="4297679" y="1965960"/>
            <a:ext cx="3566160" cy="36576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79" y="2103120"/>
            <a:ext cx="3108960" cy="365760"/>
          </a:xfrm>
          <a:prstGeom prst="rect">
            <a:avLst/>
          </a:prstGeom>
          <a:noFill/>
        </p:spPr>
        <p:txBody>
          <a:bodyPr wrap="square" lIns="0" rIns="0" tIns="0" bIns="0" anchor="t">
            <a:spAutoFit/>
          </a:bodyPr>
          <a:lstStyle/>
          <a:p>
            <a:pPr algn="l"/>
            <a:r>
              <a:rPr sz="1600" b="1" i="0">
                <a:solidFill>
                  <a:srgbClr val="14213D"/>
                </a:solidFill>
                <a:latin typeface="Calibri"/>
              </a:rPr>
              <a:t>Multiply row 1 by 10</a:t>
            </a:r>
          </a:p>
        </p:txBody>
      </p:sp>
      <p:sp>
        <p:nvSpPr>
          <p:cNvPr id="27" name="Rectangle 26"/>
          <p:cNvSpPr/>
          <p:nvPr/>
        </p:nvSpPr>
        <p:spPr>
          <a:xfrm>
            <a:off x="4745735" y="260604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a:t>
            </a:r>
          </a:p>
        </p:txBody>
      </p:sp>
      <p:sp>
        <p:nvSpPr>
          <p:cNvPr id="28" name="Rectangle 27"/>
          <p:cNvSpPr/>
          <p:nvPr/>
        </p:nvSpPr>
        <p:spPr>
          <a:xfrm>
            <a:off x="5230367" y="260604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9" name="Rectangle 28"/>
          <p:cNvSpPr/>
          <p:nvPr/>
        </p:nvSpPr>
        <p:spPr>
          <a:xfrm>
            <a:off x="4745735" y="303580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4</a:t>
            </a:r>
          </a:p>
        </p:txBody>
      </p:sp>
      <p:sp>
        <p:nvSpPr>
          <p:cNvPr id="30" name="Rectangle 29"/>
          <p:cNvSpPr/>
          <p:nvPr/>
        </p:nvSpPr>
        <p:spPr>
          <a:xfrm>
            <a:off x="5230367" y="303580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31" name="Left Bracket 30"/>
          <p:cNvSpPr/>
          <p:nvPr/>
        </p:nvSpPr>
        <p:spPr>
          <a:xfrm>
            <a:off x="4617719" y="25694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Bracket 31"/>
          <p:cNvSpPr/>
          <p:nvPr/>
        </p:nvSpPr>
        <p:spPr>
          <a:xfrm>
            <a:off x="5669279" y="25694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5897879" y="2834640"/>
            <a:ext cx="45720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0255" y="2606040"/>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50</a:t>
            </a:r>
          </a:p>
        </p:txBody>
      </p:sp>
      <p:sp>
        <p:nvSpPr>
          <p:cNvPr id="35" name="Rectangle 34"/>
          <p:cNvSpPr/>
          <p:nvPr/>
        </p:nvSpPr>
        <p:spPr>
          <a:xfrm>
            <a:off x="7104888" y="2606040"/>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10</a:t>
            </a:r>
          </a:p>
        </p:txBody>
      </p:sp>
      <p:sp>
        <p:nvSpPr>
          <p:cNvPr id="36" name="Rectangle 35"/>
          <p:cNvSpPr/>
          <p:nvPr/>
        </p:nvSpPr>
        <p:spPr>
          <a:xfrm>
            <a:off x="6620255" y="3035808"/>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4</a:t>
            </a:r>
          </a:p>
        </p:txBody>
      </p:sp>
      <p:sp>
        <p:nvSpPr>
          <p:cNvPr id="37" name="Rectangle 36"/>
          <p:cNvSpPr/>
          <p:nvPr/>
        </p:nvSpPr>
        <p:spPr>
          <a:xfrm>
            <a:off x="7104888" y="3035808"/>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38" name="Left Bracket 37"/>
          <p:cNvSpPr/>
          <p:nvPr/>
        </p:nvSpPr>
        <p:spPr>
          <a:xfrm>
            <a:off x="6492240" y="25694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Bracket 38"/>
          <p:cNvSpPr/>
          <p:nvPr/>
        </p:nvSpPr>
        <p:spPr>
          <a:xfrm>
            <a:off x="7543800" y="25694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26279" y="3749039"/>
            <a:ext cx="3108960" cy="457200"/>
          </a:xfrm>
          <a:prstGeom prst="rect">
            <a:avLst/>
          </a:prstGeom>
          <a:noFill/>
        </p:spPr>
        <p:txBody>
          <a:bodyPr wrap="square" lIns="0" rIns="0" tIns="0" bIns="0" anchor="t">
            <a:spAutoFit/>
          </a:bodyPr>
          <a:lstStyle/>
          <a:p>
            <a:pPr algn="l"/>
            <a:r>
              <a:rPr sz="1300" b="0" i="0">
                <a:solidFill>
                  <a:srgbClr val="5B6675"/>
                </a:solidFill>
                <a:latin typeface="Calibri"/>
              </a:rPr>
              <a:t>det = 11</a:t>
            </a:r>
          </a:p>
        </p:txBody>
      </p:sp>
      <p:sp>
        <p:nvSpPr>
          <p:cNvPr id="41" name="TextBox 40"/>
          <p:cNvSpPr txBox="1"/>
          <p:nvPr/>
        </p:nvSpPr>
        <p:spPr>
          <a:xfrm>
            <a:off x="4526279" y="4206240"/>
            <a:ext cx="3108960" cy="457200"/>
          </a:xfrm>
          <a:prstGeom prst="rect">
            <a:avLst/>
          </a:prstGeom>
          <a:noFill/>
        </p:spPr>
        <p:txBody>
          <a:bodyPr wrap="square" lIns="0" rIns="0" tIns="0" bIns="0" anchor="t">
            <a:spAutoFit/>
          </a:bodyPr>
          <a:lstStyle/>
          <a:p>
            <a:pPr algn="l"/>
            <a:r>
              <a:rPr sz="1600" b="0" i="0">
                <a:solidFill>
                  <a:srgbClr val="14213D"/>
                </a:solidFill>
                <a:latin typeface="Cambria"/>
              </a:rPr>
              <a:t>det = 50 · 3 − 10 · 4 = 110 = 10 · 11</a:t>
            </a:r>
          </a:p>
        </p:txBody>
      </p:sp>
      <p:sp>
        <p:nvSpPr>
          <p:cNvPr id="42" name="TextBox 41"/>
          <p:cNvSpPr txBox="1"/>
          <p:nvPr/>
        </p:nvSpPr>
        <p:spPr>
          <a:xfrm>
            <a:off x="4526279" y="4846320"/>
            <a:ext cx="3108960" cy="640080"/>
          </a:xfrm>
          <a:prstGeom prst="rect">
            <a:avLst/>
          </a:prstGeom>
          <a:noFill/>
        </p:spPr>
        <p:txBody>
          <a:bodyPr wrap="square" lIns="0" rIns="0" tIns="0" bIns="0" anchor="t">
            <a:spAutoFit/>
          </a:bodyPr>
          <a:lstStyle/>
          <a:p>
            <a:pPr algn="l"/>
            <a:r>
              <a:rPr sz="1400" b="0" i="0">
                <a:solidFill>
                  <a:srgbClr val="5B6675"/>
                </a:solidFill>
                <a:latin typeface="Calibri"/>
              </a:rPr>
              <a:t>The determinant is multiplied by 10.</a:t>
            </a:r>
          </a:p>
        </p:txBody>
      </p:sp>
      <p:sp>
        <p:nvSpPr>
          <p:cNvPr id="43" name="Rounded Rectangle 42"/>
          <p:cNvSpPr/>
          <p:nvPr/>
        </p:nvSpPr>
        <p:spPr>
          <a:xfrm>
            <a:off x="8046719" y="1965960"/>
            <a:ext cx="3566160" cy="36576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5319" y="2103120"/>
            <a:ext cx="3108960" cy="365760"/>
          </a:xfrm>
          <a:prstGeom prst="rect">
            <a:avLst/>
          </a:prstGeom>
          <a:noFill/>
        </p:spPr>
        <p:txBody>
          <a:bodyPr wrap="square" lIns="0" rIns="0" tIns="0" bIns="0" anchor="t">
            <a:spAutoFit/>
          </a:bodyPr>
          <a:lstStyle/>
          <a:p>
            <a:pPr algn="l"/>
            <a:r>
              <a:rPr sz="1600" b="1" i="0">
                <a:solidFill>
                  <a:srgbClr val="14213D"/>
                </a:solidFill>
                <a:latin typeface="Calibri"/>
              </a:rPr>
              <a:t>Add row 1 to row 2</a:t>
            </a:r>
          </a:p>
        </p:txBody>
      </p:sp>
      <p:sp>
        <p:nvSpPr>
          <p:cNvPr id="45" name="Rectangle 44"/>
          <p:cNvSpPr/>
          <p:nvPr/>
        </p:nvSpPr>
        <p:spPr>
          <a:xfrm>
            <a:off x="8494776" y="260604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a:t>
            </a:r>
          </a:p>
        </p:txBody>
      </p:sp>
      <p:sp>
        <p:nvSpPr>
          <p:cNvPr id="46" name="Rectangle 45"/>
          <p:cNvSpPr/>
          <p:nvPr/>
        </p:nvSpPr>
        <p:spPr>
          <a:xfrm>
            <a:off x="8979407" y="260604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47" name="Rectangle 46"/>
          <p:cNvSpPr/>
          <p:nvPr/>
        </p:nvSpPr>
        <p:spPr>
          <a:xfrm>
            <a:off x="8494776" y="303580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4</a:t>
            </a:r>
          </a:p>
        </p:txBody>
      </p:sp>
      <p:sp>
        <p:nvSpPr>
          <p:cNvPr id="48" name="Rectangle 47"/>
          <p:cNvSpPr/>
          <p:nvPr/>
        </p:nvSpPr>
        <p:spPr>
          <a:xfrm>
            <a:off x="8979407" y="303580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49" name="Left Bracket 48"/>
          <p:cNvSpPr/>
          <p:nvPr/>
        </p:nvSpPr>
        <p:spPr>
          <a:xfrm>
            <a:off x="8366759" y="25694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ight Bracket 49"/>
          <p:cNvSpPr/>
          <p:nvPr/>
        </p:nvSpPr>
        <p:spPr>
          <a:xfrm>
            <a:off x="9418319" y="25694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ight Arrow 50"/>
          <p:cNvSpPr/>
          <p:nvPr/>
        </p:nvSpPr>
        <p:spPr>
          <a:xfrm>
            <a:off x="9646919" y="2834640"/>
            <a:ext cx="45720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369296" y="2606040"/>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a:t>
            </a:r>
          </a:p>
        </p:txBody>
      </p:sp>
      <p:sp>
        <p:nvSpPr>
          <p:cNvPr id="53" name="Rectangle 52"/>
          <p:cNvSpPr/>
          <p:nvPr/>
        </p:nvSpPr>
        <p:spPr>
          <a:xfrm>
            <a:off x="10853928" y="2606040"/>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54" name="Rectangle 53"/>
          <p:cNvSpPr/>
          <p:nvPr/>
        </p:nvSpPr>
        <p:spPr>
          <a:xfrm>
            <a:off x="10369296" y="3035808"/>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9</a:t>
            </a:r>
          </a:p>
        </p:txBody>
      </p:sp>
      <p:sp>
        <p:nvSpPr>
          <p:cNvPr id="55" name="Rectangle 54"/>
          <p:cNvSpPr/>
          <p:nvPr/>
        </p:nvSpPr>
        <p:spPr>
          <a:xfrm>
            <a:off x="10853928" y="3035808"/>
            <a:ext cx="438912"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4</a:t>
            </a:r>
          </a:p>
        </p:txBody>
      </p:sp>
      <p:sp>
        <p:nvSpPr>
          <p:cNvPr id="56" name="Left Bracket 55"/>
          <p:cNvSpPr/>
          <p:nvPr/>
        </p:nvSpPr>
        <p:spPr>
          <a:xfrm>
            <a:off x="10241280" y="256946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ight Bracket 56"/>
          <p:cNvSpPr/>
          <p:nvPr/>
        </p:nvSpPr>
        <p:spPr>
          <a:xfrm>
            <a:off x="11292839" y="256946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75319" y="3749039"/>
            <a:ext cx="3108960" cy="457200"/>
          </a:xfrm>
          <a:prstGeom prst="rect">
            <a:avLst/>
          </a:prstGeom>
          <a:noFill/>
        </p:spPr>
        <p:txBody>
          <a:bodyPr wrap="square" lIns="0" rIns="0" tIns="0" bIns="0" anchor="t">
            <a:spAutoFit/>
          </a:bodyPr>
          <a:lstStyle/>
          <a:p>
            <a:pPr algn="l"/>
            <a:r>
              <a:rPr sz="1300" b="0" i="0">
                <a:solidFill>
                  <a:srgbClr val="5B6675"/>
                </a:solidFill>
                <a:latin typeface="Calibri"/>
              </a:rPr>
              <a:t>det = 11</a:t>
            </a:r>
          </a:p>
        </p:txBody>
      </p:sp>
      <p:sp>
        <p:nvSpPr>
          <p:cNvPr id="59" name="TextBox 58"/>
          <p:cNvSpPr txBox="1"/>
          <p:nvPr/>
        </p:nvSpPr>
        <p:spPr>
          <a:xfrm>
            <a:off x="8275319" y="4206240"/>
            <a:ext cx="3108960" cy="457200"/>
          </a:xfrm>
          <a:prstGeom prst="rect">
            <a:avLst/>
          </a:prstGeom>
          <a:noFill/>
        </p:spPr>
        <p:txBody>
          <a:bodyPr wrap="square" lIns="0" rIns="0" tIns="0" bIns="0" anchor="t">
            <a:spAutoFit/>
          </a:bodyPr>
          <a:lstStyle/>
          <a:p>
            <a:pPr algn="l"/>
            <a:r>
              <a:rPr sz="1600" b="0" i="0">
                <a:solidFill>
                  <a:srgbClr val="14213D"/>
                </a:solidFill>
                <a:latin typeface="Cambria"/>
              </a:rPr>
              <a:t>det = 5 · 4 − 1 · 9 = 11</a:t>
            </a:r>
          </a:p>
        </p:txBody>
      </p:sp>
      <p:sp>
        <p:nvSpPr>
          <p:cNvPr id="60" name="TextBox 59"/>
          <p:cNvSpPr txBox="1"/>
          <p:nvPr/>
        </p:nvSpPr>
        <p:spPr>
          <a:xfrm>
            <a:off x="8275319" y="4846320"/>
            <a:ext cx="3108960" cy="640080"/>
          </a:xfrm>
          <a:prstGeom prst="rect">
            <a:avLst/>
          </a:prstGeom>
          <a:noFill/>
        </p:spPr>
        <p:txBody>
          <a:bodyPr wrap="square" lIns="0" rIns="0" tIns="0" bIns="0" anchor="t">
            <a:spAutoFit/>
          </a:bodyPr>
          <a:lstStyle/>
          <a:p>
            <a:pPr algn="l"/>
            <a:r>
              <a:rPr sz="1400" b="0" i="0">
                <a:solidFill>
                  <a:srgbClr val="5B6675"/>
                </a:solidFill>
                <a:latin typeface="Calibri"/>
              </a:rPr>
              <a:t>The determinant does not change.</a:t>
            </a:r>
          </a:p>
        </p:txBody>
      </p:sp>
      <p:sp>
        <p:nvSpPr>
          <p:cNvPr id="61" name="TextBox 60"/>
          <p:cNvSpPr txBox="1"/>
          <p:nvPr/>
        </p:nvSpPr>
        <p:spPr>
          <a:xfrm>
            <a:off x="548640" y="5852160"/>
            <a:ext cx="10972800" cy="457200"/>
          </a:xfrm>
          <a:prstGeom prst="rect">
            <a:avLst/>
          </a:prstGeom>
          <a:noFill/>
        </p:spPr>
        <p:txBody>
          <a:bodyPr wrap="square" lIns="0" rIns="0" tIns="0" bIns="0" anchor="t">
            <a:spAutoFit/>
          </a:bodyPr>
          <a:lstStyle/>
          <a:p>
            <a:pPr algn="l"/>
            <a:r>
              <a:rPr sz="1600" b="1" i="0">
                <a:solidFill>
                  <a:srgbClr val="14213D"/>
                </a:solidFill>
                <a:latin typeface="Calibri"/>
              </a:rPr>
              <a:t>A determinant that is zero stays zero, and one that is non-zero stays non-zero: row operations preserve singularity.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24</a:t>
            </a:r>
          </a:p>
        </p:txBody>
      </p:sp>
      <p:sp>
        <p:nvSpPr>
          <p:cNvPr id="4" name="TextBox 3"/>
          <p:cNvSpPr txBox="1"/>
          <p:nvPr/>
        </p:nvSpPr>
        <p:spPr>
          <a:xfrm>
            <a:off x="548640" y="2011680"/>
            <a:ext cx="5486400" cy="365760"/>
          </a:xfrm>
          <a:prstGeom prst="rect">
            <a:avLst/>
          </a:prstGeom>
          <a:noFill/>
        </p:spPr>
        <p:txBody>
          <a:bodyPr wrap="square" lIns="0" rIns="0" tIns="0" bIns="0" anchor="t">
            <a:spAutoFit/>
          </a:bodyPr>
          <a:lstStyle/>
          <a:p>
            <a:pPr algn="l"/>
            <a:r>
              <a:rPr sz="1600" b="1" i="0">
                <a:solidFill>
                  <a:srgbClr val="F2B263"/>
                </a:solidFill>
                <a:latin typeface="Calibri"/>
              </a:rPr>
              <a:t>PART 3</a:t>
            </a:r>
          </a:p>
        </p:txBody>
      </p:sp>
      <p:sp>
        <p:nvSpPr>
          <p:cNvPr id="5" name="TextBox 4"/>
          <p:cNvSpPr txBox="1"/>
          <p:nvPr/>
        </p:nvSpPr>
        <p:spPr>
          <a:xfrm>
            <a:off x="548640" y="2468880"/>
            <a:ext cx="10515600" cy="1463040"/>
          </a:xfrm>
          <a:prstGeom prst="rect">
            <a:avLst/>
          </a:prstGeom>
          <a:noFill/>
        </p:spPr>
        <p:txBody>
          <a:bodyPr wrap="square" lIns="0" rIns="0" tIns="0" bIns="0" anchor="t">
            <a:spAutoFit/>
          </a:bodyPr>
          <a:lstStyle/>
          <a:p>
            <a:pPr algn="l"/>
            <a:r>
              <a:rPr sz="5400" b="1" i="0">
                <a:solidFill>
                  <a:srgbClr val="FFFFFF"/>
                </a:solidFill>
                <a:latin typeface="Cambria"/>
              </a:rPr>
              <a:t>Rank of a matrix</a:t>
            </a:r>
          </a:p>
        </p:txBody>
      </p:sp>
      <p:sp>
        <p:nvSpPr>
          <p:cNvPr id="6" name="TextBox 5"/>
          <p:cNvSpPr txBox="1"/>
          <p:nvPr/>
        </p:nvSpPr>
        <p:spPr>
          <a:xfrm>
            <a:off x="548640" y="4114800"/>
            <a:ext cx="8229600" cy="1097280"/>
          </a:xfrm>
          <a:prstGeom prst="rect">
            <a:avLst/>
          </a:prstGeom>
          <a:noFill/>
        </p:spPr>
        <p:txBody>
          <a:bodyPr wrap="square" lIns="0" rIns="0" tIns="0" bIns="0" anchor="t">
            <a:spAutoFit/>
          </a:bodyPr>
          <a:lstStyle/>
          <a:p>
            <a:pPr algn="l">
              <a:lnSpc>
                <a:spcPct val="120000"/>
              </a:lnSpc>
            </a:pPr>
            <a:r>
              <a:rPr sz="2000" b="0" i="0">
                <a:solidFill>
                  <a:srgbClr val="BFD8D5"/>
                </a:solidFill>
                <a:latin typeface="Calibri"/>
              </a:rPr>
              <a:t>Two equations do not always carry two pieces of information. Rank measures how much they really say.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RANK OF A MATRIX</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Systems of information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25</a:t>
            </a:r>
          </a:p>
        </p:txBody>
      </p:sp>
      <p:sp>
        <p:nvSpPr>
          <p:cNvPr id="6" name="Rounded Rectangle 5"/>
          <p:cNvSpPr/>
          <p:nvPr/>
        </p:nvSpPr>
        <p:spPr>
          <a:xfrm>
            <a:off x="548640" y="1600200"/>
            <a:ext cx="3566160" cy="420624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3108960" cy="365760"/>
          </a:xfrm>
          <a:prstGeom prst="rect">
            <a:avLst/>
          </a:prstGeom>
          <a:noFill/>
        </p:spPr>
        <p:txBody>
          <a:bodyPr wrap="square" lIns="0" rIns="0" tIns="0" bIns="0" anchor="t">
            <a:spAutoFit/>
          </a:bodyPr>
          <a:lstStyle/>
          <a:p>
            <a:pPr algn="l"/>
            <a:r>
              <a:rPr sz="1800" b="1" i="0">
                <a:solidFill>
                  <a:srgbClr val="14213D"/>
                </a:solidFill>
                <a:latin typeface="Calibri"/>
              </a:rPr>
              <a:t>System 1</a:t>
            </a:r>
          </a:p>
        </p:txBody>
      </p:sp>
      <p:sp>
        <p:nvSpPr>
          <p:cNvPr id="8" name="TextBox 7"/>
          <p:cNvSpPr txBox="1"/>
          <p:nvPr/>
        </p:nvSpPr>
        <p:spPr>
          <a:xfrm>
            <a:off x="777240" y="2240280"/>
            <a:ext cx="3108960" cy="1097280"/>
          </a:xfrm>
          <a:prstGeom prst="rect">
            <a:avLst/>
          </a:prstGeom>
          <a:noFill/>
        </p:spPr>
        <p:txBody>
          <a:bodyPr wrap="square" lIns="0" rIns="0" tIns="0" bIns="0" anchor="t">
            <a:spAutoFit/>
          </a:bodyPr>
          <a:lstStyle/>
          <a:p>
            <a:pPr algn="l">
              <a:spcAft>
                <a:spcPts val="600"/>
              </a:spcAft>
            </a:pPr>
            <a:r>
              <a:rPr sz="2000" b="0" i="0">
                <a:solidFill>
                  <a:srgbClr val="14213D"/>
                </a:solidFill>
                <a:latin typeface="Cambria"/>
              </a:rPr>
              <a:t>The dog is black.</a:t>
            </a:r>
          </a:p>
          <a:p>
            <a:pPr algn="l">
              <a:spcAft>
                <a:spcPts val="600"/>
              </a:spcAft>
            </a:pPr>
            <a:r>
              <a:rPr sz="2000" b="0" i="0">
                <a:solidFill>
                  <a:srgbClr val="14213D"/>
                </a:solidFill>
                <a:latin typeface="Cambria"/>
              </a:rPr>
              <a:t>The cat is orange.</a:t>
            </a:r>
          </a:p>
        </p:txBody>
      </p:sp>
      <p:sp>
        <p:nvSpPr>
          <p:cNvPr id="9" name="TextBox 8"/>
          <p:cNvSpPr txBox="1"/>
          <p:nvPr/>
        </p:nvSpPr>
        <p:spPr>
          <a:xfrm>
            <a:off x="777240" y="3566160"/>
            <a:ext cx="3108960" cy="365760"/>
          </a:xfrm>
          <a:prstGeom prst="rect">
            <a:avLst/>
          </a:prstGeom>
          <a:noFill/>
        </p:spPr>
        <p:txBody>
          <a:bodyPr wrap="square" lIns="0" rIns="0" tIns="0" bIns="0" anchor="t">
            <a:spAutoFit/>
          </a:bodyPr>
          <a:lstStyle/>
          <a:p>
            <a:pPr algn="l"/>
            <a:r>
              <a:rPr sz="1500" b="0" i="0">
                <a:solidFill>
                  <a:srgbClr val="5B6675"/>
                </a:solidFill>
                <a:latin typeface="Calibri"/>
              </a:rPr>
              <a:t>Two sentences</a:t>
            </a:r>
          </a:p>
        </p:txBody>
      </p:sp>
      <p:sp>
        <p:nvSpPr>
          <p:cNvPr id="10" name="TextBox 9"/>
          <p:cNvSpPr txBox="1"/>
          <p:nvPr/>
        </p:nvSpPr>
        <p:spPr>
          <a:xfrm>
            <a:off x="777240" y="3931920"/>
            <a:ext cx="3108960" cy="457200"/>
          </a:xfrm>
          <a:prstGeom prst="rect">
            <a:avLst/>
          </a:prstGeom>
          <a:noFill/>
        </p:spPr>
        <p:txBody>
          <a:bodyPr wrap="square" lIns="0" rIns="0" tIns="0" bIns="0" anchor="t">
            <a:spAutoFit/>
          </a:bodyPr>
          <a:lstStyle/>
          <a:p>
            <a:pPr algn="l"/>
            <a:r>
              <a:rPr sz="1600" b="1" i="0">
                <a:solidFill>
                  <a:srgbClr val="1F6F8B"/>
                </a:solidFill>
                <a:latin typeface="Calibri"/>
              </a:rPr>
              <a:t>Two pieces of information</a:t>
            </a:r>
          </a:p>
        </p:txBody>
      </p:sp>
      <p:sp>
        <p:nvSpPr>
          <p:cNvPr id="11" name="TextBox 10"/>
          <p:cNvSpPr txBox="1"/>
          <p:nvPr/>
        </p:nvSpPr>
        <p:spPr>
          <a:xfrm>
            <a:off x="777240" y="4846320"/>
            <a:ext cx="3108960" cy="640080"/>
          </a:xfrm>
          <a:prstGeom prst="rect">
            <a:avLst/>
          </a:prstGeom>
          <a:noFill/>
        </p:spPr>
        <p:txBody>
          <a:bodyPr wrap="square" lIns="0" rIns="0" tIns="0" bIns="0" anchor="t">
            <a:spAutoFit/>
          </a:bodyPr>
          <a:lstStyle/>
          <a:p>
            <a:pPr algn="l"/>
            <a:r>
              <a:rPr sz="3000" b="1" i="0">
                <a:solidFill>
                  <a:srgbClr val="14213D"/>
                </a:solidFill>
                <a:latin typeface="Cambria"/>
              </a:rPr>
              <a:t>Rank = 2</a:t>
            </a:r>
          </a:p>
        </p:txBody>
      </p:sp>
      <p:sp>
        <p:nvSpPr>
          <p:cNvPr id="12" name="Rounded Rectangle 11"/>
          <p:cNvSpPr/>
          <p:nvPr/>
        </p:nvSpPr>
        <p:spPr>
          <a:xfrm>
            <a:off x="4297679" y="1600200"/>
            <a:ext cx="3566160" cy="4206240"/>
          </a:xfrm>
          <a:prstGeom prst="roundRect">
            <a:avLst>
              <a:gd name="adj" fmla="val 5000"/>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1737360"/>
            <a:ext cx="3108960" cy="365760"/>
          </a:xfrm>
          <a:prstGeom prst="rect">
            <a:avLst/>
          </a:prstGeom>
          <a:noFill/>
        </p:spPr>
        <p:txBody>
          <a:bodyPr wrap="square" lIns="0" rIns="0" tIns="0" bIns="0" anchor="t">
            <a:spAutoFit/>
          </a:bodyPr>
          <a:lstStyle/>
          <a:p>
            <a:pPr algn="l"/>
            <a:r>
              <a:rPr sz="1800" b="1" i="0">
                <a:solidFill>
                  <a:srgbClr val="14213D"/>
                </a:solidFill>
                <a:latin typeface="Calibri"/>
              </a:rPr>
              <a:t>System 2</a:t>
            </a:r>
          </a:p>
        </p:txBody>
      </p:sp>
      <p:sp>
        <p:nvSpPr>
          <p:cNvPr id="14" name="TextBox 13"/>
          <p:cNvSpPr txBox="1"/>
          <p:nvPr/>
        </p:nvSpPr>
        <p:spPr>
          <a:xfrm>
            <a:off x="4526279" y="2240280"/>
            <a:ext cx="3108960" cy="1097280"/>
          </a:xfrm>
          <a:prstGeom prst="rect">
            <a:avLst/>
          </a:prstGeom>
          <a:noFill/>
        </p:spPr>
        <p:txBody>
          <a:bodyPr wrap="square" lIns="0" rIns="0" tIns="0" bIns="0" anchor="t">
            <a:spAutoFit/>
          </a:bodyPr>
          <a:lstStyle/>
          <a:p>
            <a:pPr algn="l">
              <a:spcAft>
                <a:spcPts val="600"/>
              </a:spcAft>
            </a:pPr>
            <a:r>
              <a:rPr sz="2000" b="0" i="0">
                <a:solidFill>
                  <a:srgbClr val="14213D"/>
                </a:solidFill>
                <a:latin typeface="Cambria"/>
              </a:rPr>
              <a:t>The dog is black.</a:t>
            </a:r>
          </a:p>
          <a:p>
            <a:pPr algn="l">
              <a:spcAft>
                <a:spcPts val="600"/>
              </a:spcAft>
            </a:pPr>
            <a:r>
              <a:rPr sz="2000" b="0" i="0">
                <a:solidFill>
                  <a:srgbClr val="14213D"/>
                </a:solidFill>
                <a:latin typeface="Cambria"/>
              </a:rPr>
              <a:t>The dog is black.</a:t>
            </a:r>
          </a:p>
        </p:txBody>
      </p:sp>
      <p:sp>
        <p:nvSpPr>
          <p:cNvPr id="15" name="TextBox 14"/>
          <p:cNvSpPr txBox="1"/>
          <p:nvPr/>
        </p:nvSpPr>
        <p:spPr>
          <a:xfrm>
            <a:off x="4526279" y="3566160"/>
            <a:ext cx="3108960" cy="365760"/>
          </a:xfrm>
          <a:prstGeom prst="rect">
            <a:avLst/>
          </a:prstGeom>
          <a:noFill/>
        </p:spPr>
        <p:txBody>
          <a:bodyPr wrap="square" lIns="0" rIns="0" tIns="0" bIns="0" anchor="t">
            <a:spAutoFit/>
          </a:bodyPr>
          <a:lstStyle/>
          <a:p>
            <a:pPr algn="l"/>
            <a:r>
              <a:rPr sz="1500" b="0" i="0">
                <a:solidFill>
                  <a:srgbClr val="5B6675"/>
                </a:solidFill>
                <a:latin typeface="Calibri"/>
              </a:rPr>
              <a:t>Two sentences</a:t>
            </a:r>
          </a:p>
        </p:txBody>
      </p:sp>
      <p:sp>
        <p:nvSpPr>
          <p:cNvPr id="16" name="TextBox 15"/>
          <p:cNvSpPr txBox="1"/>
          <p:nvPr/>
        </p:nvSpPr>
        <p:spPr>
          <a:xfrm>
            <a:off x="4526279" y="3931920"/>
            <a:ext cx="3108960" cy="457200"/>
          </a:xfrm>
          <a:prstGeom prst="rect">
            <a:avLst/>
          </a:prstGeom>
          <a:noFill/>
        </p:spPr>
        <p:txBody>
          <a:bodyPr wrap="square" lIns="0" rIns="0" tIns="0" bIns="0" anchor="t">
            <a:spAutoFit/>
          </a:bodyPr>
          <a:lstStyle/>
          <a:p>
            <a:pPr algn="l"/>
            <a:r>
              <a:rPr sz="1600" b="1" i="0">
                <a:solidFill>
                  <a:srgbClr val="1F6F8B"/>
                </a:solidFill>
                <a:latin typeface="Calibri"/>
              </a:rPr>
              <a:t>One piece of information</a:t>
            </a:r>
          </a:p>
        </p:txBody>
      </p:sp>
      <p:sp>
        <p:nvSpPr>
          <p:cNvPr id="17" name="TextBox 16"/>
          <p:cNvSpPr txBox="1"/>
          <p:nvPr/>
        </p:nvSpPr>
        <p:spPr>
          <a:xfrm>
            <a:off x="4526279" y="4846320"/>
            <a:ext cx="3108960" cy="640080"/>
          </a:xfrm>
          <a:prstGeom prst="rect">
            <a:avLst/>
          </a:prstGeom>
          <a:noFill/>
        </p:spPr>
        <p:txBody>
          <a:bodyPr wrap="square" lIns="0" rIns="0" tIns="0" bIns="0" anchor="t">
            <a:spAutoFit/>
          </a:bodyPr>
          <a:lstStyle/>
          <a:p>
            <a:pPr algn="l"/>
            <a:r>
              <a:rPr sz="3000" b="1" i="0">
                <a:solidFill>
                  <a:srgbClr val="14213D"/>
                </a:solidFill>
                <a:latin typeface="Cambria"/>
              </a:rPr>
              <a:t>Rank = 1</a:t>
            </a:r>
          </a:p>
        </p:txBody>
      </p:sp>
      <p:sp>
        <p:nvSpPr>
          <p:cNvPr id="18" name="Rounded Rectangle 17"/>
          <p:cNvSpPr/>
          <p:nvPr/>
        </p:nvSpPr>
        <p:spPr>
          <a:xfrm>
            <a:off x="8046719" y="1600200"/>
            <a:ext cx="3566160" cy="4206240"/>
          </a:xfrm>
          <a:prstGeom prst="roundRect">
            <a:avLst>
              <a:gd name="adj" fmla="val 5000"/>
            </a:avLst>
          </a:prstGeom>
          <a:solidFill>
            <a:srgbClr val="F6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737360"/>
            <a:ext cx="3108960" cy="365760"/>
          </a:xfrm>
          <a:prstGeom prst="rect">
            <a:avLst/>
          </a:prstGeom>
          <a:noFill/>
        </p:spPr>
        <p:txBody>
          <a:bodyPr wrap="square" lIns="0" rIns="0" tIns="0" bIns="0" anchor="t">
            <a:spAutoFit/>
          </a:bodyPr>
          <a:lstStyle/>
          <a:p>
            <a:pPr algn="l"/>
            <a:r>
              <a:rPr sz="1800" b="1" i="0">
                <a:solidFill>
                  <a:srgbClr val="14213D"/>
                </a:solidFill>
                <a:latin typeface="Calibri"/>
              </a:rPr>
              <a:t>System 3</a:t>
            </a:r>
          </a:p>
        </p:txBody>
      </p:sp>
      <p:sp>
        <p:nvSpPr>
          <p:cNvPr id="20" name="TextBox 19"/>
          <p:cNvSpPr txBox="1"/>
          <p:nvPr/>
        </p:nvSpPr>
        <p:spPr>
          <a:xfrm>
            <a:off x="8275319" y="2240280"/>
            <a:ext cx="3108960" cy="1097280"/>
          </a:xfrm>
          <a:prstGeom prst="rect">
            <a:avLst/>
          </a:prstGeom>
          <a:noFill/>
        </p:spPr>
        <p:txBody>
          <a:bodyPr wrap="square" lIns="0" rIns="0" tIns="0" bIns="0" anchor="t">
            <a:spAutoFit/>
          </a:bodyPr>
          <a:lstStyle/>
          <a:p>
            <a:pPr algn="l">
              <a:spcAft>
                <a:spcPts val="600"/>
              </a:spcAft>
            </a:pPr>
            <a:r>
              <a:rPr sz="2000" b="0" i="0">
                <a:solidFill>
                  <a:srgbClr val="14213D"/>
                </a:solidFill>
                <a:latin typeface="Cambria"/>
              </a:rPr>
              <a:t>The dog.</a:t>
            </a:r>
          </a:p>
          <a:p>
            <a:pPr algn="l">
              <a:spcAft>
                <a:spcPts val="600"/>
              </a:spcAft>
            </a:pPr>
            <a:r>
              <a:rPr sz="2000" b="0" i="0">
                <a:solidFill>
                  <a:srgbClr val="14213D"/>
                </a:solidFill>
                <a:latin typeface="Cambria"/>
              </a:rPr>
              <a:t>The dog.</a:t>
            </a:r>
          </a:p>
        </p:txBody>
      </p:sp>
      <p:sp>
        <p:nvSpPr>
          <p:cNvPr id="21" name="TextBox 20"/>
          <p:cNvSpPr txBox="1"/>
          <p:nvPr/>
        </p:nvSpPr>
        <p:spPr>
          <a:xfrm>
            <a:off x="8275319" y="3566160"/>
            <a:ext cx="3108960" cy="365760"/>
          </a:xfrm>
          <a:prstGeom prst="rect">
            <a:avLst/>
          </a:prstGeom>
          <a:noFill/>
        </p:spPr>
        <p:txBody>
          <a:bodyPr wrap="square" lIns="0" rIns="0" tIns="0" bIns="0" anchor="t">
            <a:spAutoFit/>
          </a:bodyPr>
          <a:lstStyle/>
          <a:p>
            <a:pPr algn="l"/>
            <a:r>
              <a:rPr sz="1500" b="0" i="0">
                <a:solidFill>
                  <a:srgbClr val="5B6675"/>
                </a:solidFill>
                <a:latin typeface="Calibri"/>
              </a:rPr>
              <a:t>Two sentences</a:t>
            </a:r>
          </a:p>
        </p:txBody>
      </p:sp>
      <p:sp>
        <p:nvSpPr>
          <p:cNvPr id="22" name="TextBox 21"/>
          <p:cNvSpPr txBox="1"/>
          <p:nvPr/>
        </p:nvSpPr>
        <p:spPr>
          <a:xfrm>
            <a:off x="8275319" y="3931920"/>
            <a:ext cx="3108960" cy="457200"/>
          </a:xfrm>
          <a:prstGeom prst="rect">
            <a:avLst/>
          </a:prstGeom>
          <a:noFill/>
        </p:spPr>
        <p:txBody>
          <a:bodyPr wrap="square" lIns="0" rIns="0" tIns="0" bIns="0" anchor="t">
            <a:spAutoFit/>
          </a:bodyPr>
          <a:lstStyle/>
          <a:p>
            <a:pPr algn="l"/>
            <a:r>
              <a:rPr sz="1600" b="1" i="0">
                <a:solidFill>
                  <a:srgbClr val="1F6F8B"/>
                </a:solidFill>
                <a:latin typeface="Calibri"/>
              </a:rPr>
              <a:t>Zero pieces of information</a:t>
            </a:r>
          </a:p>
        </p:txBody>
      </p:sp>
      <p:sp>
        <p:nvSpPr>
          <p:cNvPr id="23" name="TextBox 22"/>
          <p:cNvSpPr txBox="1"/>
          <p:nvPr/>
        </p:nvSpPr>
        <p:spPr>
          <a:xfrm>
            <a:off x="8275319" y="4846320"/>
            <a:ext cx="3108960" cy="640080"/>
          </a:xfrm>
          <a:prstGeom prst="rect">
            <a:avLst/>
          </a:prstGeom>
          <a:noFill/>
        </p:spPr>
        <p:txBody>
          <a:bodyPr wrap="square" lIns="0" rIns="0" tIns="0" bIns="0" anchor="t">
            <a:spAutoFit/>
          </a:bodyPr>
          <a:lstStyle/>
          <a:p>
            <a:pPr algn="l"/>
            <a:r>
              <a:rPr sz="3000" b="1" i="0">
                <a:solidFill>
                  <a:srgbClr val="14213D"/>
                </a:solidFill>
                <a:latin typeface="Cambria"/>
              </a:rPr>
              <a:t>Rank = 0</a:t>
            </a:r>
          </a:p>
        </p:txBody>
      </p:sp>
      <p:sp>
        <p:nvSpPr>
          <p:cNvPr id="24" name="TextBox 23"/>
          <p:cNvSpPr txBox="1"/>
          <p:nvPr/>
        </p:nvSpPr>
        <p:spPr>
          <a:xfrm>
            <a:off x="548640" y="5943600"/>
            <a:ext cx="10972800" cy="411480"/>
          </a:xfrm>
          <a:prstGeom prst="rect">
            <a:avLst/>
          </a:prstGeom>
          <a:noFill/>
        </p:spPr>
        <p:txBody>
          <a:bodyPr wrap="square" lIns="0" rIns="0" tIns="0" bIns="0" anchor="t">
            <a:spAutoFit/>
          </a:bodyPr>
          <a:lstStyle/>
          <a:p>
            <a:pPr algn="l"/>
            <a:r>
              <a:rPr sz="1600" b="0" i="1">
                <a:solidFill>
                  <a:srgbClr val="5B6675"/>
                </a:solidFill>
                <a:latin typeface="Calibri"/>
              </a:rPr>
              <a:t>Rank counts independent pieces of information, not the number of statements.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RANK OF A MATRIX</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Rank of a 2×2 system</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26</a:t>
            </a:r>
          </a:p>
        </p:txBody>
      </p:sp>
      <p:sp>
        <p:nvSpPr>
          <p:cNvPr id="6" name="Rounded Rectangle 5"/>
          <p:cNvSpPr/>
          <p:nvPr/>
        </p:nvSpPr>
        <p:spPr>
          <a:xfrm>
            <a:off x="548640" y="1600200"/>
            <a:ext cx="3566160" cy="420624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3108960" cy="365760"/>
          </a:xfrm>
          <a:prstGeom prst="rect">
            <a:avLst/>
          </a:prstGeom>
          <a:noFill/>
        </p:spPr>
        <p:txBody>
          <a:bodyPr wrap="square" lIns="0" rIns="0" tIns="0" bIns="0" anchor="t">
            <a:spAutoFit/>
          </a:bodyPr>
          <a:lstStyle/>
          <a:p>
            <a:pPr algn="l"/>
            <a:r>
              <a:rPr sz="1800" b="1" i="0">
                <a:solidFill>
                  <a:srgbClr val="14213D"/>
                </a:solidFill>
                <a:latin typeface="Calibri"/>
              </a:rPr>
              <a:t>System 1</a:t>
            </a:r>
          </a:p>
        </p:txBody>
      </p:sp>
      <p:sp>
        <p:nvSpPr>
          <p:cNvPr id="8" name="TextBox 7"/>
          <p:cNvSpPr txBox="1"/>
          <p:nvPr/>
        </p:nvSpPr>
        <p:spPr>
          <a:xfrm>
            <a:off x="777240" y="2194560"/>
            <a:ext cx="1828800" cy="411480"/>
          </a:xfrm>
          <a:prstGeom prst="rect">
            <a:avLst/>
          </a:prstGeom>
          <a:noFill/>
        </p:spPr>
        <p:txBody>
          <a:bodyPr wrap="square" lIns="0" rIns="0" tIns="0" bIns="0" anchor="ctr">
            <a:spAutoFit/>
          </a:bodyPr>
          <a:lstStyle/>
          <a:p>
            <a:pPr algn="l"/>
            <a:r>
              <a:rPr sz="2000" b="0" i="0">
                <a:solidFill>
                  <a:srgbClr val="14213D"/>
                </a:solidFill>
                <a:latin typeface="Cambria"/>
              </a:rPr>
              <a:t>a + b = 0</a:t>
            </a:r>
          </a:p>
        </p:txBody>
      </p:sp>
      <p:sp>
        <p:nvSpPr>
          <p:cNvPr id="9" name="TextBox 8"/>
          <p:cNvSpPr txBox="1"/>
          <p:nvPr/>
        </p:nvSpPr>
        <p:spPr>
          <a:xfrm>
            <a:off x="777240" y="2606040"/>
            <a:ext cx="1828800" cy="411480"/>
          </a:xfrm>
          <a:prstGeom prst="rect">
            <a:avLst/>
          </a:prstGeom>
          <a:noFill/>
        </p:spPr>
        <p:txBody>
          <a:bodyPr wrap="square" lIns="0" rIns="0" tIns="0" bIns="0" anchor="ctr">
            <a:spAutoFit/>
          </a:bodyPr>
          <a:lstStyle/>
          <a:p>
            <a:pPr algn="l"/>
            <a:r>
              <a:rPr sz="2000" b="0" i="0">
                <a:solidFill>
                  <a:srgbClr val="14213D"/>
                </a:solidFill>
                <a:latin typeface="Cambria"/>
              </a:rPr>
              <a:t>a + 2b = 0</a:t>
            </a:r>
          </a:p>
        </p:txBody>
      </p:sp>
      <p:sp>
        <p:nvSpPr>
          <p:cNvPr id="10" name="Rectangle 9"/>
          <p:cNvSpPr/>
          <p:nvPr/>
        </p:nvSpPr>
        <p:spPr>
          <a:xfrm>
            <a:off x="2779776" y="224028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1" name="Rectangle 10"/>
          <p:cNvSpPr/>
          <p:nvPr/>
        </p:nvSpPr>
        <p:spPr>
          <a:xfrm>
            <a:off x="3282696" y="224028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2" name="Rectangle 11"/>
          <p:cNvSpPr/>
          <p:nvPr/>
        </p:nvSpPr>
        <p:spPr>
          <a:xfrm>
            <a:off x="2779776" y="267004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3" name="Rectangle 12"/>
          <p:cNvSpPr/>
          <p:nvPr/>
        </p:nvSpPr>
        <p:spPr>
          <a:xfrm>
            <a:off x="3282696" y="267004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14" name="Left Bracket 13"/>
          <p:cNvSpPr/>
          <p:nvPr/>
        </p:nvSpPr>
        <p:spPr>
          <a:xfrm>
            <a:off x="2651760" y="220370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Bracket 14"/>
          <p:cNvSpPr/>
          <p:nvPr/>
        </p:nvSpPr>
        <p:spPr>
          <a:xfrm>
            <a:off x="3739896" y="220370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29000"/>
            <a:ext cx="3108960" cy="365760"/>
          </a:xfrm>
          <a:prstGeom prst="rect">
            <a:avLst/>
          </a:prstGeom>
          <a:noFill/>
        </p:spPr>
        <p:txBody>
          <a:bodyPr wrap="square" lIns="0" rIns="0" tIns="0" bIns="0" anchor="t">
            <a:spAutoFit/>
          </a:bodyPr>
          <a:lstStyle/>
          <a:p>
            <a:pPr algn="l"/>
            <a:r>
              <a:rPr sz="1500" b="0" i="0">
                <a:solidFill>
                  <a:srgbClr val="5B6675"/>
                </a:solidFill>
                <a:latin typeface="Calibri"/>
              </a:rPr>
              <a:t>Two equations</a:t>
            </a:r>
          </a:p>
        </p:txBody>
      </p:sp>
      <p:sp>
        <p:nvSpPr>
          <p:cNvPr id="17" name="TextBox 16"/>
          <p:cNvSpPr txBox="1"/>
          <p:nvPr/>
        </p:nvSpPr>
        <p:spPr>
          <a:xfrm>
            <a:off x="777240" y="3794760"/>
            <a:ext cx="3108960" cy="457200"/>
          </a:xfrm>
          <a:prstGeom prst="rect">
            <a:avLst/>
          </a:prstGeom>
          <a:noFill/>
        </p:spPr>
        <p:txBody>
          <a:bodyPr wrap="square" lIns="0" rIns="0" tIns="0" bIns="0" anchor="t">
            <a:spAutoFit/>
          </a:bodyPr>
          <a:lstStyle/>
          <a:p>
            <a:pPr algn="l"/>
            <a:r>
              <a:rPr sz="1600" b="1" i="0">
                <a:solidFill>
                  <a:srgbClr val="1F6F8B"/>
                </a:solidFill>
                <a:latin typeface="Calibri"/>
              </a:rPr>
              <a:t>Two pieces of information</a:t>
            </a:r>
          </a:p>
        </p:txBody>
      </p:sp>
      <p:sp>
        <p:nvSpPr>
          <p:cNvPr id="18" name="TextBox 17"/>
          <p:cNvSpPr txBox="1"/>
          <p:nvPr/>
        </p:nvSpPr>
        <p:spPr>
          <a:xfrm>
            <a:off x="777240" y="4846320"/>
            <a:ext cx="3108960" cy="640080"/>
          </a:xfrm>
          <a:prstGeom prst="rect">
            <a:avLst/>
          </a:prstGeom>
          <a:noFill/>
        </p:spPr>
        <p:txBody>
          <a:bodyPr wrap="square" lIns="0" rIns="0" tIns="0" bIns="0" anchor="t">
            <a:spAutoFit/>
          </a:bodyPr>
          <a:lstStyle/>
          <a:p>
            <a:pPr algn="l"/>
            <a:r>
              <a:rPr sz="3000" b="1" i="0">
                <a:solidFill>
                  <a:srgbClr val="14213D"/>
                </a:solidFill>
                <a:latin typeface="Cambria"/>
              </a:rPr>
              <a:t>Rank = 2</a:t>
            </a:r>
          </a:p>
        </p:txBody>
      </p:sp>
      <p:sp>
        <p:nvSpPr>
          <p:cNvPr id="19" name="Rounded Rectangle 18"/>
          <p:cNvSpPr/>
          <p:nvPr/>
        </p:nvSpPr>
        <p:spPr>
          <a:xfrm>
            <a:off x="4297679" y="1600200"/>
            <a:ext cx="3566160" cy="4206240"/>
          </a:xfrm>
          <a:prstGeom prst="roundRect">
            <a:avLst>
              <a:gd name="adj" fmla="val 5000"/>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79" y="1737360"/>
            <a:ext cx="3108960" cy="365760"/>
          </a:xfrm>
          <a:prstGeom prst="rect">
            <a:avLst/>
          </a:prstGeom>
          <a:noFill/>
        </p:spPr>
        <p:txBody>
          <a:bodyPr wrap="square" lIns="0" rIns="0" tIns="0" bIns="0" anchor="t">
            <a:spAutoFit/>
          </a:bodyPr>
          <a:lstStyle/>
          <a:p>
            <a:pPr algn="l"/>
            <a:r>
              <a:rPr sz="1800" b="1" i="0">
                <a:solidFill>
                  <a:srgbClr val="14213D"/>
                </a:solidFill>
                <a:latin typeface="Calibri"/>
              </a:rPr>
              <a:t>System 2</a:t>
            </a:r>
          </a:p>
        </p:txBody>
      </p:sp>
      <p:sp>
        <p:nvSpPr>
          <p:cNvPr id="21" name="TextBox 20"/>
          <p:cNvSpPr txBox="1"/>
          <p:nvPr/>
        </p:nvSpPr>
        <p:spPr>
          <a:xfrm>
            <a:off x="4526279" y="2194560"/>
            <a:ext cx="1828800" cy="411480"/>
          </a:xfrm>
          <a:prstGeom prst="rect">
            <a:avLst/>
          </a:prstGeom>
          <a:noFill/>
        </p:spPr>
        <p:txBody>
          <a:bodyPr wrap="square" lIns="0" rIns="0" tIns="0" bIns="0" anchor="ctr">
            <a:spAutoFit/>
          </a:bodyPr>
          <a:lstStyle/>
          <a:p>
            <a:pPr algn="l"/>
            <a:r>
              <a:rPr sz="2000" b="0" i="0">
                <a:solidFill>
                  <a:srgbClr val="14213D"/>
                </a:solidFill>
                <a:latin typeface="Cambria"/>
              </a:rPr>
              <a:t>a + b = 0</a:t>
            </a:r>
          </a:p>
        </p:txBody>
      </p:sp>
      <p:sp>
        <p:nvSpPr>
          <p:cNvPr id="22" name="TextBox 21"/>
          <p:cNvSpPr txBox="1"/>
          <p:nvPr/>
        </p:nvSpPr>
        <p:spPr>
          <a:xfrm>
            <a:off x="4526279" y="2606040"/>
            <a:ext cx="1828800" cy="411480"/>
          </a:xfrm>
          <a:prstGeom prst="rect">
            <a:avLst/>
          </a:prstGeom>
          <a:noFill/>
        </p:spPr>
        <p:txBody>
          <a:bodyPr wrap="square" lIns="0" rIns="0" tIns="0" bIns="0" anchor="ctr">
            <a:spAutoFit/>
          </a:bodyPr>
          <a:lstStyle/>
          <a:p>
            <a:pPr algn="l"/>
            <a:r>
              <a:rPr sz="2000" b="0" i="0">
                <a:solidFill>
                  <a:srgbClr val="14213D"/>
                </a:solidFill>
                <a:latin typeface="Cambria"/>
              </a:rPr>
              <a:t>2a + 2b = 0</a:t>
            </a:r>
          </a:p>
        </p:txBody>
      </p:sp>
      <p:sp>
        <p:nvSpPr>
          <p:cNvPr id="23" name="Rectangle 22"/>
          <p:cNvSpPr/>
          <p:nvPr/>
        </p:nvSpPr>
        <p:spPr>
          <a:xfrm>
            <a:off x="6528815" y="224028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4" name="Rectangle 23"/>
          <p:cNvSpPr/>
          <p:nvPr/>
        </p:nvSpPr>
        <p:spPr>
          <a:xfrm>
            <a:off x="7031735" y="224028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5" name="Rectangle 24"/>
          <p:cNvSpPr/>
          <p:nvPr/>
        </p:nvSpPr>
        <p:spPr>
          <a:xfrm>
            <a:off x="6528815" y="267004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26" name="Rectangle 25"/>
          <p:cNvSpPr/>
          <p:nvPr/>
        </p:nvSpPr>
        <p:spPr>
          <a:xfrm>
            <a:off x="7031735" y="267004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27" name="Left Bracket 26"/>
          <p:cNvSpPr/>
          <p:nvPr/>
        </p:nvSpPr>
        <p:spPr>
          <a:xfrm>
            <a:off x="6400799" y="220370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Bracket 27"/>
          <p:cNvSpPr/>
          <p:nvPr/>
        </p:nvSpPr>
        <p:spPr>
          <a:xfrm>
            <a:off x="7488935" y="220370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79" y="3429000"/>
            <a:ext cx="3108960" cy="365760"/>
          </a:xfrm>
          <a:prstGeom prst="rect">
            <a:avLst/>
          </a:prstGeom>
          <a:noFill/>
        </p:spPr>
        <p:txBody>
          <a:bodyPr wrap="square" lIns="0" rIns="0" tIns="0" bIns="0" anchor="t">
            <a:spAutoFit/>
          </a:bodyPr>
          <a:lstStyle/>
          <a:p>
            <a:pPr algn="l"/>
            <a:r>
              <a:rPr sz="1500" b="0" i="0">
                <a:solidFill>
                  <a:srgbClr val="5B6675"/>
                </a:solidFill>
                <a:latin typeface="Calibri"/>
              </a:rPr>
              <a:t>Two equations</a:t>
            </a:r>
          </a:p>
        </p:txBody>
      </p:sp>
      <p:sp>
        <p:nvSpPr>
          <p:cNvPr id="30" name="TextBox 29"/>
          <p:cNvSpPr txBox="1"/>
          <p:nvPr/>
        </p:nvSpPr>
        <p:spPr>
          <a:xfrm>
            <a:off x="4526279" y="3794760"/>
            <a:ext cx="3108960" cy="457200"/>
          </a:xfrm>
          <a:prstGeom prst="rect">
            <a:avLst/>
          </a:prstGeom>
          <a:noFill/>
        </p:spPr>
        <p:txBody>
          <a:bodyPr wrap="square" lIns="0" rIns="0" tIns="0" bIns="0" anchor="t">
            <a:spAutoFit/>
          </a:bodyPr>
          <a:lstStyle/>
          <a:p>
            <a:pPr algn="l"/>
            <a:r>
              <a:rPr sz="1600" b="1" i="0">
                <a:solidFill>
                  <a:srgbClr val="1F6F8B"/>
                </a:solidFill>
                <a:latin typeface="Calibri"/>
              </a:rPr>
              <a:t>One piece of information</a:t>
            </a:r>
          </a:p>
        </p:txBody>
      </p:sp>
      <p:sp>
        <p:nvSpPr>
          <p:cNvPr id="31" name="TextBox 30"/>
          <p:cNvSpPr txBox="1"/>
          <p:nvPr/>
        </p:nvSpPr>
        <p:spPr>
          <a:xfrm>
            <a:off x="4526279" y="4846320"/>
            <a:ext cx="3108960" cy="640080"/>
          </a:xfrm>
          <a:prstGeom prst="rect">
            <a:avLst/>
          </a:prstGeom>
          <a:noFill/>
        </p:spPr>
        <p:txBody>
          <a:bodyPr wrap="square" lIns="0" rIns="0" tIns="0" bIns="0" anchor="t">
            <a:spAutoFit/>
          </a:bodyPr>
          <a:lstStyle/>
          <a:p>
            <a:pPr algn="l"/>
            <a:r>
              <a:rPr sz="3000" b="1" i="0">
                <a:solidFill>
                  <a:srgbClr val="14213D"/>
                </a:solidFill>
                <a:latin typeface="Cambria"/>
              </a:rPr>
              <a:t>Rank = 1</a:t>
            </a:r>
          </a:p>
        </p:txBody>
      </p:sp>
      <p:sp>
        <p:nvSpPr>
          <p:cNvPr id="32" name="Rounded Rectangle 31"/>
          <p:cNvSpPr/>
          <p:nvPr/>
        </p:nvSpPr>
        <p:spPr>
          <a:xfrm>
            <a:off x="8046719" y="1600200"/>
            <a:ext cx="3566160" cy="4206240"/>
          </a:xfrm>
          <a:prstGeom prst="roundRect">
            <a:avLst>
              <a:gd name="adj" fmla="val 5000"/>
            </a:avLst>
          </a:prstGeom>
          <a:solidFill>
            <a:srgbClr val="F6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19" y="1737360"/>
            <a:ext cx="3108960" cy="365760"/>
          </a:xfrm>
          <a:prstGeom prst="rect">
            <a:avLst/>
          </a:prstGeom>
          <a:noFill/>
        </p:spPr>
        <p:txBody>
          <a:bodyPr wrap="square" lIns="0" rIns="0" tIns="0" bIns="0" anchor="t">
            <a:spAutoFit/>
          </a:bodyPr>
          <a:lstStyle/>
          <a:p>
            <a:pPr algn="l"/>
            <a:r>
              <a:rPr sz="1800" b="1" i="0">
                <a:solidFill>
                  <a:srgbClr val="14213D"/>
                </a:solidFill>
                <a:latin typeface="Calibri"/>
              </a:rPr>
              <a:t>System 3</a:t>
            </a:r>
          </a:p>
        </p:txBody>
      </p:sp>
      <p:sp>
        <p:nvSpPr>
          <p:cNvPr id="34" name="TextBox 33"/>
          <p:cNvSpPr txBox="1"/>
          <p:nvPr/>
        </p:nvSpPr>
        <p:spPr>
          <a:xfrm>
            <a:off x="8275319" y="2194560"/>
            <a:ext cx="1828800" cy="411480"/>
          </a:xfrm>
          <a:prstGeom prst="rect">
            <a:avLst/>
          </a:prstGeom>
          <a:noFill/>
        </p:spPr>
        <p:txBody>
          <a:bodyPr wrap="square" lIns="0" rIns="0" tIns="0" bIns="0" anchor="ctr">
            <a:spAutoFit/>
          </a:bodyPr>
          <a:lstStyle/>
          <a:p>
            <a:pPr algn="l"/>
            <a:r>
              <a:rPr sz="2000" b="0" i="0">
                <a:solidFill>
                  <a:srgbClr val="14213D"/>
                </a:solidFill>
                <a:latin typeface="Cambria"/>
              </a:rPr>
              <a:t>0a + 0b = 0</a:t>
            </a:r>
          </a:p>
        </p:txBody>
      </p:sp>
      <p:sp>
        <p:nvSpPr>
          <p:cNvPr id="35" name="TextBox 34"/>
          <p:cNvSpPr txBox="1"/>
          <p:nvPr/>
        </p:nvSpPr>
        <p:spPr>
          <a:xfrm>
            <a:off x="8275319" y="2606040"/>
            <a:ext cx="1828800" cy="411480"/>
          </a:xfrm>
          <a:prstGeom prst="rect">
            <a:avLst/>
          </a:prstGeom>
          <a:noFill/>
        </p:spPr>
        <p:txBody>
          <a:bodyPr wrap="square" lIns="0" rIns="0" tIns="0" bIns="0" anchor="ctr">
            <a:spAutoFit/>
          </a:bodyPr>
          <a:lstStyle/>
          <a:p>
            <a:pPr algn="l"/>
            <a:r>
              <a:rPr sz="2000" b="0" i="0">
                <a:solidFill>
                  <a:srgbClr val="14213D"/>
                </a:solidFill>
                <a:latin typeface="Cambria"/>
              </a:rPr>
              <a:t>0a + 0b = 0</a:t>
            </a:r>
          </a:p>
        </p:txBody>
      </p:sp>
      <p:sp>
        <p:nvSpPr>
          <p:cNvPr id="36" name="Rectangle 35"/>
          <p:cNvSpPr/>
          <p:nvPr/>
        </p:nvSpPr>
        <p:spPr>
          <a:xfrm>
            <a:off x="10277855" y="224028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37" name="Rectangle 36"/>
          <p:cNvSpPr/>
          <p:nvPr/>
        </p:nvSpPr>
        <p:spPr>
          <a:xfrm>
            <a:off x="10780776" y="224028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38" name="Rectangle 37"/>
          <p:cNvSpPr/>
          <p:nvPr/>
        </p:nvSpPr>
        <p:spPr>
          <a:xfrm>
            <a:off x="10277855" y="267004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39" name="Rectangle 38"/>
          <p:cNvSpPr/>
          <p:nvPr/>
        </p:nvSpPr>
        <p:spPr>
          <a:xfrm>
            <a:off x="10780776" y="267004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0" name="Left Bracket 39"/>
          <p:cNvSpPr/>
          <p:nvPr/>
        </p:nvSpPr>
        <p:spPr>
          <a:xfrm>
            <a:off x="10149839" y="220370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ight Bracket 40"/>
          <p:cNvSpPr/>
          <p:nvPr/>
        </p:nvSpPr>
        <p:spPr>
          <a:xfrm>
            <a:off x="11237975" y="220370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75319" y="3429000"/>
            <a:ext cx="3108960" cy="365760"/>
          </a:xfrm>
          <a:prstGeom prst="rect">
            <a:avLst/>
          </a:prstGeom>
          <a:noFill/>
        </p:spPr>
        <p:txBody>
          <a:bodyPr wrap="square" lIns="0" rIns="0" tIns="0" bIns="0" anchor="t">
            <a:spAutoFit/>
          </a:bodyPr>
          <a:lstStyle/>
          <a:p>
            <a:pPr algn="l"/>
            <a:r>
              <a:rPr sz="1500" b="0" i="0">
                <a:solidFill>
                  <a:srgbClr val="5B6675"/>
                </a:solidFill>
                <a:latin typeface="Calibri"/>
              </a:rPr>
              <a:t>Two equations</a:t>
            </a:r>
          </a:p>
        </p:txBody>
      </p:sp>
      <p:sp>
        <p:nvSpPr>
          <p:cNvPr id="43" name="TextBox 42"/>
          <p:cNvSpPr txBox="1"/>
          <p:nvPr/>
        </p:nvSpPr>
        <p:spPr>
          <a:xfrm>
            <a:off x="8275319" y="3794760"/>
            <a:ext cx="3108960" cy="457200"/>
          </a:xfrm>
          <a:prstGeom prst="rect">
            <a:avLst/>
          </a:prstGeom>
          <a:noFill/>
        </p:spPr>
        <p:txBody>
          <a:bodyPr wrap="square" lIns="0" rIns="0" tIns="0" bIns="0" anchor="t">
            <a:spAutoFit/>
          </a:bodyPr>
          <a:lstStyle/>
          <a:p>
            <a:pPr algn="l"/>
            <a:r>
              <a:rPr sz="1600" b="1" i="0">
                <a:solidFill>
                  <a:srgbClr val="1F6F8B"/>
                </a:solidFill>
                <a:latin typeface="Calibri"/>
              </a:rPr>
              <a:t>Zero pieces of information</a:t>
            </a:r>
          </a:p>
        </p:txBody>
      </p:sp>
      <p:sp>
        <p:nvSpPr>
          <p:cNvPr id="44" name="TextBox 43"/>
          <p:cNvSpPr txBox="1"/>
          <p:nvPr/>
        </p:nvSpPr>
        <p:spPr>
          <a:xfrm>
            <a:off x="8275319" y="4846320"/>
            <a:ext cx="3108960" cy="640080"/>
          </a:xfrm>
          <a:prstGeom prst="rect">
            <a:avLst/>
          </a:prstGeom>
          <a:noFill/>
        </p:spPr>
        <p:txBody>
          <a:bodyPr wrap="square" lIns="0" rIns="0" tIns="0" bIns="0" anchor="t">
            <a:spAutoFit/>
          </a:bodyPr>
          <a:lstStyle/>
          <a:p>
            <a:pPr algn="l"/>
            <a:r>
              <a:rPr sz="3000" b="1" i="0">
                <a:solidFill>
                  <a:srgbClr val="14213D"/>
                </a:solidFill>
                <a:latin typeface="Cambria"/>
              </a:rPr>
              <a:t>Rank = 0</a:t>
            </a:r>
          </a:p>
        </p:txBody>
      </p:sp>
      <p:sp>
        <p:nvSpPr>
          <p:cNvPr id="45" name="TextBox 44"/>
          <p:cNvSpPr txBox="1"/>
          <p:nvPr/>
        </p:nvSpPr>
        <p:spPr>
          <a:xfrm>
            <a:off x="548640" y="5943600"/>
            <a:ext cx="10972800" cy="411480"/>
          </a:xfrm>
          <a:prstGeom prst="rect">
            <a:avLst/>
          </a:prstGeom>
          <a:noFill/>
        </p:spPr>
        <p:txBody>
          <a:bodyPr wrap="square" lIns="0" rIns="0" tIns="0" bIns="0" anchor="t">
            <a:spAutoFit/>
          </a:bodyPr>
          <a:lstStyle/>
          <a:p>
            <a:pPr algn="l"/>
            <a:r>
              <a:rPr sz="1600" b="0" i="1">
                <a:solidFill>
                  <a:srgbClr val="5B6675"/>
                </a:solidFill>
                <a:latin typeface="Calibri"/>
              </a:rPr>
              <a:t>The rank of the matrix is the rank of the system it represents.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RANK OF A MATRIX</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Rank and the solution space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27</a:t>
            </a:r>
          </a:p>
        </p:txBody>
      </p:sp>
      <p:sp>
        <p:nvSpPr>
          <p:cNvPr id="6" name="Rounded Rectangle 5"/>
          <p:cNvSpPr/>
          <p:nvPr/>
        </p:nvSpPr>
        <p:spPr>
          <a:xfrm>
            <a:off x="548640" y="1417320"/>
            <a:ext cx="11064240" cy="14173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18488"/>
            <a:ext cx="1051560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1929384"/>
            <a:ext cx="10515600" cy="777240"/>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For a homogeneous system (all constants equal to 0) the </a:t>
            </a:r>
            <a:r>
              <a:rPr sz="1700" b="1" i="0">
                <a:solidFill>
                  <a:srgbClr val="14213D"/>
                </a:solidFill>
                <a:latin typeface="Calibri"/>
              </a:rPr>
              <a:t>solution space</a:t>
            </a:r>
            <a:r>
              <a:rPr sz="1700" b="0" i="0">
                <a:solidFill>
                  <a:srgbClr val="14213D"/>
                </a:solidFill>
                <a:latin typeface="Calibri"/>
              </a:rPr>
              <a:t> is the set of all its solutions; its </a:t>
            </a:r>
            <a:r>
              <a:rPr sz="1700" b="1" i="0">
                <a:solidFill>
                  <a:srgbClr val="14213D"/>
                </a:solidFill>
                <a:latin typeface="Calibri"/>
              </a:rPr>
              <a:t>dimension</a:t>
            </a:r>
            <a:r>
              <a:rPr sz="1700" b="0" i="0">
                <a:solidFill>
                  <a:srgbClr val="14213D"/>
                </a:solidFill>
                <a:latin typeface="Calibri"/>
              </a:rPr>
              <a:t> is the number of free parameters needed to describe it. </a:t>
            </a:r>
            <a:r>
              <a:rPr sz="1700" b="1" i="0">
                <a:solidFill>
                  <a:srgbClr val="14213D"/>
                </a:solidFill>
                <a:latin typeface="Calibri"/>
              </a:rPr>
              <a:t>Rank of the matrix = number of variables − dimension of the solution space.</a:t>
            </a:r>
          </a:p>
        </p:txBody>
      </p:sp>
      <p:sp>
        <p:nvSpPr>
          <p:cNvPr id="9" name="Rectangle 8"/>
          <p:cNvSpPr/>
          <p:nvPr/>
        </p:nvSpPr>
        <p:spPr>
          <a:xfrm>
            <a:off x="859536" y="310896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0" name="Rectangle 9"/>
          <p:cNvSpPr/>
          <p:nvPr/>
        </p:nvSpPr>
        <p:spPr>
          <a:xfrm>
            <a:off x="1344168" y="310896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1" name="Rectangle 10"/>
          <p:cNvSpPr/>
          <p:nvPr/>
        </p:nvSpPr>
        <p:spPr>
          <a:xfrm>
            <a:off x="859536" y="353872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2" name="Rectangle 11"/>
          <p:cNvSpPr/>
          <p:nvPr/>
        </p:nvSpPr>
        <p:spPr>
          <a:xfrm>
            <a:off x="1344168" y="353872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13" name="Left Bracket 12"/>
          <p:cNvSpPr/>
          <p:nvPr/>
        </p:nvSpPr>
        <p:spPr>
          <a:xfrm>
            <a:off x="731520" y="307238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Bracket 13"/>
          <p:cNvSpPr/>
          <p:nvPr/>
        </p:nvSpPr>
        <p:spPr>
          <a:xfrm>
            <a:off x="1783079" y="307238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3108960"/>
            <a:ext cx="2011680" cy="457200"/>
          </a:xfrm>
          <a:prstGeom prst="rect">
            <a:avLst/>
          </a:prstGeom>
          <a:noFill/>
        </p:spPr>
        <p:txBody>
          <a:bodyPr wrap="square" lIns="0" rIns="0" tIns="0" bIns="0" anchor="t">
            <a:spAutoFit/>
          </a:bodyPr>
          <a:lstStyle/>
          <a:p>
            <a:pPr algn="l"/>
            <a:r>
              <a:rPr sz="2200" b="1" i="0">
                <a:solidFill>
                  <a:srgbClr val="14213D"/>
                </a:solidFill>
                <a:latin typeface="Cambria"/>
              </a:rPr>
              <a:t>Rank = 2</a:t>
            </a:r>
          </a:p>
        </p:txBody>
      </p:sp>
      <p:sp>
        <p:nvSpPr>
          <p:cNvPr id="16" name="TextBox 15"/>
          <p:cNvSpPr txBox="1"/>
          <p:nvPr/>
        </p:nvSpPr>
        <p:spPr>
          <a:xfrm>
            <a:off x="2103120" y="3566160"/>
            <a:ext cx="2011680" cy="365760"/>
          </a:xfrm>
          <a:prstGeom prst="rect">
            <a:avLst/>
          </a:prstGeom>
          <a:noFill/>
        </p:spPr>
        <p:txBody>
          <a:bodyPr wrap="square" lIns="0" rIns="0" tIns="0" bIns="0" anchor="t">
            <a:spAutoFit/>
          </a:bodyPr>
          <a:lstStyle/>
          <a:p>
            <a:pPr algn="l"/>
            <a:r>
              <a:rPr sz="1300" b="0" i="0">
                <a:solidFill>
                  <a:srgbClr val="5B6675"/>
                </a:solidFill>
                <a:latin typeface="Calibri"/>
              </a:rPr>
              <a:t>solution space has dimension 0</a:t>
            </a:r>
          </a:p>
        </p:txBody>
      </p:sp>
      <p:cxnSp>
        <p:nvCxnSpPr>
          <p:cNvPr id="17" name="Connector 16"/>
          <p:cNvCxnSpPr/>
          <p:nvPr/>
        </p:nvCxnSpPr>
        <p:spPr>
          <a:xfrm>
            <a:off x="868680" y="4846320"/>
            <a:ext cx="1371600" cy="0"/>
          </a:xfrm>
          <a:prstGeom prst="line">
            <a:avLst/>
          </a:prstGeom>
          <a:ln w="19050">
            <a:solidFill>
              <a:srgbClr val="1F6F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554480" y="4160520"/>
            <a:ext cx="0" cy="1371600"/>
          </a:xfrm>
          <a:prstGeom prst="line">
            <a:avLst/>
          </a:prstGeom>
          <a:ln w="19050">
            <a:solidFill>
              <a:srgbClr val="1F6F8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11680" y="4864607"/>
            <a:ext cx="274320" cy="274320"/>
          </a:xfrm>
          <a:prstGeom prst="rect">
            <a:avLst/>
          </a:prstGeom>
          <a:noFill/>
        </p:spPr>
        <p:txBody>
          <a:bodyPr wrap="square" lIns="0" rIns="0" tIns="0" bIns="0" anchor="t">
            <a:spAutoFit/>
          </a:bodyPr>
          <a:lstStyle/>
          <a:p>
            <a:pPr algn="l"/>
            <a:r>
              <a:rPr sz="1200" b="0" i="1">
                <a:solidFill>
                  <a:srgbClr val="1F6F8B"/>
                </a:solidFill>
                <a:latin typeface="Cambria"/>
              </a:rPr>
              <a:t>a</a:t>
            </a:r>
          </a:p>
        </p:txBody>
      </p:sp>
      <p:sp>
        <p:nvSpPr>
          <p:cNvPr id="20" name="TextBox 19"/>
          <p:cNvSpPr txBox="1"/>
          <p:nvPr/>
        </p:nvSpPr>
        <p:spPr>
          <a:xfrm>
            <a:off x="1600200" y="4142232"/>
            <a:ext cx="274320" cy="274320"/>
          </a:xfrm>
          <a:prstGeom prst="rect">
            <a:avLst/>
          </a:prstGeom>
          <a:noFill/>
        </p:spPr>
        <p:txBody>
          <a:bodyPr wrap="square" lIns="0" rIns="0" tIns="0" bIns="0" anchor="t">
            <a:spAutoFit/>
          </a:bodyPr>
          <a:lstStyle/>
          <a:p>
            <a:pPr algn="l"/>
            <a:r>
              <a:rPr sz="1200" b="0" i="1">
                <a:solidFill>
                  <a:srgbClr val="1F6F8B"/>
                </a:solidFill>
                <a:latin typeface="Cambria"/>
              </a:rPr>
              <a:t>b</a:t>
            </a:r>
          </a:p>
        </p:txBody>
      </p:sp>
      <p:sp>
        <p:nvSpPr>
          <p:cNvPr id="21" name="Oval 20"/>
          <p:cNvSpPr/>
          <p:nvPr/>
        </p:nvSpPr>
        <p:spPr>
          <a:xfrm>
            <a:off x="1472184" y="4764024"/>
            <a:ext cx="164592" cy="164592"/>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68880" y="4480560"/>
            <a:ext cx="1645920" cy="822960"/>
          </a:xfrm>
          <a:prstGeom prst="rect">
            <a:avLst/>
          </a:prstGeom>
          <a:noFill/>
        </p:spPr>
        <p:txBody>
          <a:bodyPr wrap="square" lIns="0" rIns="0" tIns="0" bIns="0" anchor="t">
            <a:spAutoFit/>
          </a:bodyPr>
          <a:lstStyle/>
          <a:p>
            <a:pPr algn="l"/>
            <a:r>
              <a:rPr sz="1500" b="0" i="0">
                <a:solidFill>
                  <a:srgbClr val="14213D"/>
                </a:solidFill>
                <a:latin typeface="Calibri"/>
              </a:rPr>
              <a:t>only the point (0, 0)</a:t>
            </a:r>
          </a:p>
        </p:txBody>
      </p:sp>
      <p:sp>
        <p:nvSpPr>
          <p:cNvPr id="23" name="Rectangle 22"/>
          <p:cNvSpPr/>
          <p:nvPr/>
        </p:nvSpPr>
        <p:spPr>
          <a:xfrm>
            <a:off x="4608575" y="310896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4" name="Rectangle 23"/>
          <p:cNvSpPr/>
          <p:nvPr/>
        </p:nvSpPr>
        <p:spPr>
          <a:xfrm>
            <a:off x="5093207" y="310896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5" name="Rectangle 24"/>
          <p:cNvSpPr/>
          <p:nvPr/>
        </p:nvSpPr>
        <p:spPr>
          <a:xfrm>
            <a:off x="4608575" y="353872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26" name="Rectangle 25"/>
          <p:cNvSpPr/>
          <p:nvPr/>
        </p:nvSpPr>
        <p:spPr>
          <a:xfrm>
            <a:off x="5093207" y="353872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27" name="Left Bracket 26"/>
          <p:cNvSpPr/>
          <p:nvPr/>
        </p:nvSpPr>
        <p:spPr>
          <a:xfrm>
            <a:off x="4480559" y="307238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Bracket 27"/>
          <p:cNvSpPr/>
          <p:nvPr/>
        </p:nvSpPr>
        <p:spPr>
          <a:xfrm>
            <a:off x="5532120" y="307238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59" y="3108960"/>
            <a:ext cx="2011680" cy="457200"/>
          </a:xfrm>
          <a:prstGeom prst="rect">
            <a:avLst/>
          </a:prstGeom>
          <a:noFill/>
        </p:spPr>
        <p:txBody>
          <a:bodyPr wrap="square" lIns="0" rIns="0" tIns="0" bIns="0" anchor="t">
            <a:spAutoFit/>
          </a:bodyPr>
          <a:lstStyle/>
          <a:p>
            <a:pPr algn="l"/>
            <a:r>
              <a:rPr sz="2200" b="1" i="0">
                <a:solidFill>
                  <a:srgbClr val="14213D"/>
                </a:solidFill>
                <a:latin typeface="Cambria"/>
              </a:rPr>
              <a:t>Rank = 1</a:t>
            </a:r>
          </a:p>
        </p:txBody>
      </p:sp>
      <p:sp>
        <p:nvSpPr>
          <p:cNvPr id="30" name="TextBox 29"/>
          <p:cNvSpPr txBox="1"/>
          <p:nvPr/>
        </p:nvSpPr>
        <p:spPr>
          <a:xfrm>
            <a:off x="5852159" y="3566160"/>
            <a:ext cx="2011680" cy="365760"/>
          </a:xfrm>
          <a:prstGeom prst="rect">
            <a:avLst/>
          </a:prstGeom>
          <a:noFill/>
        </p:spPr>
        <p:txBody>
          <a:bodyPr wrap="square" lIns="0" rIns="0" tIns="0" bIns="0" anchor="t">
            <a:spAutoFit/>
          </a:bodyPr>
          <a:lstStyle/>
          <a:p>
            <a:pPr algn="l"/>
            <a:r>
              <a:rPr sz="1300" b="0" i="0">
                <a:solidFill>
                  <a:srgbClr val="5B6675"/>
                </a:solidFill>
                <a:latin typeface="Calibri"/>
              </a:rPr>
              <a:t>solution space has dimension 1</a:t>
            </a:r>
          </a:p>
        </p:txBody>
      </p:sp>
      <p:cxnSp>
        <p:nvCxnSpPr>
          <p:cNvPr id="31" name="Connector 30"/>
          <p:cNvCxnSpPr/>
          <p:nvPr/>
        </p:nvCxnSpPr>
        <p:spPr>
          <a:xfrm>
            <a:off x="4617719" y="4846320"/>
            <a:ext cx="1371600" cy="0"/>
          </a:xfrm>
          <a:prstGeom prst="line">
            <a:avLst/>
          </a:prstGeom>
          <a:ln w="19050">
            <a:solidFill>
              <a:srgbClr val="1F6F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303519" y="4160520"/>
            <a:ext cx="0" cy="1371600"/>
          </a:xfrm>
          <a:prstGeom prst="line">
            <a:avLst/>
          </a:prstGeom>
          <a:ln w="19050">
            <a:solidFill>
              <a:srgbClr val="1F6F8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760719" y="4864607"/>
            <a:ext cx="274320" cy="274320"/>
          </a:xfrm>
          <a:prstGeom prst="rect">
            <a:avLst/>
          </a:prstGeom>
          <a:noFill/>
        </p:spPr>
        <p:txBody>
          <a:bodyPr wrap="square" lIns="0" rIns="0" tIns="0" bIns="0" anchor="t">
            <a:spAutoFit/>
          </a:bodyPr>
          <a:lstStyle/>
          <a:p>
            <a:pPr algn="l"/>
            <a:r>
              <a:rPr sz="1200" b="0" i="1">
                <a:solidFill>
                  <a:srgbClr val="1F6F8B"/>
                </a:solidFill>
                <a:latin typeface="Cambria"/>
              </a:rPr>
              <a:t>a</a:t>
            </a:r>
          </a:p>
        </p:txBody>
      </p:sp>
      <p:sp>
        <p:nvSpPr>
          <p:cNvPr id="34" name="TextBox 33"/>
          <p:cNvSpPr txBox="1"/>
          <p:nvPr/>
        </p:nvSpPr>
        <p:spPr>
          <a:xfrm>
            <a:off x="5349239" y="4142232"/>
            <a:ext cx="274320" cy="274320"/>
          </a:xfrm>
          <a:prstGeom prst="rect">
            <a:avLst/>
          </a:prstGeom>
          <a:noFill/>
        </p:spPr>
        <p:txBody>
          <a:bodyPr wrap="square" lIns="0" rIns="0" tIns="0" bIns="0" anchor="t">
            <a:spAutoFit/>
          </a:bodyPr>
          <a:lstStyle/>
          <a:p>
            <a:pPr algn="l"/>
            <a:r>
              <a:rPr sz="1200" b="0" i="1">
                <a:solidFill>
                  <a:srgbClr val="1F6F8B"/>
                </a:solidFill>
                <a:latin typeface="Cambria"/>
              </a:rPr>
              <a:t>b</a:t>
            </a:r>
          </a:p>
        </p:txBody>
      </p:sp>
      <p:cxnSp>
        <p:nvCxnSpPr>
          <p:cNvPr id="35" name="Connector 34"/>
          <p:cNvCxnSpPr/>
          <p:nvPr/>
        </p:nvCxnSpPr>
        <p:spPr>
          <a:xfrm>
            <a:off x="4709159" y="4251959"/>
            <a:ext cx="1188720" cy="1188721"/>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17919" y="4480560"/>
            <a:ext cx="1645920" cy="822960"/>
          </a:xfrm>
          <a:prstGeom prst="rect">
            <a:avLst/>
          </a:prstGeom>
          <a:noFill/>
        </p:spPr>
        <p:txBody>
          <a:bodyPr wrap="square" lIns="0" rIns="0" tIns="0" bIns="0" anchor="t">
            <a:spAutoFit/>
          </a:bodyPr>
          <a:lstStyle/>
          <a:p>
            <a:pPr algn="l"/>
            <a:r>
              <a:rPr sz="1500" b="0" i="0">
                <a:solidFill>
                  <a:srgbClr val="14213D"/>
                </a:solidFill>
                <a:latin typeface="Calibri"/>
              </a:rPr>
              <a:t>the line b = −a</a:t>
            </a:r>
          </a:p>
        </p:txBody>
      </p:sp>
      <p:sp>
        <p:nvSpPr>
          <p:cNvPr id="37" name="Rectangle 36"/>
          <p:cNvSpPr/>
          <p:nvPr/>
        </p:nvSpPr>
        <p:spPr>
          <a:xfrm>
            <a:off x="8357615" y="310896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38" name="Rectangle 37"/>
          <p:cNvSpPr/>
          <p:nvPr/>
        </p:nvSpPr>
        <p:spPr>
          <a:xfrm>
            <a:off x="8842247" y="3108960"/>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39" name="Rectangle 38"/>
          <p:cNvSpPr/>
          <p:nvPr/>
        </p:nvSpPr>
        <p:spPr>
          <a:xfrm>
            <a:off x="8357615" y="353872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0" name="Rectangle 39"/>
          <p:cNvSpPr/>
          <p:nvPr/>
        </p:nvSpPr>
        <p:spPr>
          <a:xfrm>
            <a:off x="8842247" y="3538728"/>
            <a:ext cx="438912"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1" name="Left Bracket 40"/>
          <p:cNvSpPr/>
          <p:nvPr/>
        </p:nvSpPr>
        <p:spPr>
          <a:xfrm>
            <a:off x="8229599" y="307238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ight Bracket 41"/>
          <p:cNvSpPr/>
          <p:nvPr/>
        </p:nvSpPr>
        <p:spPr>
          <a:xfrm>
            <a:off x="9281159" y="307238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199" y="3108960"/>
            <a:ext cx="2011680" cy="457200"/>
          </a:xfrm>
          <a:prstGeom prst="rect">
            <a:avLst/>
          </a:prstGeom>
          <a:noFill/>
        </p:spPr>
        <p:txBody>
          <a:bodyPr wrap="square" lIns="0" rIns="0" tIns="0" bIns="0" anchor="t">
            <a:spAutoFit/>
          </a:bodyPr>
          <a:lstStyle/>
          <a:p>
            <a:pPr algn="l"/>
            <a:r>
              <a:rPr sz="2200" b="1" i="0">
                <a:solidFill>
                  <a:srgbClr val="14213D"/>
                </a:solidFill>
                <a:latin typeface="Cambria"/>
              </a:rPr>
              <a:t>Rank = 0</a:t>
            </a:r>
          </a:p>
        </p:txBody>
      </p:sp>
      <p:sp>
        <p:nvSpPr>
          <p:cNvPr id="44" name="TextBox 43"/>
          <p:cNvSpPr txBox="1"/>
          <p:nvPr/>
        </p:nvSpPr>
        <p:spPr>
          <a:xfrm>
            <a:off x="9601199" y="3566160"/>
            <a:ext cx="2011680" cy="365760"/>
          </a:xfrm>
          <a:prstGeom prst="rect">
            <a:avLst/>
          </a:prstGeom>
          <a:noFill/>
        </p:spPr>
        <p:txBody>
          <a:bodyPr wrap="square" lIns="0" rIns="0" tIns="0" bIns="0" anchor="t">
            <a:spAutoFit/>
          </a:bodyPr>
          <a:lstStyle/>
          <a:p>
            <a:pPr algn="l"/>
            <a:r>
              <a:rPr sz="1300" b="0" i="0">
                <a:solidFill>
                  <a:srgbClr val="5B6675"/>
                </a:solidFill>
                <a:latin typeface="Calibri"/>
              </a:rPr>
              <a:t>solution space has dimension 2</a:t>
            </a:r>
          </a:p>
        </p:txBody>
      </p:sp>
      <p:sp>
        <p:nvSpPr>
          <p:cNvPr id="45" name="Rectangle 44"/>
          <p:cNvSpPr/>
          <p:nvPr/>
        </p:nvSpPr>
        <p:spPr>
          <a:xfrm>
            <a:off x="8366759" y="4160520"/>
            <a:ext cx="1371600" cy="1371600"/>
          </a:xfrm>
          <a:prstGeom prst="rect">
            <a:avLst/>
          </a:prstGeom>
          <a:solidFill>
            <a:srgbClr val="C9C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8366759" y="4846320"/>
            <a:ext cx="1371600" cy="0"/>
          </a:xfrm>
          <a:prstGeom prst="line">
            <a:avLst/>
          </a:prstGeom>
          <a:ln w="19050">
            <a:solidFill>
              <a:srgbClr val="1F6F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052559" y="4160520"/>
            <a:ext cx="0" cy="1371600"/>
          </a:xfrm>
          <a:prstGeom prst="line">
            <a:avLst/>
          </a:prstGeom>
          <a:ln w="19050">
            <a:solidFill>
              <a:srgbClr val="1F6F8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509759" y="4864607"/>
            <a:ext cx="274320" cy="274320"/>
          </a:xfrm>
          <a:prstGeom prst="rect">
            <a:avLst/>
          </a:prstGeom>
          <a:noFill/>
        </p:spPr>
        <p:txBody>
          <a:bodyPr wrap="square" lIns="0" rIns="0" tIns="0" bIns="0" anchor="t">
            <a:spAutoFit/>
          </a:bodyPr>
          <a:lstStyle/>
          <a:p>
            <a:pPr algn="l"/>
            <a:r>
              <a:rPr sz="1200" b="0" i="1">
                <a:solidFill>
                  <a:srgbClr val="1F6F8B"/>
                </a:solidFill>
                <a:latin typeface="Cambria"/>
              </a:rPr>
              <a:t>a</a:t>
            </a:r>
          </a:p>
        </p:txBody>
      </p:sp>
      <p:sp>
        <p:nvSpPr>
          <p:cNvPr id="49" name="TextBox 48"/>
          <p:cNvSpPr txBox="1"/>
          <p:nvPr/>
        </p:nvSpPr>
        <p:spPr>
          <a:xfrm>
            <a:off x="9098280" y="4142232"/>
            <a:ext cx="274320" cy="274320"/>
          </a:xfrm>
          <a:prstGeom prst="rect">
            <a:avLst/>
          </a:prstGeom>
          <a:noFill/>
        </p:spPr>
        <p:txBody>
          <a:bodyPr wrap="square" lIns="0" rIns="0" tIns="0" bIns="0" anchor="t">
            <a:spAutoFit/>
          </a:bodyPr>
          <a:lstStyle/>
          <a:p>
            <a:pPr algn="l"/>
            <a:r>
              <a:rPr sz="1200" b="0" i="1">
                <a:solidFill>
                  <a:srgbClr val="1F6F8B"/>
                </a:solidFill>
                <a:latin typeface="Cambria"/>
              </a:rPr>
              <a:t>b</a:t>
            </a:r>
          </a:p>
        </p:txBody>
      </p:sp>
      <p:sp>
        <p:nvSpPr>
          <p:cNvPr id="50" name="TextBox 49"/>
          <p:cNvSpPr txBox="1"/>
          <p:nvPr/>
        </p:nvSpPr>
        <p:spPr>
          <a:xfrm>
            <a:off x="9966959" y="4480560"/>
            <a:ext cx="1645920" cy="822960"/>
          </a:xfrm>
          <a:prstGeom prst="rect">
            <a:avLst/>
          </a:prstGeom>
          <a:noFill/>
        </p:spPr>
        <p:txBody>
          <a:bodyPr wrap="square" lIns="0" rIns="0" tIns="0" bIns="0" anchor="t">
            <a:spAutoFit/>
          </a:bodyPr>
          <a:lstStyle/>
          <a:p>
            <a:pPr algn="l"/>
            <a:r>
              <a:rPr sz="1500" b="0" i="0">
                <a:solidFill>
                  <a:srgbClr val="14213D"/>
                </a:solidFill>
                <a:latin typeface="Calibri"/>
              </a:rPr>
              <a:t>the whole plane</a:t>
            </a:r>
          </a:p>
        </p:txBody>
      </p:sp>
      <p:sp>
        <p:nvSpPr>
          <p:cNvPr id="51" name="TextBox 50"/>
          <p:cNvSpPr txBox="1"/>
          <p:nvPr/>
        </p:nvSpPr>
        <p:spPr>
          <a:xfrm>
            <a:off x="548640" y="5852160"/>
            <a:ext cx="10972800" cy="457200"/>
          </a:xfrm>
          <a:prstGeom prst="rect">
            <a:avLst/>
          </a:prstGeom>
          <a:noFill/>
        </p:spPr>
        <p:txBody>
          <a:bodyPr wrap="square" lIns="0" rIns="0" tIns="0" bIns="0" anchor="t">
            <a:spAutoFit/>
          </a:bodyPr>
          <a:lstStyle/>
          <a:p>
            <a:pPr algn="l"/>
            <a:r>
              <a:rPr sz="1800" b="1" i="0">
                <a:solidFill>
                  <a:srgbClr val="14213D"/>
                </a:solidFill>
                <a:latin typeface="Cambria"/>
              </a:rPr>
              <a:t>With two variables:  Rank = 2 − (dimension of the solution space).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RANK OF A MATRIX</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Rank and singularity</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28</a:t>
            </a:r>
          </a:p>
        </p:txBody>
      </p:sp>
      <p:sp>
        <p:nvSpPr>
          <p:cNvPr id="6" name="Rounded Rectangle 5"/>
          <p:cNvSpPr/>
          <p:nvPr/>
        </p:nvSpPr>
        <p:spPr>
          <a:xfrm>
            <a:off x="548640" y="1600200"/>
            <a:ext cx="3566160" cy="301752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19656" y="1874519"/>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8" name="Rectangle 7"/>
          <p:cNvSpPr/>
          <p:nvPr/>
        </p:nvSpPr>
        <p:spPr>
          <a:xfrm>
            <a:off x="2414016" y="1874519"/>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9" name="Rectangle 8"/>
          <p:cNvSpPr/>
          <p:nvPr/>
        </p:nvSpPr>
        <p:spPr>
          <a:xfrm>
            <a:off x="1819656" y="239572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10" name="Rectangle 9"/>
          <p:cNvSpPr/>
          <p:nvPr/>
        </p:nvSpPr>
        <p:spPr>
          <a:xfrm>
            <a:off x="2414016" y="239572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2</a:t>
            </a:r>
          </a:p>
        </p:txBody>
      </p:sp>
      <p:sp>
        <p:nvSpPr>
          <p:cNvPr id="11" name="Left Bracket 10"/>
          <p:cNvSpPr/>
          <p:nvPr/>
        </p:nvSpPr>
        <p:spPr>
          <a:xfrm>
            <a:off x="1691640" y="1837943"/>
            <a:ext cx="128016" cy="106984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Bracket 11"/>
          <p:cNvSpPr/>
          <p:nvPr/>
        </p:nvSpPr>
        <p:spPr>
          <a:xfrm>
            <a:off x="2962656" y="1837943"/>
            <a:ext cx="128016" cy="106984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63240"/>
            <a:ext cx="3108960" cy="548640"/>
          </a:xfrm>
          <a:prstGeom prst="rect">
            <a:avLst/>
          </a:prstGeom>
          <a:noFill/>
        </p:spPr>
        <p:txBody>
          <a:bodyPr wrap="square" lIns="0" rIns="0" tIns="0" bIns="0" anchor="t">
            <a:spAutoFit/>
          </a:bodyPr>
          <a:lstStyle/>
          <a:p>
            <a:pPr algn="ctr"/>
            <a:r>
              <a:rPr sz="2600" b="1" i="0">
                <a:solidFill>
                  <a:srgbClr val="14213D"/>
                </a:solidFill>
                <a:latin typeface="Cambria"/>
              </a:rPr>
              <a:t>Rank = 2</a:t>
            </a:r>
          </a:p>
        </p:txBody>
      </p:sp>
      <p:sp>
        <p:nvSpPr>
          <p:cNvPr id="14" name="TextBox 13"/>
          <p:cNvSpPr txBox="1"/>
          <p:nvPr/>
        </p:nvSpPr>
        <p:spPr>
          <a:xfrm>
            <a:off x="777240" y="3749039"/>
            <a:ext cx="3108960" cy="548640"/>
          </a:xfrm>
          <a:prstGeom prst="rect">
            <a:avLst/>
          </a:prstGeom>
          <a:noFill/>
        </p:spPr>
        <p:txBody>
          <a:bodyPr wrap="square" lIns="0" rIns="0" tIns="0" bIns="0" anchor="t">
            <a:spAutoFit/>
          </a:bodyPr>
          <a:lstStyle/>
          <a:p>
            <a:pPr algn="ctr"/>
            <a:r>
              <a:rPr sz="2000" b="1" i="0">
                <a:solidFill>
                  <a:srgbClr val="1F6F8B"/>
                </a:solidFill>
                <a:latin typeface="Calibri"/>
              </a:rPr>
              <a:t>Non-singular</a:t>
            </a:r>
          </a:p>
        </p:txBody>
      </p:sp>
      <p:sp>
        <p:nvSpPr>
          <p:cNvPr id="15" name="Rounded Rectangle 14"/>
          <p:cNvSpPr/>
          <p:nvPr/>
        </p:nvSpPr>
        <p:spPr>
          <a:xfrm>
            <a:off x="4297679" y="1600200"/>
            <a:ext cx="3566160" cy="3017520"/>
          </a:xfrm>
          <a:prstGeom prst="roundRect">
            <a:avLst>
              <a:gd name="adj" fmla="val 5000"/>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68695" y="1874519"/>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17" name="Rectangle 16"/>
          <p:cNvSpPr/>
          <p:nvPr/>
        </p:nvSpPr>
        <p:spPr>
          <a:xfrm>
            <a:off x="6163055" y="1874519"/>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18" name="Rectangle 17"/>
          <p:cNvSpPr/>
          <p:nvPr/>
        </p:nvSpPr>
        <p:spPr>
          <a:xfrm>
            <a:off x="5568695" y="239572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2</a:t>
            </a:r>
          </a:p>
        </p:txBody>
      </p:sp>
      <p:sp>
        <p:nvSpPr>
          <p:cNvPr id="19" name="Rectangle 18"/>
          <p:cNvSpPr/>
          <p:nvPr/>
        </p:nvSpPr>
        <p:spPr>
          <a:xfrm>
            <a:off x="6163055" y="239572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2</a:t>
            </a:r>
          </a:p>
        </p:txBody>
      </p:sp>
      <p:sp>
        <p:nvSpPr>
          <p:cNvPr id="20" name="Left Bracket 19"/>
          <p:cNvSpPr/>
          <p:nvPr/>
        </p:nvSpPr>
        <p:spPr>
          <a:xfrm>
            <a:off x="5440679" y="1837943"/>
            <a:ext cx="128016" cy="106984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Bracket 20"/>
          <p:cNvSpPr/>
          <p:nvPr/>
        </p:nvSpPr>
        <p:spPr>
          <a:xfrm>
            <a:off x="6711696" y="1837943"/>
            <a:ext cx="128016" cy="106984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79" y="3063240"/>
            <a:ext cx="3108960" cy="548640"/>
          </a:xfrm>
          <a:prstGeom prst="rect">
            <a:avLst/>
          </a:prstGeom>
          <a:noFill/>
        </p:spPr>
        <p:txBody>
          <a:bodyPr wrap="square" lIns="0" rIns="0" tIns="0" bIns="0" anchor="t">
            <a:spAutoFit/>
          </a:bodyPr>
          <a:lstStyle/>
          <a:p>
            <a:pPr algn="ctr"/>
            <a:r>
              <a:rPr sz="2600" b="1" i="0">
                <a:solidFill>
                  <a:srgbClr val="14213D"/>
                </a:solidFill>
                <a:latin typeface="Cambria"/>
              </a:rPr>
              <a:t>Rank = 1</a:t>
            </a:r>
          </a:p>
        </p:txBody>
      </p:sp>
      <p:sp>
        <p:nvSpPr>
          <p:cNvPr id="23" name="TextBox 22"/>
          <p:cNvSpPr txBox="1"/>
          <p:nvPr/>
        </p:nvSpPr>
        <p:spPr>
          <a:xfrm>
            <a:off x="4526279" y="3749039"/>
            <a:ext cx="3108960" cy="548640"/>
          </a:xfrm>
          <a:prstGeom prst="rect">
            <a:avLst/>
          </a:prstGeom>
          <a:noFill/>
        </p:spPr>
        <p:txBody>
          <a:bodyPr wrap="square" lIns="0" rIns="0" tIns="0" bIns="0" anchor="t">
            <a:spAutoFit/>
          </a:bodyPr>
          <a:lstStyle/>
          <a:p>
            <a:pPr algn="ctr"/>
            <a:r>
              <a:rPr sz="2000" b="1" i="0">
                <a:solidFill>
                  <a:srgbClr val="1F6F8B"/>
                </a:solidFill>
                <a:latin typeface="Calibri"/>
              </a:rPr>
              <a:t>Singular</a:t>
            </a:r>
          </a:p>
        </p:txBody>
      </p:sp>
      <p:sp>
        <p:nvSpPr>
          <p:cNvPr id="24" name="Rounded Rectangle 23"/>
          <p:cNvSpPr/>
          <p:nvPr/>
        </p:nvSpPr>
        <p:spPr>
          <a:xfrm>
            <a:off x="8046719" y="1600200"/>
            <a:ext cx="3566160" cy="3017520"/>
          </a:xfrm>
          <a:prstGeom prst="roundRect">
            <a:avLst>
              <a:gd name="adj" fmla="val 5000"/>
            </a:avLst>
          </a:prstGeom>
          <a:solidFill>
            <a:srgbClr val="F6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317736" y="1874519"/>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26" name="Rectangle 25"/>
          <p:cNvSpPr/>
          <p:nvPr/>
        </p:nvSpPr>
        <p:spPr>
          <a:xfrm>
            <a:off x="9912096" y="1874519"/>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27" name="Rectangle 26"/>
          <p:cNvSpPr/>
          <p:nvPr/>
        </p:nvSpPr>
        <p:spPr>
          <a:xfrm>
            <a:off x="9317736" y="239572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28" name="Rectangle 27"/>
          <p:cNvSpPr/>
          <p:nvPr/>
        </p:nvSpPr>
        <p:spPr>
          <a:xfrm>
            <a:off x="9912096" y="239572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29" name="Left Bracket 28"/>
          <p:cNvSpPr/>
          <p:nvPr/>
        </p:nvSpPr>
        <p:spPr>
          <a:xfrm>
            <a:off x="9189719" y="1837943"/>
            <a:ext cx="128016" cy="106984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Bracket 29"/>
          <p:cNvSpPr/>
          <p:nvPr/>
        </p:nvSpPr>
        <p:spPr>
          <a:xfrm>
            <a:off x="10460735" y="1837943"/>
            <a:ext cx="128016" cy="106984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19" y="3063240"/>
            <a:ext cx="3108960" cy="548640"/>
          </a:xfrm>
          <a:prstGeom prst="rect">
            <a:avLst/>
          </a:prstGeom>
          <a:noFill/>
        </p:spPr>
        <p:txBody>
          <a:bodyPr wrap="square" lIns="0" rIns="0" tIns="0" bIns="0" anchor="t">
            <a:spAutoFit/>
          </a:bodyPr>
          <a:lstStyle/>
          <a:p>
            <a:pPr algn="ctr"/>
            <a:r>
              <a:rPr sz="2600" b="1" i="0">
                <a:solidFill>
                  <a:srgbClr val="14213D"/>
                </a:solidFill>
                <a:latin typeface="Cambria"/>
              </a:rPr>
              <a:t>Rank = 0</a:t>
            </a:r>
          </a:p>
        </p:txBody>
      </p:sp>
      <p:sp>
        <p:nvSpPr>
          <p:cNvPr id="32" name="TextBox 31"/>
          <p:cNvSpPr txBox="1"/>
          <p:nvPr/>
        </p:nvSpPr>
        <p:spPr>
          <a:xfrm>
            <a:off x="8275319" y="3749039"/>
            <a:ext cx="3108960" cy="548640"/>
          </a:xfrm>
          <a:prstGeom prst="rect">
            <a:avLst/>
          </a:prstGeom>
          <a:noFill/>
        </p:spPr>
        <p:txBody>
          <a:bodyPr wrap="square" lIns="0" rIns="0" tIns="0" bIns="0" anchor="t">
            <a:spAutoFit/>
          </a:bodyPr>
          <a:lstStyle/>
          <a:p>
            <a:pPr algn="ctr"/>
            <a:r>
              <a:rPr sz="2000" b="1" i="0">
                <a:solidFill>
                  <a:srgbClr val="1F6F8B"/>
                </a:solidFill>
                <a:latin typeface="Calibri"/>
              </a:rPr>
              <a:t>Singular</a:t>
            </a:r>
          </a:p>
        </p:txBody>
      </p:sp>
      <p:sp>
        <p:nvSpPr>
          <p:cNvPr id="33" name="Rounded Rectangle 32"/>
          <p:cNvSpPr/>
          <p:nvPr/>
        </p:nvSpPr>
        <p:spPr>
          <a:xfrm>
            <a:off x="548640" y="4892040"/>
            <a:ext cx="11064240" cy="11887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 y="5093207"/>
            <a:ext cx="10515600" cy="274320"/>
          </a:xfrm>
          <a:prstGeom prst="rect">
            <a:avLst/>
          </a:prstGeom>
          <a:noFill/>
        </p:spPr>
        <p:txBody>
          <a:bodyPr wrap="square" lIns="0" rIns="0" tIns="0" bIns="0" anchor="t">
            <a:spAutoFit/>
          </a:bodyPr>
          <a:lstStyle/>
          <a:p>
            <a:pPr algn="l"/>
            <a:r>
              <a:rPr sz="1200" b="1" i="0">
                <a:solidFill>
                  <a:srgbClr val="1F6F8B"/>
                </a:solidFill>
                <a:latin typeface="Calibri"/>
              </a:rPr>
              <a:t>FACT</a:t>
            </a:r>
          </a:p>
        </p:txBody>
      </p:sp>
      <p:sp>
        <p:nvSpPr>
          <p:cNvPr id="35" name="TextBox 34"/>
          <p:cNvSpPr txBox="1"/>
          <p:nvPr/>
        </p:nvSpPr>
        <p:spPr>
          <a:xfrm>
            <a:off x="822959" y="5404104"/>
            <a:ext cx="10515600" cy="548640"/>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A square n × n matrix is non-singular exactly when its rank equals n (</a:t>
            </a:r>
            <a:r>
              <a:rPr sz="1700" b="1" i="0">
                <a:solidFill>
                  <a:srgbClr val="14213D"/>
                </a:solidFill>
                <a:latin typeface="Calibri"/>
              </a:rPr>
              <a:t>full rank</a:t>
            </a:r>
            <a:r>
              <a:rPr sz="1700" b="0" i="0">
                <a:solidFill>
                  <a:srgbClr val="14213D"/>
                </a:solidFill>
                <a:latin typeface="Calibri"/>
              </a:rPr>
              <a:t>). Any smaller rank means at least one row carries no new information: the matrix is singular.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29</a:t>
            </a:r>
          </a:p>
        </p:txBody>
      </p:sp>
      <p:sp>
        <p:nvSpPr>
          <p:cNvPr id="4" name="TextBox 3"/>
          <p:cNvSpPr txBox="1"/>
          <p:nvPr/>
        </p:nvSpPr>
        <p:spPr>
          <a:xfrm>
            <a:off x="548640" y="548640"/>
            <a:ext cx="7315200" cy="365760"/>
          </a:xfrm>
          <a:prstGeom prst="rect">
            <a:avLst/>
          </a:prstGeom>
          <a:noFill/>
        </p:spPr>
        <p:txBody>
          <a:bodyPr wrap="square" lIns="0" rIns="0" tIns="0" bIns="0" anchor="t">
            <a:spAutoFit/>
          </a:bodyPr>
          <a:lstStyle/>
          <a:p>
            <a:pPr algn="l"/>
            <a:r>
              <a:rPr sz="1400" b="1" i="0">
                <a:solidFill>
                  <a:srgbClr val="F2B263"/>
                </a:solidFill>
                <a:latin typeface="Calibri"/>
              </a:rPr>
              <a:t>QUIZ 3  ·  PAUSE AND SOLVE</a:t>
            </a:r>
          </a:p>
        </p:txBody>
      </p:sp>
      <p:sp>
        <p:nvSpPr>
          <p:cNvPr id="5" name="TextBox 4"/>
          <p:cNvSpPr txBox="1"/>
          <p:nvPr/>
        </p:nvSpPr>
        <p:spPr>
          <a:xfrm>
            <a:off x="548640" y="1005840"/>
            <a:ext cx="10515600" cy="914400"/>
          </a:xfrm>
          <a:prstGeom prst="rect">
            <a:avLst/>
          </a:prstGeom>
          <a:noFill/>
        </p:spPr>
        <p:txBody>
          <a:bodyPr wrap="square" lIns="0" rIns="0" tIns="0" bIns="0" anchor="t">
            <a:spAutoFit/>
          </a:bodyPr>
          <a:lstStyle/>
          <a:p>
            <a:pPr algn="l"/>
            <a:r>
              <a:rPr sz="4000" b="1" i="0">
                <a:solidFill>
                  <a:srgbClr val="FFFFFF"/>
                </a:solidFill>
                <a:latin typeface="Cambria"/>
              </a:rPr>
              <a:t>Find the rank of each matrix</a:t>
            </a:r>
          </a:p>
        </p:txBody>
      </p:sp>
      <p:sp>
        <p:nvSpPr>
          <p:cNvPr id="6" name="TextBox 5"/>
          <p:cNvSpPr txBox="1"/>
          <p:nvPr/>
        </p:nvSpPr>
        <p:spPr>
          <a:xfrm>
            <a:off x="548640" y="2377440"/>
            <a:ext cx="2743200" cy="365760"/>
          </a:xfrm>
          <a:prstGeom prst="rect">
            <a:avLst/>
          </a:prstGeom>
          <a:noFill/>
        </p:spPr>
        <p:txBody>
          <a:bodyPr wrap="square" lIns="0" rIns="0" tIns="0" bIns="0" anchor="t">
            <a:spAutoFit/>
          </a:bodyPr>
          <a:lstStyle/>
          <a:p>
            <a:pPr algn="l"/>
            <a:r>
              <a:rPr sz="1400" b="1" i="0">
                <a:solidFill>
                  <a:srgbClr val="BFD8D5"/>
                </a:solidFill>
                <a:latin typeface="Calibri"/>
              </a:rPr>
              <a:t>MATRIX 1</a:t>
            </a:r>
          </a:p>
        </p:txBody>
      </p:sp>
      <p:sp>
        <p:nvSpPr>
          <p:cNvPr id="7" name="Rectangle 6"/>
          <p:cNvSpPr/>
          <p:nvPr/>
        </p:nvSpPr>
        <p:spPr>
          <a:xfrm>
            <a:off x="676656" y="2834640"/>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5</a:t>
            </a:r>
          </a:p>
        </p:txBody>
      </p:sp>
      <p:sp>
        <p:nvSpPr>
          <p:cNvPr id="8" name="Rectangle 7"/>
          <p:cNvSpPr/>
          <p:nvPr/>
        </p:nvSpPr>
        <p:spPr>
          <a:xfrm>
            <a:off x="1408176" y="2834640"/>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1</a:t>
            </a:r>
          </a:p>
        </p:txBody>
      </p:sp>
      <p:sp>
        <p:nvSpPr>
          <p:cNvPr id="9" name="Rectangle 8"/>
          <p:cNvSpPr/>
          <p:nvPr/>
        </p:nvSpPr>
        <p:spPr>
          <a:xfrm>
            <a:off x="676656" y="3447288"/>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−1</a:t>
            </a:r>
          </a:p>
        </p:txBody>
      </p:sp>
      <p:sp>
        <p:nvSpPr>
          <p:cNvPr id="10" name="Rectangle 9"/>
          <p:cNvSpPr/>
          <p:nvPr/>
        </p:nvSpPr>
        <p:spPr>
          <a:xfrm>
            <a:off x="1408176" y="3447288"/>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3</a:t>
            </a:r>
          </a:p>
        </p:txBody>
      </p:sp>
      <p:sp>
        <p:nvSpPr>
          <p:cNvPr id="11" name="Left Bracket 10"/>
          <p:cNvSpPr/>
          <p:nvPr/>
        </p:nvSpPr>
        <p:spPr>
          <a:xfrm>
            <a:off x="548640" y="2798064"/>
            <a:ext cx="128016" cy="1252728"/>
          </a:xfrm>
          <a:prstGeom prst="leftBracket">
            <a:avLst/>
          </a:pr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Bracket 11"/>
          <p:cNvSpPr/>
          <p:nvPr/>
        </p:nvSpPr>
        <p:spPr>
          <a:xfrm>
            <a:off x="2093976" y="2798064"/>
            <a:ext cx="128016" cy="1252728"/>
          </a:xfrm>
          <a:prstGeom prst="rightBracket">
            <a:avLst/>
          </a:pr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2377440"/>
            <a:ext cx="2743200" cy="365760"/>
          </a:xfrm>
          <a:prstGeom prst="rect">
            <a:avLst/>
          </a:prstGeom>
          <a:noFill/>
        </p:spPr>
        <p:txBody>
          <a:bodyPr wrap="square" lIns="0" rIns="0" tIns="0" bIns="0" anchor="t">
            <a:spAutoFit/>
          </a:bodyPr>
          <a:lstStyle/>
          <a:p>
            <a:pPr algn="l"/>
            <a:r>
              <a:rPr sz="1400" b="1" i="0">
                <a:solidFill>
                  <a:srgbClr val="BFD8D5"/>
                </a:solidFill>
                <a:latin typeface="Calibri"/>
              </a:rPr>
              <a:t>MATRIX 2</a:t>
            </a:r>
          </a:p>
        </p:txBody>
      </p:sp>
      <p:sp>
        <p:nvSpPr>
          <p:cNvPr id="14" name="Rectangle 13"/>
          <p:cNvSpPr/>
          <p:nvPr/>
        </p:nvSpPr>
        <p:spPr>
          <a:xfrm>
            <a:off x="4334255" y="2834640"/>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2</a:t>
            </a:r>
          </a:p>
        </p:txBody>
      </p:sp>
      <p:sp>
        <p:nvSpPr>
          <p:cNvPr id="15" name="Rectangle 14"/>
          <p:cNvSpPr/>
          <p:nvPr/>
        </p:nvSpPr>
        <p:spPr>
          <a:xfrm>
            <a:off x="5065775" y="2834640"/>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−1</a:t>
            </a:r>
          </a:p>
        </p:txBody>
      </p:sp>
      <p:sp>
        <p:nvSpPr>
          <p:cNvPr id="16" name="Rectangle 15"/>
          <p:cNvSpPr/>
          <p:nvPr/>
        </p:nvSpPr>
        <p:spPr>
          <a:xfrm>
            <a:off x="4334255" y="3447288"/>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−6</a:t>
            </a:r>
          </a:p>
        </p:txBody>
      </p:sp>
      <p:sp>
        <p:nvSpPr>
          <p:cNvPr id="17" name="Rectangle 16"/>
          <p:cNvSpPr/>
          <p:nvPr/>
        </p:nvSpPr>
        <p:spPr>
          <a:xfrm>
            <a:off x="5065775" y="3447288"/>
            <a:ext cx="685800" cy="566928"/>
          </a:xfrm>
          <a:prstGeom prst="rect">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bri"/>
              </a:rPr>
              <a:t>3</a:t>
            </a:r>
          </a:p>
        </p:txBody>
      </p:sp>
      <p:sp>
        <p:nvSpPr>
          <p:cNvPr id="18" name="Left Bracket 17"/>
          <p:cNvSpPr/>
          <p:nvPr/>
        </p:nvSpPr>
        <p:spPr>
          <a:xfrm>
            <a:off x="4206240" y="2798064"/>
            <a:ext cx="128016" cy="1252728"/>
          </a:xfrm>
          <a:prstGeom prst="leftBracket">
            <a:avLst/>
          </a:pr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Bracket 18"/>
          <p:cNvSpPr/>
          <p:nvPr/>
        </p:nvSpPr>
        <p:spPr>
          <a:xfrm>
            <a:off x="5751576" y="2798064"/>
            <a:ext cx="128016" cy="1252728"/>
          </a:xfrm>
          <a:prstGeom prst="rightBracket">
            <a:avLst/>
          </a:pr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2468880"/>
            <a:ext cx="4023360" cy="2286000"/>
          </a:xfrm>
          <a:prstGeom prst="rect">
            <a:avLst/>
          </a:prstGeom>
          <a:noFill/>
        </p:spPr>
        <p:txBody>
          <a:bodyPr wrap="square" lIns="0" rIns="0" tIns="0" bIns="0" anchor="t">
            <a:spAutoFit/>
          </a:bodyPr>
          <a:lstStyle/>
          <a:p>
            <a:pPr algn="l">
              <a:lnSpc>
                <a:spcPct val="125000"/>
              </a:lnSpc>
            </a:pPr>
            <a:r>
              <a:rPr sz="1800" b="0" i="0">
                <a:solidFill>
                  <a:srgbClr val="BFD8D5"/>
                </a:solidFill>
                <a:latin typeface="Calibri"/>
              </a:rPr>
              <a:t>Hint: write the homogeneous system (constants 0), find its solution space, and use</a:t>
            </a:r>
          </a:p>
          <a:p>
            <a:pPr algn="l">
              <a:lnSpc>
                <a:spcPct val="125000"/>
              </a:lnSpc>
            </a:pPr>
            <a:r>
              <a:rPr sz="1800" b="0" i="0">
                <a:solidFill>
                  <a:srgbClr val="BFD8D5"/>
                </a:solidFill>
                <a:latin typeface="Calibri"/>
              </a:rPr>
              <a:t/>
            </a:r>
          </a:p>
          <a:p>
            <a:pPr algn="l">
              <a:lnSpc>
                <a:spcPct val="125000"/>
              </a:lnSpc>
            </a:pPr>
            <a:r>
              <a:rPr sz="1800" b="0" i="0">
                <a:solidFill>
                  <a:srgbClr val="BFD8D5"/>
                </a:solidFill>
                <a:latin typeface="Calibri"/>
              </a:rPr>
              <a:t>Rank = 2 − dimension of the solution space.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RANK OF A MATRIX</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Quiz 3 · Solution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30</a:t>
            </a:r>
          </a:p>
        </p:txBody>
      </p:sp>
      <p:sp>
        <p:nvSpPr>
          <p:cNvPr id="6" name="Rounded Rectangle 5"/>
          <p:cNvSpPr/>
          <p:nvPr/>
        </p:nvSpPr>
        <p:spPr>
          <a:xfrm>
            <a:off x="548640" y="1554480"/>
            <a:ext cx="5394960" cy="438912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91640"/>
            <a:ext cx="4846320" cy="365760"/>
          </a:xfrm>
          <a:prstGeom prst="rect">
            <a:avLst/>
          </a:prstGeom>
          <a:noFill/>
        </p:spPr>
        <p:txBody>
          <a:bodyPr wrap="square" lIns="0" rIns="0" tIns="0" bIns="0" anchor="t">
            <a:spAutoFit/>
          </a:bodyPr>
          <a:lstStyle/>
          <a:p>
            <a:pPr algn="l"/>
            <a:r>
              <a:rPr sz="1800" b="1" i="0">
                <a:solidFill>
                  <a:srgbClr val="14213D"/>
                </a:solidFill>
                <a:latin typeface="Calibri"/>
              </a:rPr>
              <a:t>Matrix 1</a:t>
            </a:r>
          </a:p>
        </p:txBody>
      </p:sp>
      <p:sp>
        <p:nvSpPr>
          <p:cNvPr id="8" name="Rectangle 7"/>
          <p:cNvSpPr/>
          <p:nvPr/>
        </p:nvSpPr>
        <p:spPr>
          <a:xfrm>
            <a:off x="950976" y="219456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5</a:t>
            </a:r>
          </a:p>
        </p:txBody>
      </p:sp>
      <p:sp>
        <p:nvSpPr>
          <p:cNvPr id="9" name="Rectangle 8"/>
          <p:cNvSpPr/>
          <p:nvPr/>
        </p:nvSpPr>
        <p:spPr>
          <a:xfrm>
            <a:off x="1453896" y="219456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0" name="Rectangle 9"/>
          <p:cNvSpPr/>
          <p:nvPr/>
        </p:nvSpPr>
        <p:spPr>
          <a:xfrm>
            <a:off x="950976" y="262432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1" name="Rectangle 10"/>
          <p:cNvSpPr/>
          <p:nvPr/>
        </p:nvSpPr>
        <p:spPr>
          <a:xfrm>
            <a:off x="1453896" y="262432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12" name="Left Bracket 11"/>
          <p:cNvSpPr/>
          <p:nvPr/>
        </p:nvSpPr>
        <p:spPr>
          <a:xfrm>
            <a:off x="822960" y="215798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Bracket 12"/>
          <p:cNvSpPr/>
          <p:nvPr/>
        </p:nvSpPr>
        <p:spPr>
          <a:xfrm>
            <a:off x="1911095" y="215798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77440" y="2194560"/>
            <a:ext cx="3291840" cy="384048"/>
          </a:xfrm>
          <a:prstGeom prst="rect">
            <a:avLst/>
          </a:prstGeom>
          <a:noFill/>
        </p:spPr>
        <p:txBody>
          <a:bodyPr wrap="square" lIns="0" rIns="0" tIns="0" bIns="0" anchor="ctr">
            <a:spAutoFit/>
          </a:bodyPr>
          <a:lstStyle/>
          <a:p>
            <a:pPr algn="l"/>
            <a:r>
              <a:rPr sz="1800" b="0" i="0">
                <a:solidFill>
                  <a:srgbClr val="14213D"/>
                </a:solidFill>
                <a:latin typeface="Cambria"/>
              </a:rPr>
              <a:t>5a + b = 0</a:t>
            </a:r>
          </a:p>
        </p:txBody>
      </p:sp>
      <p:sp>
        <p:nvSpPr>
          <p:cNvPr id="15" name="TextBox 14"/>
          <p:cNvSpPr txBox="1"/>
          <p:nvPr/>
        </p:nvSpPr>
        <p:spPr>
          <a:xfrm>
            <a:off x="2377440" y="2578608"/>
            <a:ext cx="3291840" cy="384048"/>
          </a:xfrm>
          <a:prstGeom prst="rect">
            <a:avLst/>
          </a:prstGeom>
          <a:noFill/>
        </p:spPr>
        <p:txBody>
          <a:bodyPr wrap="square" lIns="0" rIns="0" tIns="0" bIns="0" anchor="ctr">
            <a:spAutoFit/>
          </a:bodyPr>
          <a:lstStyle/>
          <a:p>
            <a:pPr algn="l"/>
            <a:r>
              <a:rPr sz="1800" b="0" i="0">
                <a:solidFill>
                  <a:srgbClr val="14213D"/>
                </a:solidFill>
                <a:latin typeface="Cambria"/>
              </a:rPr>
              <a:t>−a + 3b = 0</a:t>
            </a:r>
          </a:p>
        </p:txBody>
      </p:sp>
      <p:sp>
        <p:nvSpPr>
          <p:cNvPr id="16" name="TextBox 15"/>
          <p:cNvSpPr txBox="1"/>
          <p:nvPr/>
        </p:nvSpPr>
        <p:spPr>
          <a:xfrm>
            <a:off x="822960" y="3200400"/>
            <a:ext cx="4846320" cy="2011680"/>
          </a:xfrm>
          <a:prstGeom prst="rect">
            <a:avLst/>
          </a:prstGeom>
          <a:noFill/>
        </p:spPr>
        <p:txBody>
          <a:bodyPr wrap="square" lIns="0" rIns="0" tIns="0" bIns="0" anchor="t">
            <a:spAutoFit/>
          </a:bodyPr>
          <a:lstStyle/>
          <a:p>
            <a:pPr algn="l">
              <a:lnSpc>
                <a:spcPct val="115000"/>
              </a:lnSpc>
              <a:spcAft>
                <a:spcPts val="600"/>
              </a:spcAft>
            </a:pPr>
            <a:r>
              <a:rPr sz="1500" b="0" i="0">
                <a:solidFill>
                  <a:srgbClr val="5B6675"/>
                </a:solidFill>
                <a:latin typeface="Calibri"/>
              </a:rPr>
              <a:t>From the first equation b = −5a. Substituting: −a + 3(−5a) = −16a = 0, so a = 0 and then b = 0.</a:t>
            </a:r>
          </a:p>
          <a:p>
            <a:pPr algn="l">
              <a:lnSpc>
                <a:spcPct val="115000"/>
              </a:lnSpc>
              <a:spcAft>
                <a:spcPts val="600"/>
              </a:spcAft>
            </a:pPr>
            <a:r>
              <a:rPr sz="1500" b="0" i="0">
                <a:solidFill>
                  <a:srgbClr val="5B6675"/>
                </a:solidFill>
                <a:latin typeface="Calibri"/>
              </a:rPr>
              <a:t>The solution space is the single point (0, 0): dimension 0.</a:t>
            </a:r>
          </a:p>
          <a:p>
            <a:pPr algn="l">
              <a:lnSpc>
                <a:spcPct val="115000"/>
              </a:lnSpc>
              <a:spcAft>
                <a:spcPts val="600"/>
              </a:spcAft>
            </a:pPr>
            <a:r>
              <a:rPr sz="1500" b="1" i="0">
                <a:solidFill>
                  <a:srgbClr val="14213D"/>
                </a:solidFill>
                <a:latin typeface="Calibri"/>
              </a:rPr>
              <a:t>Rank = 2 − 0 = 2.  Non-singular (det = 15 + 1 = 16 ≠ 0).</a:t>
            </a:r>
          </a:p>
        </p:txBody>
      </p:sp>
      <p:sp>
        <p:nvSpPr>
          <p:cNvPr id="17" name="Rounded Rectangle 16"/>
          <p:cNvSpPr/>
          <p:nvPr/>
        </p:nvSpPr>
        <p:spPr>
          <a:xfrm>
            <a:off x="6217920" y="1554480"/>
            <a:ext cx="5394960" cy="4389120"/>
          </a:xfrm>
          <a:prstGeom prst="roundRect">
            <a:avLst>
              <a:gd name="adj" fmla="val 5000"/>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691640"/>
            <a:ext cx="4846320" cy="365760"/>
          </a:xfrm>
          <a:prstGeom prst="rect">
            <a:avLst/>
          </a:prstGeom>
          <a:noFill/>
        </p:spPr>
        <p:txBody>
          <a:bodyPr wrap="square" lIns="0" rIns="0" tIns="0" bIns="0" anchor="t">
            <a:spAutoFit/>
          </a:bodyPr>
          <a:lstStyle/>
          <a:p>
            <a:pPr algn="l"/>
            <a:r>
              <a:rPr sz="1800" b="1" i="0">
                <a:solidFill>
                  <a:srgbClr val="14213D"/>
                </a:solidFill>
                <a:latin typeface="Calibri"/>
              </a:rPr>
              <a:t>Matrix 2</a:t>
            </a:r>
          </a:p>
        </p:txBody>
      </p:sp>
      <p:sp>
        <p:nvSpPr>
          <p:cNvPr id="19" name="Rectangle 18"/>
          <p:cNvSpPr/>
          <p:nvPr/>
        </p:nvSpPr>
        <p:spPr>
          <a:xfrm>
            <a:off x="6620255" y="219456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2</a:t>
            </a:r>
          </a:p>
        </p:txBody>
      </p:sp>
      <p:sp>
        <p:nvSpPr>
          <p:cNvPr id="20" name="Rectangle 19"/>
          <p:cNvSpPr/>
          <p:nvPr/>
        </p:nvSpPr>
        <p:spPr>
          <a:xfrm>
            <a:off x="7123175" y="2194560"/>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21" name="Rectangle 20"/>
          <p:cNvSpPr/>
          <p:nvPr/>
        </p:nvSpPr>
        <p:spPr>
          <a:xfrm>
            <a:off x="6620255" y="262432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−6</a:t>
            </a:r>
          </a:p>
        </p:txBody>
      </p:sp>
      <p:sp>
        <p:nvSpPr>
          <p:cNvPr id="22" name="Rectangle 21"/>
          <p:cNvSpPr/>
          <p:nvPr/>
        </p:nvSpPr>
        <p:spPr>
          <a:xfrm>
            <a:off x="7123175" y="2624328"/>
            <a:ext cx="457200"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23" name="Left Bracket 22"/>
          <p:cNvSpPr/>
          <p:nvPr/>
        </p:nvSpPr>
        <p:spPr>
          <a:xfrm>
            <a:off x="6492240" y="2157984"/>
            <a:ext cx="128016" cy="88696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Bracket 23"/>
          <p:cNvSpPr/>
          <p:nvPr/>
        </p:nvSpPr>
        <p:spPr>
          <a:xfrm>
            <a:off x="7580375" y="2157984"/>
            <a:ext cx="128016" cy="88696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2194560"/>
            <a:ext cx="3291840" cy="384048"/>
          </a:xfrm>
          <a:prstGeom prst="rect">
            <a:avLst/>
          </a:prstGeom>
          <a:noFill/>
        </p:spPr>
        <p:txBody>
          <a:bodyPr wrap="square" lIns="0" rIns="0" tIns="0" bIns="0" anchor="ctr">
            <a:spAutoFit/>
          </a:bodyPr>
          <a:lstStyle/>
          <a:p>
            <a:pPr algn="l"/>
            <a:r>
              <a:rPr sz="1800" b="0" i="0">
                <a:solidFill>
                  <a:srgbClr val="14213D"/>
                </a:solidFill>
                <a:latin typeface="Cambria"/>
              </a:rPr>
              <a:t>2a − b = 0</a:t>
            </a:r>
          </a:p>
        </p:txBody>
      </p:sp>
      <p:sp>
        <p:nvSpPr>
          <p:cNvPr id="26" name="TextBox 25"/>
          <p:cNvSpPr txBox="1"/>
          <p:nvPr/>
        </p:nvSpPr>
        <p:spPr>
          <a:xfrm>
            <a:off x="8046720" y="2578608"/>
            <a:ext cx="3291840" cy="384048"/>
          </a:xfrm>
          <a:prstGeom prst="rect">
            <a:avLst/>
          </a:prstGeom>
          <a:noFill/>
        </p:spPr>
        <p:txBody>
          <a:bodyPr wrap="square" lIns="0" rIns="0" tIns="0" bIns="0" anchor="ctr">
            <a:spAutoFit/>
          </a:bodyPr>
          <a:lstStyle/>
          <a:p>
            <a:pPr algn="l"/>
            <a:r>
              <a:rPr sz="1800" b="0" i="0">
                <a:solidFill>
                  <a:srgbClr val="14213D"/>
                </a:solidFill>
                <a:latin typeface="Cambria"/>
              </a:rPr>
              <a:t>−6a + 3b = 0</a:t>
            </a:r>
          </a:p>
        </p:txBody>
      </p:sp>
      <p:sp>
        <p:nvSpPr>
          <p:cNvPr id="27" name="TextBox 26"/>
          <p:cNvSpPr txBox="1"/>
          <p:nvPr/>
        </p:nvSpPr>
        <p:spPr>
          <a:xfrm>
            <a:off x="6492240" y="3200400"/>
            <a:ext cx="4846320" cy="2011680"/>
          </a:xfrm>
          <a:prstGeom prst="rect">
            <a:avLst/>
          </a:prstGeom>
          <a:noFill/>
        </p:spPr>
        <p:txBody>
          <a:bodyPr wrap="square" lIns="0" rIns="0" tIns="0" bIns="0" anchor="t">
            <a:spAutoFit/>
          </a:bodyPr>
          <a:lstStyle/>
          <a:p>
            <a:pPr algn="l">
              <a:lnSpc>
                <a:spcPct val="115000"/>
              </a:lnSpc>
              <a:spcAft>
                <a:spcPts val="600"/>
              </a:spcAft>
            </a:pPr>
            <a:r>
              <a:rPr sz="1500" b="0" i="0">
                <a:solidFill>
                  <a:srgbClr val="5B6675"/>
                </a:solidFill>
                <a:latin typeface="Calibri"/>
              </a:rPr>
              <a:t>The second row is −3 times the first, so the second equation repeats the first.</a:t>
            </a:r>
          </a:p>
          <a:p>
            <a:pPr algn="l">
              <a:lnSpc>
                <a:spcPct val="115000"/>
              </a:lnSpc>
              <a:spcAft>
                <a:spcPts val="600"/>
              </a:spcAft>
            </a:pPr>
            <a:r>
              <a:rPr sz="1500" b="0" i="0">
                <a:solidFill>
                  <a:srgbClr val="5B6675"/>
                </a:solidFill>
                <a:latin typeface="Calibri"/>
              </a:rPr>
              <a:t>Every point on the line b = 2a is a solution: dimension 1.</a:t>
            </a:r>
          </a:p>
          <a:p>
            <a:pPr algn="l">
              <a:lnSpc>
                <a:spcPct val="115000"/>
              </a:lnSpc>
              <a:spcAft>
                <a:spcPts val="600"/>
              </a:spcAft>
            </a:pPr>
            <a:r>
              <a:rPr sz="1500" b="1" i="0">
                <a:solidFill>
                  <a:srgbClr val="14213D"/>
                </a:solidFill>
                <a:latin typeface="Calibri"/>
              </a:rPr>
              <a:t>Rank = 2 − 1 = 1.  Singular (det = 6 − 6 = 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RANK OF A MATRIX</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Rank of a 3×3 system</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31</a:t>
            </a:r>
          </a:p>
        </p:txBody>
      </p:sp>
      <p:sp>
        <p:nvSpPr>
          <p:cNvPr id="6" name="Rounded Rectangle 5"/>
          <p:cNvSpPr/>
          <p:nvPr/>
        </p:nvSpPr>
        <p:spPr>
          <a:xfrm>
            <a:off x="548640" y="1554480"/>
            <a:ext cx="2651760" cy="452628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64208"/>
            <a:ext cx="2377440" cy="365760"/>
          </a:xfrm>
          <a:prstGeom prst="rect">
            <a:avLst/>
          </a:prstGeom>
          <a:noFill/>
        </p:spPr>
        <p:txBody>
          <a:bodyPr wrap="square" lIns="0" rIns="0" tIns="0" bIns="0" anchor="t">
            <a:spAutoFit/>
          </a:bodyPr>
          <a:lstStyle/>
          <a:p>
            <a:pPr algn="l"/>
            <a:r>
              <a:rPr sz="1600" b="1" i="0">
                <a:solidFill>
                  <a:srgbClr val="14213D"/>
                </a:solidFill>
                <a:latin typeface="Calibri"/>
              </a:rPr>
              <a:t>System 1</a:t>
            </a:r>
          </a:p>
        </p:txBody>
      </p:sp>
      <p:sp>
        <p:nvSpPr>
          <p:cNvPr id="8" name="TextBox 7"/>
          <p:cNvSpPr txBox="1"/>
          <p:nvPr/>
        </p:nvSpPr>
        <p:spPr>
          <a:xfrm>
            <a:off x="731520" y="2057400"/>
            <a:ext cx="2377440" cy="329184"/>
          </a:xfrm>
          <a:prstGeom prst="rect">
            <a:avLst/>
          </a:prstGeom>
          <a:noFill/>
        </p:spPr>
        <p:txBody>
          <a:bodyPr wrap="square" lIns="0" rIns="0" tIns="0" bIns="0" anchor="ctr">
            <a:spAutoFit/>
          </a:bodyPr>
          <a:lstStyle/>
          <a:p>
            <a:pPr algn="l"/>
            <a:r>
              <a:rPr sz="1500" b="0" i="0">
                <a:solidFill>
                  <a:srgbClr val="14213D"/>
                </a:solidFill>
                <a:latin typeface="Cambria"/>
              </a:rPr>
              <a:t>a + b + c = 0</a:t>
            </a:r>
          </a:p>
        </p:txBody>
      </p:sp>
      <p:sp>
        <p:nvSpPr>
          <p:cNvPr id="9" name="TextBox 8"/>
          <p:cNvSpPr txBox="1"/>
          <p:nvPr/>
        </p:nvSpPr>
        <p:spPr>
          <a:xfrm>
            <a:off x="731520" y="2386584"/>
            <a:ext cx="2377440" cy="329184"/>
          </a:xfrm>
          <a:prstGeom prst="rect">
            <a:avLst/>
          </a:prstGeom>
          <a:noFill/>
        </p:spPr>
        <p:txBody>
          <a:bodyPr wrap="square" lIns="0" rIns="0" tIns="0" bIns="0" anchor="ctr">
            <a:spAutoFit/>
          </a:bodyPr>
          <a:lstStyle/>
          <a:p>
            <a:pPr algn="l"/>
            <a:r>
              <a:rPr sz="1500" b="0" i="0">
                <a:solidFill>
                  <a:srgbClr val="14213D"/>
                </a:solidFill>
                <a:latin typeface="Cambria"/>
              </a:rPr>
              <a:t>a + 2b + c = 0</a:t>
            </a:r>
          </a:p>
        </p:txBody>
      </p:sp>
      <p:sp>
        <p:nvSpPr>
          <p:cNvPr id="10" name="TextBox 9"/>
          <p:cNvSpPr txBox="1"/>
          <p:nvPr/>
        </p:nvSpPr>
        <p:spPr>
          <a:xfrm>
            <a:off x="731520" y="2715768"/>
            <a:ext cx="2377440" cy="329184"/>
          </a:xfrm>
          <a:prstGeom prst="rect">
            <a:avLst/>
          </a:prstGeom>
          <a:noFill/>
        </p:spPr>
        <p:txBody>
          <a:bodyPr wrap="square" lIns="0" rIns="0" tIns="0" bIns="0" anchor="ctr">
            <a:spAutoFit/>
          </a:bodyPr>
          <a:lstStyle/>
          <a:p>
            <a:pPr algn="l"/>
            <a:r>
              <a:rPr sz="1500" b="0" i="0">
                <a:solidFill>
                  <a:srgbClr val="14213D"/>
                </a:solidFill>
                <a:latin typeface="Cambria"/>
              </a:rPr>
              <a:t>a + b + 2c = 0</a:t>
            </a:r>
          </a:p>
        </p:txBody>
      </p:sp>
      <p:sp>
        <p:nvSpPr>
          <p:cNvPr id="11" name="TextBox 10"/>
          <p:cNvSpPr txBox="1"/>
          <p:nvPr/>
        </p:nvSpPr>
        <p:spPr>
          <a:xfrm>
            <a:off x="731520" y="3108960"/>
            <a:ext cx="2377440" cy="274320"/>
          </a:xfrm>
          <a:prstGeom prst="rect">
            <a:avLst/>
          </a:prstGeom>
          <a:noFill/>
        </p:spPr>
        <p:txBody>
          <a:bodyPr wrap="square" lIns="0" rIns="0" tIns="0" bIns="0" anchor="t">
            <a:spAutoFit/>
          </a:bodyPr>
          <a:lstStyle/>
          <a:p>
            <a:pPr algn="l"/>
            <a:r>
              <a:rPr sz="1300" b="0" i="0">
                <a:solidFill>
                  <a:srgbClr val="5B6675"/>
                </a:solidFill>
                <a:latin typeface="Calibri"/>
              </a:rPr>
              <a:t>3 equations</a:t>
            </a:r>
          </a:p>
        </p:txBody>
      </p:sp>
      <p:sp>
        <p:nvSpPr>
          <p:cNvPr id="12" name="TextBox 11"/>
          <p:cNvSpPr txBox="1"/>
          <p:nvPr/>
        </p:nvSpPr>
        <p:spPr>
          <a:xfrm>
            <a:off x="731520" y="3383280"/>
            <a:ext cx="2377440" cy="365760"/>
          </a:xfrm>
          <a:prstGeom prst="rect">
            <a:avLst/>
          </a:prstGeom>
          <a:noFill/>
        </p:spPr>
        <p:txBody>
          <a:bodyPr wrap="square" lIns="0" rIns="0" tIns="0" bIns="0" anchor="t">
            <a:spAutoFit/>
          </a:bodyPr>
          <a:lstStyle/>
          <a:p>
            <a:pPr algn="l"/>
            <a:r>
              <a:rPr sz="1400" b="1" i="0">
                <a:solidFill>
                  <a:srgbClr val="1F6F8B"/>
                </a:solidFill>
                <a:latin typeface="Calibri"/>
              </a:rPr>
              <a:t>3 pieces of information</a:t>
            </a:r>
          </a:p>
        </p:txBody>
      </p:sp>
      <p:sp>
        <p:nvSpPr>
          <p:cNvPr id="13" name="Rectangle 12"/>
          <p:cNvSpPr/>
          <p:nvPr/>
        </p:nvSpPr>
        <p:spPr>
          <a:xfrm>
            <a:off x="1133856"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4" name="Rectangle 13"/>
          <p:cNvSpPr/>
          <p:nvPr/>
        </p:nvSpPr>
        <p:spPr>
          <a:xfrm>
            <a:off x="1554480"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5" name="Rectangle 14"/>
          <p:cNvSpPr/>
          <p:nvPr/>
        </p:nvSpPr>
        <p:spPr>
          <a:xfrm>
            <a:off x="1975104"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6" name="Rectangle 15"/>
          <p:cNvSpPr/>
          <p:nvPr/>
        </p:nvSpPr>
        <p:spPr>
          <a:xfrm>
            <a:off x="1133856"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7" name="Rectangle 16"/>
          <p:cNvSpPr/>
          <p:nvPr/>
        </p:nvSpPr>
        <p:spPr>
          <a:xfrm>
            <a:off x="1554480"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2</a:t>
            </a:r>
          </a:p>
        </p:txBody>
      </p:sp>
      <p:sp>
        <p:nvSpPr>
          <p:cNvPr id="18" name="Rectangle 17"/>
          <p:cNvSpPr/>
          <p:nvPr/>
        </p:nvSpPr>
        <p:spPr>
          <a:xfrm>
            <a:off x="1975104"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9" name="Rectangle 18"/>
          <p:cNvSpPr/>
          <p:nvPr/>
        </p:nvSpPr>
        <p:spPr>
          <a:xfrm>
            <a:off x="1133856"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20" name="Rectangle 19"/>
          <p:cNvSpPr/>
          <p:nvPr/>
        </p:nvSpPr>
        <p:spPr>
          <a:xfrm>
            <a:off x="1554480"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21" name="Rectangle 20"/>
          <p:cNvSpPr/>
          <p:nvPr/>
        </p:nvSpPr>
        <p:spPr>
          <a:xfrm>
            <a:off x="1975104"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2</a:t>
            </a:r>
          </a:p>
        </p:txBody>
      </p:sp>
      <p:sp>
        <p:nvSpPr>
          <p:cNvPr id="22" name="Left Bracket 21"/>
          <p:cNvSpPr/>
          <p:nvPr/>
        </p:nvSpPr>
        <p:spPr>
          <a:xfrm>
            <a:off x="1005840" y="3849624"/>
            <a:ext cx="128016" cy="11338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Bracket 22"/>
          <p:cNvSpPr/>
          <p:nvPr/>
        </p:nvSpPr>
        <p:spPr>
          <a:xfrm>
            <a:off x="2359152" y="3849624"/>
            <a:ext cx="128016" cy="11338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20640"/>
            <a:ext cx="2377440" cy="548640"/>
          </a:xfrm>
          <a:prstGeom prst="rect">
            <a:avLst/>
          </a:prstGeom>
          <a:noFill/>
        </p:spPr>
        <p:txBody>
          <a:bodyPr wrap="square" lIns="0" rIns="0" tIns="0" bIns="0" anchor="t">
            <a:spAutoFit/>
          </a:bodyPr>
          <a:lstStyle/>
          <a:p>
            <a:pPr algn="ctr"/>
            <a:r>
              <a:rPr sz="2400" b="1" i="0">
                <a:solidFill>
                  <a:srgbClr val="14213D"/>
                </a:solidFill>
                <a:latin typeface="Cambria"/>
              </a:rPr>
              <a:t>Rank 3</a:t>
            </a:r>
          </a:p>
        </p:txBody>
      </p:sp>
      <p:sp>
        <p:nvSpPr>
          <p:cNvPr id="25" name="Rounded Rectangle 24"/>
          <p:cNvSpPr/>
          <p:nvPr/>
        </p:nvSpPr>
        <p:spPr>
          <a:xfrm>
            <a:off x="3364992" y="1554480"/>
            <a:ext cx="2651760" cy="452628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47872" y="1664208"/>
            <a:ext cx="2377440" cy="365760"/>
          </a:xfrm>
          <a:prstGeom prst="rect">
            <a:avLst/>
          </a:prstGeom>
          <a:noFill/>
        </p:spPr>
        <p:txBody>
          <a:bodyPr wrap="square" lIns="0" rIns="0" tIns="0" bIns="0" anchor="t">
            <a:spAutoFit/>
          </a:bodyPr>
          <a:lstStyle/>
          <a:p>
            <a:pPr algn="l"/>
            <a:r>
              <a:rPr sz="1600" b="1" i="0">
                <a:solidFill>
                  <a:srgbClr val="14213D"/>
                </a:solidFill>
                <a:latin typeface="Calibri"/>
              </a:rPr>
              <a:t>System 2</a:t>
            </a:r>
          </a:p>
        </p:txBody>
      </p:sp>
      <p:sp>
        <p:nvSpPr>
          <p:cNvPr id="27" name="TextBox 26"/>
          <p:cNvSpPr txBox="1"/>
          <p:nvPr/>
        </p:nvSpPr>
        <p:spPr>
          <a:xfrm>
            <a:off x="3547872" y="2057400"/>
            <a:ext cx="2377440" cy="329184"/>
          </a:xfrm>
          <a:prstGeom prst="rect">
            <a:avLst/>
          </a:prstGeom>
          <a:noFill/>
        </p:spPr>
        <p:txBody>
          <a:bodyPr wrap="square" lIns="0" rIns="0" tIns="0" bIns="0" anchor="ctr">
            <a:spAutoFit/>
          </a:bodyPr>
          <a:lstStyle/>
          <a:p>
            <a:pPr algn="l"/>
            <a:r>
              <a:rPr sz="1500" b="0" i="0">
                <a:solidFill>
                  <a:srgbClr val="14213D"/>
                </a:solidFill>
                <a:latin typeface="Cambria"/>
              </a:rPr>
              <a:t>a + b + c = 0</a:t>
            </a:r>
          </a:p>
        </p:txBody>
      </p:sp>
      <p:sp>
        <p:nvSpPr>
          <p:cNvPr id="28" name="TextBox 27"/>
          <p:cNvSpPr txBox="1"/>
          <p:nvPr/>
        </p:nvSpPr>
        <p:spPr>
          <a:xfrm>
            <a:off x="3547872" y="2386584"/>
            <a:ext cx="2377440" cy="329184"/>
          </a:xfrm>
          <a:prstGeom prst="rect">
            <a:avLst/>
          </a:prstGeom>
          <a:noFill/>
        </p:spPr>
        <p:txBody>
          <a:bodyPr wrap="square" lIns="0" rIns="0" tIns="0" bIns="0" anchor="ctr">
            <a:spAutoFit/>
          </a:bodyPr>
          <a:lstStyle/>
          <a:p>
            <a:pPr algn="l"/>
            <a:r>
              <a:rPr sz="1500" b="0" i="0">
                <a:solidFill>
                  <a:srgbClr val="14213D"/>
                </a:solidFill>
                <a:latin typeface="Cambria"/>
              </a:rPr>
              <a:t>a + b + 2c = 0</a:t>
            </a:r>
          </a:p>
        </p:txBody>
      </p:sp>
      <p:sp>
        <p:nvSpPr>
          <p:cNvPr id="29" name="TextBox 28"/>
          <p:cNvSpPr txBox="1"/>
          <p:nvPr/>
        </p:nvSpPr>
        <p:spPr>
          <a:xfrm>
            <a:off x="3547872" y="2715768"/>
            <a:ext cx="2377440" cy="329184"/>
          </a:xfrm>
          <a:prstGeom prst="rect">
            <a:avLst/>
          </a:prstGeom>
          <a:noFill/>
        </p:spPr>
        <p:txBody>
          <a:bodyPr wrap="square" lIns="0" rIns="0" tIns="0" bIns="0" anchor="ctr">
            <a:spAutoFit/>
          </a:bodyPr>
          <a:lstStyle/>
          <a:p>
            <a:pPr algn="l"/>
            <a:r>
              <a:rPr sz="1500" b="0" i="0">
                <a:solidFill>
                  <a:srgbClr val="14213D"/>
                </a:solidFill>
                <a:latin typeface="Cambria"/>
              </a:rPr>
              <a:t>a + b + 3c = 0</a:t>
            </a:r>
          </a:p>
        </p:txBody>
      </p:sp>
      <p:sp>
        <p:nvSpPr>
          <p:cNvPr id="30" name="TextBox 29"/>
          <p:cNvSpPr txBox="1"/>
          <p:nvPr/>
        </p:nvSpPr>
        <p:spPr>
          <a:xfrm>
            <a:off x="3547872" y="3108960"/>
            <a:ext cx="2377440" cy="274320"/>
          </a:xfrm>
          <a:prstGeom prst="rect">
            <a:avLst/>
          </a:prstGeom>
          <a:noFill/>
        </p:spPr>
        <p:txBody>
          <a:bodyPr wrap="square" lIns="0" rIns="0" tIns="0" bIns="0" anchor="t">
            <a:spAutoFit/>
          </a:bodyPr>
          <a:lstStyle/>
          <a:p>
            <a:pPr algn="l"/>
            <a:r>
              <a:rPr sz="1300" b="0" i="0">
                <a:solidFill>
                  <a:srgbClr val="5B6675"/>
                </a:solidFill>
                <a:latin typeface="Calibri"/>
              </a:rPr>
              <a:t>3 equations</a:t>
            </a:r>
          </a:p>
        </p:txBody>
      </p:sp>
      <p:sp>
        <p:nvSpPr>
          <p:cNvPr id="31" name="TextBox 30"/>
          <p:cNvSpPr txBox="1"/>
          <p:nvPr/>
        </p:nvSpPr>
        <p:spPr>
          <a:xfrm>
            <a:off x="3547872" y="3383280"/>
            <a:ext cx="2377440" cy="365760"/>
          </a:xfrm>
          <a:prstGeom prst="rect">
            <a:avLst/>
          </a:prstGeom>
          <a:noFill/>
        </p:spPr>
        <p:txBody>
          <a:bodyPr wrap="square" lIns="0" rIns="0" tIns="0" bIns="0" anchor="t">
            <a:spAutoFit/>
          </a:bodyPr>
          <a:lstStyle/>
          <a:p>
            <a:pPr algn="l"/>
            <a:r>
              <a:rPr sz="1400" b="1" i="0">
                <a:solidFill>
                  <a:srgbClr val="1F6F8B"/>
                </a:solidFill>
                <a:latin typeface="Calibri"/>
              </a:rPr>
              <a:t>2 pieces of information</a:t>
            </a:r>
          </a:p>
        </p:txBody>
      </p:sp>
      <p:sp>
        <p:nvSpPr>
          <p:cNvPr id="32" name="Rectangle 31"/>
          <p:cNvSpPr/>
          <p:nvPr/>
        </p:nvSpPr>
        <p:spPr>
          <a:xfrm>
            <a:off x="3950207"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3" name="Rectangle 32"/>
          <p:cNvSpPr/>
          <p:nvPr/>
        </p:nvSpPr>
        <p:spPr>
          <a:xfrm>
            <a:off x="4370831"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4" name="Rectangle 33"/>
          <p:cNvSpPr/>
          <p:nvPr/>
        </p:nvSpPr>
        <p:spPr>
          <a:xfrm>
            <a:off x="4791455"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5" name="Rectangle 34"/>
          <p:cNvSpPr/>
          <p:nvPr/>
        </p:nvSpPr>
        <p:spPr>
          <a:xfrm>
            <a:off x="3950207"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6" name="Rectangle 35"/>
          <p:cNvSpPr/>
          <p:nvPr/>
        </p:nvSpPr>
        <p:spPr>
          <a:xfrm>
            <a:off x="4370831"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7" name="Rectangle 36"/>
          <p:cNvSpPr/>
          <p:nvPr/>
        </p:nvSpPr>
        <p:spPr>
          <a:xfrm>
            <a:off x="4791455"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2</a:t>
            </a:r>
          </a:p>
        </p:txBody>
      </p:sp>
      <p:sp>
        <p:nvSpPr>
          <p:cNvPr id="38" name="Rectangle 37"/>
          <p:cNvSpPr/>
          <p:nvPr/>
        </p:nvSpPr>
        <p:spPr>
          <a:xfrm>
            <a:off x="3950207"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9" name="Rectangle 38"/>
          <p:cNvSpPr/>
          <p:nvPr/>
        </p:nvSpPr>
        <p:spPr>
          <a:xfrm>
            <a:off x="4370831"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40" name="Rectangle 39"/>
          <p:cNvSpPr/>
          <p:nvPr/>
        </p:nvSpPr>
        <p:spPr>
          <a:xfrm>
            <a:off x="4791455"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3</a:t>
            </a:r>
          </a:p>
        </p:txBody>
      </p:sp>
      <p:sp>
        <p:nvSpPr>
          <p:cNvPr id="41" name="Left Bracket 40"/>
          <p:cNvSpPr/>
          <p:nvPr/>
        </p:nvSpPr>
        <p:spPr>
          <a:xfrm>
            <a:off x="3822191" y="3849624"/>
            <a:ext cx="128016" cy="11338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ight Bracket 41"/>
          <p:cNvSpPr/>
          <p:nvPr/>
        </p:nvSpPr>
        <p:spPr>
          <a:xfrm>
            <a:off x="5175504" y="3849624"/>
            <a:ext cx="128016" cy="11338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47872" y="5120640"/>
            <a:ext cx="2377440" cy="548640"/>
          </a:xfrm>
          <a:prstGeom prst="rect">
            <a:avLst/>
          </a:prstGeom>
          <a:noFill/>
        </p:spPr>
        <p:txBody>
          <a:bodyPr wrap="square" lIns="0" rIns="0" tIns="0" bIns="0" anchor="t">
            <a:spAutoFit/>
          </a:bodyPr>
          <a:lstStyle/>
          <a:p>
            <a:pPr algn="ctr"/>
            <a:r>
              <a:rPr sz="2400" b="1" i="0">
                <a:solidFill>
                  <a:srgbClr val="14213D"/>
                </a:solidFill>
                <a:latin typeface="Cambria"/>
              </a:rPr>
              <a:t>Rank 2</a:t>
            </a:r>
          </a:p>
        </p:txBody>
      </p:sp>
      <p:sp>
        <p:nvSpPr>
          <p:cNvPr id="44" name="Rounded Rectangle 43"/>
          <p:cNvSpPr/>
          <p:nvPr/>
        </p:nvSpPr>
        <p:spPr>
          <a:xfrm>
            <a:off x="6181344" y="1554480"/>
            <a:ext cx="2651760" cy="452628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64224" y="1664208"/>
            <a:ext cx="2377440" cy="365760"/>
          </a:xfrm>
          <a:prstGeom prst="rect">
            <a:avLst/>
          </a:prstGeom>
          <a:noFill/>
        </p:spPr>
        <p:txBody>
          <a:bodyPr wrap="square" lIns="0" rIns="0" tIns="0" bIns="0" anchor="t">
            <a:spAutoFit/>
          </a:bodyPr>
          <a:lstStyle/>
          <a:p>
            <a:pPr algn="l"/>
            <a:r>
              <a:rPr sz="1600" b="1" i="0">
                <a:solidFill>
                  <a:srgbClr val="14213D"/>
                </a:solidFill>
                <a:latin typeface="Calibri"/>
              </a:rPr>
              <a:t>System 3</a:t>
            </a:r>
          </a:p>
        </p:txBody>
      </p:sp>
      <p:sp>
        <p:nvSpPr>
          <p:cNvPr id="46" name="TextBox 45"/>
          <p:cNvSpPr txBox="1"/>
          <p:nvPr/>
        </p:nvSpPr>
        <p:spPr>
          <a:xfrm>
            <a:off x="6364224" y="2057400"/>
            <a:ext cx="2377440" cy="329184"/>
          </a:xfrm>
          <a:prstGeom prst="rect">
            <a:avLst/>
          </a:prstGeom>
          <a:noFill/>
        </p:spPr>
        <p:txBody>
          <a:bodyPr wrap="square" lIns="0" rIns="0" tIns="0" bIns="0" anchor="ctr">
            <a:spAutoFit/>
          </a:bodyPr>
          <a:lstStyle/>
          <a:p>
            <a:pPr algn="l"/>
            <a:r>
              <a:rPr sz="1500" b="0" i="0">
                <a:solidFill>
                  <a:srgbClr val="14213D"/>
                </a:solidFill>
                <a:latin typeface="Cambria"/>
              </a:rPr>
              <a:t>a + b + c = 0</a:t>
            </a:r>
          </a:p>
        </p:txBody>
      </p:sp>
      <p:sp>
        <p:nvSpPr>
          <p:cNvPr id="47" name="TextBox 46"/>
          <p:cNvSpPr txBox="1"/>
          <p:nvPr/>
        </p:nvSpPr>
        <p:spPr>
          <a:xfrm>
            <a:off x="6364224" y="2386584"/>
            <a:ext cx="2377440" cy="329184"/>
          </a:xfrm>
          <a:prstGeom prst="rect">
            <a:avLst/>
          </a:prstGeom>
          <a:noFill/>
        </p:spPr>
        <p:txBody>
          <a:bodyPr wrap="square" lIns="0" rIns="0" tIns="0" bIns="0" anchor="ctr">
            <a:spAutoFit/>
          </a:bodyPr>
          <a:lstStyle/>
          <a:p>
            <a:pPr algn="l"/>
            <a:r>
              <a:rPr sz="1500" b="0" i="0">
                <a:solidFill>
                  <a:srgbClr val="14213D"/>
                </a:solidFill>
                <a:latin typeface="Cambria"/>
              </a:rPr>
              <a:t>2a + 2b + 2c = 0</a:t>
            </a:r>
          </a:p>
        </p:txBody>
      </p:sp>
      <p:sp>
        <p:nvSpPr>
          <p:cNvPr id="48" name="TextBox 47"/>
          <p:cNvSpPr txBox="1"/>
          <p:nvPr/>
        </p:nvSpPr>
        <p:spPr>
          <a:xfrm>
            <a:off x="6364224" y="2715768"/>
            <a:ext cx="2377440" cy="329184"/>
          </a:xfrm>
          <a:prstGeom prst="rect">
            <a:avLst/>
          </a:prstGeom>
          <a:noFill/>
        </p:spPr>
        <p:txBody>
          <a:bodyPr wrap="square" lIns="0" rIns="0" tIns="0" bIns="0" anchor="ctr">
            <a:spAutoFit/>
          </a:bodyPr>
          <a:lstStyle/>
          <a:p>
            <a:pPr algn="l"/>
            <a:r>
              <a:rPr sz="1500" b="0" i="0">
                <a:solidFill>
                  <a:srgbClr val="14213D"/>
                </a:solidFill>
                <a:latin typeface="Cambria"/>
              </a:rPr>
              <a:t>3a + 3b + 3c = 0</a:t>
            </a:r>
          </a:p>
        </p:txBody>
      </p:sp>
      <p:sp>
        <p:nvSpPr>
          <p:cNvPr id="49" name="TextBox 48"/>
          <p:cNvSpPr txBox="1"/>
          <p:nvPr/>
        </p:nvSpPr>
        <p:spPr>
          <a:xfrm>
            <a:off x="6364224" y="3108960"/>
            <a:ext cx="2377440" cy="274320"/>
          </a:xfrm>
          <a:prstGeom prst="rect">
            <a:avLst/>
          </a:prstGeom>
          <a:noFill/>
        </p:spPr>
        <p:txBody>
          <a:bodyPr wrap="square" lIns="0" rIns="0" tIns="0" bIns="0" anchor="t">
            <a:spAutoFit/>
          </a:bodyPr>
          <a:lstStyle/>
          <a:p>
            <a:pPr algn="l"/>
            <a:r>
              <a:rPr sz="1300" b="0" i="0">
                <a:solidFill>
                  <a:srgbClr val="5B6675"/>
                </a:solidFill>
                <a:latin typeface="Calibri"/>
              </a:rPr>
              <a:t>3 equations</a:t>
            </a:r>
          </a:p>
        </p:txBody>
      </p:sp>
      <p:sp>
        <p:nvSpPr>
          <p:cNvPr id="50" name="TextBox 49"/>
          <p:cNvSpPr txBox="1"/>
          <p:nvPr/>
        </p:nvSpPr>
        <p:spPr>
          <a:xfrm>
            <a:off x="6364224" y="3383280"/>
            <a:ext cx="2377440" cy="365760"/>
          </a:xfrm>
          <a:prstGeom prst="rect">
            <a:avLst/>
          </a:prstGeom>
          <a:noFill/>
        </p:spPr>
        <p:txBody>
          <a:bodyPr wrap="square" lIns="0" rIns="0" tIns="0" bIns="0" anchor="t">
            <a:spAutoFit/>
          </a:bodyPr>
          <a:lstStyle/>
          <a:p>
            <a:pPr algn="l"/>
            <a:r>
              <a:rPr sz="1400" b="1" i="0">
                <a:solidFill>
                  <a:srgbClr val="1F6F8B"/>
                </a:solidFill>
                <a:latin typeface="Calibri"/>
              </a:rPr>
              <a:t>1 piece of information</a:t>
            </a:r>
          </a:p>
        </p:txBody>
      </p:sp>
      <p:sp>
        <p:nvSpPr>
          <p:cNvPr id="51" name="Rectangle 50"/>
          <p:cNvSpPr/>
          <p:nvPr/>
        </p:nvSpPr>
        <p:spPr>
          <a:xfrm>
            <a:off x="6766559"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52" name="Rectangle 51"/>
          <p:cNvSpPr/>
          <p:nvPr/>
        </p:nvSpPr>
        <p:spPr>
          <a:xfrm>
            <a:off x="7187183"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53" name="Rectangle 52"/>
          <p:cNvSpPr/>
          <p:nvPr/>
        </p:nvSpPr>
        <p:spPr>
          <a:xfrm>
            <a:off x="7607808"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54" name="Rectangle 53"/>
          <p:cNvSpPr/>
          <p:nvPr/>
        </p:nvSpPr>
        <p:spPr>
          <a:xfrm>
            <a:off x="6766559"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2</a:t>
            </a:r>
          </a:p>
        </p:txBody>
      </p:sp>
      <p:sp>
        <p:nvSpPr>
          <p:cNvPr id="55" name="Rectangle 54"/>
          <p:cNvSpPr/>
          <p:nvPr/>
        </p:nvSpPr>
        <p:spPr>
          <a:xfrm>
            <a:off x="7187183"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2</a:t>
            </a:r>
          </a:p>
        </p:txBody>
      </p:sp>
      <p:sp>
        <p:nvSpPr>
          <p:cNvPr id="56" name="Rectangle 55"/>
          <p:cNvSpPr/>
          <p:nvPr/>
        </p:nvSpPr>
        <p:spPr>
          <a:xfrm>
            <a:off x="7607808"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2</a:t>
            </a:r>
          </a:p>
        </p:txBody>
      </p:sp>
      <p:sp>
        <p:nvSpPr>
          <p:cNvPr id="57" name="Rectangle 56"/>
          <p:cNvSpPr/>
          <p:nvPr/>
        </p:nvSpPr>
        <p:spPr>
          <a:xfrm>
            <a:off x="6766559"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3</a:t>
            </a:r>
          </a:p>
        </p:txBody>
      </p:sp>
      <p:sp>
        <p:nvSpPr>
          <p:cNvPr id="58" name="Rectangle 57"/>
          <p:cNvSpPr/>
          <p:nvPr/>
        </p:nvSpPr>
        <p:spPr>
          <a:xfrm>
            <a:off x="7187183"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3</a:t>
            </a:r>
          </a:p>
        </p:txBody>
      </p:sp>
      <p:sp>
        <p:nvSpPr>
          <p:cNvPr id="59" name="Rectangle 58"/>
          <p:cNvSpPr/>
          <p:nvPr/>
        </p:nvSpPr>
        <p:spPr>
          <a:xfrm>
            <a:off x="7607808"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3</a:t>
            </a:r>
          </a:p>
        </p:txBody>
      </p:sp>
      <p:sp>
        <p:nvSpPr>
          <p:cNvPr id="60" name="Left Bracket 59"/>
          <p:cNvSpPr/>
          <p:nvPr/>
        </p:nvSpPr>
        <p:spPr>
          <a:xfrm>
            <a:off x="6638544" y="3849624"/>
            <a:ext cx="128016" cy="11338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ight Bracket 60"/>
          <p:cNvSpPr/>
          <p:nvPr/>
        </p:nvSpPr>
        <p:spPr>
          <a:xfrm>
            <a:off x="7991855" y="3849624"/>
            <a:ext cx="128016" cy="11338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4224" y="5120640"/>
            <a:ext cx="2377440" cy="548640"/>
          </a:xfrm>
          <a:prstGeom prst="rect">
            <a:avLst/>
          </a:prstGeom>
          <a:noFill/>
        </p:spPr>
        <p:txBody>
          <a:bodyPr wrap="square" lIns="0" rIns="0" tIns="0" bIns="0" anchor="t">
            <a:spAutoFit/>
          </a:bodyPr>
          <a:lstStyle/>
          <a:p>
            <a:pPr algn="ctr"/>
            <a:r>
              <a:rPr sz="2400" b="1" i="0">
                <a:solidFill>
                  <a:srgbClr val="14213D"/>
                </a:solidFill>
                <a:latin typeface="Cambria"/>
              </a:rPr>
              <a:t>Rank 1</a:t>
            </a:r>
          </a:p>
        </p:txBody>
      </p:sp>
      <p:sp>
        <p:nvSpPr>
          <p:cNvPr id="63" name="Rounded Rectangle 62"/>
          <p:cNvSpPr/>
          <p:nvPr/>
        </p:nvSpPr>
        <p:spPr>
          <a:xfrm>
            <a:off x="8997696" y="1554480"/>
            <a:ext cx="2651760" cy="452628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80576" y="1664208"/>
            <a:ext cx="2377440" cy="365760"/>
          </a:xfrm>
          <a:prstGeom prst="rect">
            <a:avLst/>
          </a:prstGeom>
          <a:noFill/>
        </p:spPr>
        <p:txBody>
          <a:bodyPr wrap="square" lIns="0" rIns="0" tIns="0" bIns="0" anchor="t">
            <a:spAutoFit/>
          </a:bodyPr>
          <a:lstStyle/>
          <a:p>
            <a:pPr algn="l"/>
            <a:r>
              <a:rPr sz="1600" b="1" i="0">
                <a:solidFill>
                  <a:srgbClr val="14213D"/>
                </a:solidFill>
                <a:latin typeface="Calibri"/>
              </a:rPr>
              <a:t>System 4</a:t>
            </a:r>
          </a:p>
        </p:txBody>
      </p:sp>
      <p:sp>
        <p:nvSpPr>
          <p:cNvPr id="65" name="TextBox 64"/>
          <p:cNvSpPr txBox="1"/>
          <p:nvPr/>
        </p:nvSpPr>
        <p:spPr>
          <a:xfrm>
            <a:off x="9180576" y="2057400"/>
            <a:ext cx="2377440" cy="329184"/>
          </a:xfrm>
          <a:prstGeom prst="rect">
            <a:avLst/>
          </a:prstGeom>
          <a:noFill/>
        </p:spPr>
        <p:txBody>
          <a:bodyPr wrap="square" lIns="0" rIns="0" tIns="0" bIns="0" anchor="ctr">
            <a:spAutoFit/>
          </a:bodyPr>
          <a:lstStyle/>
          <a:p>
            <a:pPr algn="l"/>
            <a:r>
              <a:rPr sz="1500" b="0" i="0">
                <a:solidFill>
                  <a:srgbClr val="14213D"/>
                </a:solidFill>
                <a:latin typeface="Cambria"/>
              </a:rPr>
              <a:t>0a + 0b + 0c = 0</a:t>
            </a:r>
          </a:p>
        </p:txBody>
      </p:sp>
      <p:sp>
        <p:nvSpPr>
          <p:cNvPr id="66" name="TextBox 65"/>
          <p:cNvSpPr txBox="1"/>
          <p:nvPr/>
        </p:nvSpPr>
        <p:spPr>
          <a:xfrm>
            <a:off x="9180576" y="2386584"/>
            <a:ext cx="2377440" cy="329184"/>
          </a:xfrm>
          <a:prstGeom prst="rect">
            <a:avLst/>
          </a:prstGeom>
          <a:noFill/>
        </p:spPr>
        <p:txBody>
          <a:bodyPr wrap="square" lIns="0" rIns="0" tIns="0" bIns="0" anchor="ctr">
            <a:spAutoFit/>
          </a:bodyPr>
          <a:lstStyle/>
          <a:p>
            <a:pPr algn="l"/>
            <a:r>
              <a:rPr sz="1500" b="0" i="0">
                <a:solidFill>
                  <a:srgbClr val="14213D"/>
                </a:solidFill>
                <a:latin typeface="Cambria"/>
              </a:rPr>
              <a:t>0a + 0b + 0c = 0</a:t>
            </a:r>
          </a:p>
        </p:txBody>
      </p:sp>
      <p:sp>
        <p:nvSpPr>
          <p:cNvPr id="67" name="TextBox 66"/>
          <p:cNvSpPr txBox="1"/>
          <p:nvPr/>
        </p:nvSpPr>
        <p:spPr>
          <a:xfrm>
            <a:off x="9180576" y="2715768"/>
            <a:ext cx="2377440" cy="329184"/>
          </a:xfrm>
          <a:prstGeom prst="rect">
            <a:avLst/>
          </a:prstGeom>
          <a:noFill/>
        </p:spPr>
        <p:txBody>
          <a:bodyPr wrap="square" lIns="0" rIns="0" tIns="0" bIns="0" anchor="ctr">
            <a:spAutoFit/>
          </a:bodyPr>
          <a:lstStyle/>
          <a:p>
            <a:pPr algn="l"/>
            <a:r>
              <a:rPr sz="1500" b="0" i="0">
                <a:solidFill>
                  <a:srgbClr val="14213D"/>
                </a:solidFill>
                <a:latin typeface="Cambria"/>
              </a:rPr>
              <a:t>0a + 0b + 0c = 0</a:t>
            </a:r>
          </a:p>
        </p:txBody>
      </p:sp>
      <p:sp>
        <p:nvSpPr>
          <p:cNvPr id="68" name="TextBox 67"/>
          <p:cNvSpPr txBox="1"/>
          <p:nvPr/>
        </p:nvSpPr>
        <p:spPr>
          <a:xfrm>
            <a:off x="9180576" y="3108960"/>
            <a:ext cx="2377440" cy="274320"/>
          </a:xfrm>
          <a:prstGeom prst="rect">
            <a:avLst/>
          </a:prstGeom>
          <a:noFill/>
        </p:spPr>
        <p:txBody>
          <a:bodyPr wrap="square" lIns="0" rIns="0" tIns="0" bIns="0" anchor="t">
            <a:spAutoFit/>
          </a:bodyPr>
          <a:lstStyle/>
          <a:p>
            <a:pPr algn="l"/>
            <a:r>
              <a:rPr sz="1300" b="0" i="0">
                <a:solidFill>
                  <a:srgbClr val="5B6675"/>
                </a:solidFill>
                <a:latin typeface="Calibri"/>
              </a:rPr>
              <a:t>3 equations</a:t>
            </a:r>
          </a:p>
        </p:txBody>
      </p:sp>
      <p:sp>
        <p:nvSpPr>
          <p:cNvPr id="69" name="TextBox 68"/>
          <p:cNvSpPr txBox="1"/>
          <p:nvPr/>
        </p:nvSpPr>
        <p:spPr>
          <a:xfrm>
            <a:off x="9180576" y="3383280"/>
            <a:ext cx="2377440" cy="365760"/>
          </a:xfrm>
          <a:prstGeom prst="rect">
            <a:avLst/>
          </a:prstGeom>
          <a:noFill/>
        </p:spPr>
        <p:txBody>
          <a:bodyPr wrap="square" lIns="0" rIns="0" tIns="0" bIns="0" anchor="t">
            <a:spAutoFit/>
          </a:bodyPr>
          <a:lstStyle/>
          <a:p>
            <a:pPr algn="l"/>
            <a:r>
              <a:rPr sz="1400" b="1" i="0">
                <a:solidFill>
                  <a:srgbClr val="1F6F8B"/>
                </a:solidFill>
                <a:latin typeface="Calibri"/>
              </a:rPr>
              <a:t>0 pieces of information</a:t>
            </a:r>
          </a:p>
        </p:txBody>
      </p:sp>
      <p:sp>
        <p:nvSpPr>
          <p:cNvPr id="70" name="Rectangle 69"/>
          <p:cNvSpPr/>
          <p:nvPr/>
        </p:nvSpPr>
        <p:spPr>
          <a:xfrm>
            <a:off x="9582912"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1" name="Rectangle 70"/>
          <p:cNvSpPr/>
          <p:nvPr/>
        </p:nvSpPr>
        <p:spPr>
          <a:xfrm>
            <a:off x="10003536"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2" name="Rectangle 71"/>
          <p:cNvSpPr/>
          <p:nvPr/>
        </p:nvSpPr>
        <p:spPr>
          <a:xfrm>
            <a:off x="10424160" y="388620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3" name="Rectangle 72"/>
          <p:cNvSpPr/>
          <p:nvPr/>
        </p:nvSpPr>
        <p:spPr>
          <a:xfrm>
            <a:off x="9582912"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4" name="Rectangle 73"/>
          <p:cNvSpPr/>
          <p:nvPr/>
        </p:nvSpPr>
        <p:spPr>
          <a:xfrm>
            <a:off x="10003536"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5" name="Rectangle 74"/>
          <p:cNvSpPr/>
          <p:nvPr/>
        </p:nvSpPr>
        <p:spPr>
          <a:xfrm>
            <a:off x="10424160" y="425196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6" name="Rectangle 75"/>
          <p:cNvSpPr/>
          <p:nvPr/>
        </p:nvSpPr>
        <p:spPr>
          <a:xfrm>
            <a:off x="9582912"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7" name="Rectangle 76"/>
          <p:cNvSpPr/>
          <p:nvPr/>
        </p:nvSpPr>
        <p:spPr>
          <a:xfrm>
            <a:off x="10003536"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8" name="Rectangle 77"/>
          <p:cNvSpPr/>
          <p:nvPr/>
        </p:nvSpPr>
        <p:spPr>
          <a:xfrm>
            <a:off x="10424160" y="4617720"/>
            <a:ext cx="384048"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79" name="Left Bracket 78"/>
          <p:cNvSpPr/>
          <p:nvPr/>
        </p:nvSpPr>
        <p:spPr>
          <a:xfrm>
            <a:off x="9454896" y="3849624"/>
            <a:ext cx="128016" cy="11338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ight Bracket 79"/>
          <p:cNvSpPr/>
          <p:nvPr/>
        </p:nvSpPr>
        <p:spPr>
          <a:xfrm>
            <a:off x="10808208" y="3849624"/>
            <a:ext cx="128016" cy="11338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180576" y="5120640"/>
            <a:ext cx="2377440" cy="548640"/>
          </a:xfrm>
          <a:prstGeom prst="rect">
            <a:avLst/>
          </a:prstGeom>
          <a:noFill/>
        </p:spPr>
        <p:txBody>
          <a:bodyPr wrap="square" lIns="0" rIns="0" tIns="0" bIns="0" anchor="t">
            <a:spAutoFit/>
          </a:bodyPr>
          <a:lstStyle/>
          <a:p>
            <a:pPr algn="ctr"/>
            <a:r>
              <a:rPr sz="2400" b="1" i="0">
                <a:solidFill>
                  <a:srgbClr val="14213D"/>
                </a:solidFill>
                <a:latin typeface="Cambria"/>
              </a:rPr>
              <a:t>Rank 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32</a:t>
            </a:r>
          </a:p>
        </p:txBody>
      </p:sp>
      <p:sp>
        <p:nvSpPr>
          <p:cNvPr id="4" name="TextBox 3"/>
          <p:cNvSpPr txBox="1"/>
          <p:nvPr/>
        </p:nvSpPr>
        <p:spPr>
          <a:xfrm>
            <a:off x="548640" y="1188720"/>
            <a:ext cx="10058400" cy="365760"/>
          </a:xfrm>
          <a:prstGeom prst="rect">
            <a:avLst/>
          </a:prstGeom>
          <a:noFill/>
        </p:spPr>
        <p:txBody>
          <a:bodyPr wrap="square" lIns="0" rIns="0" tIns="0" bIns="0" anchor="t">
            <a:spAutoFit/>
          </a:bodyPr>
          <a:lstStyle/>
          <a:p>
            <a:pPr algn="l"/>
            <a:r>
              <a:rPr sz="1600" b="1" i="0">
                <a:solidFill>
                  <a:srgbClr val="F2B263"/>
                </a:solidFill>
                <a:latin typeface="Calibri"/>
              </a:rPr>
              <a:t>QUESTION</a:t>
            </a:r>
          </a:p>
        </p:txBody>
      </p:sp>
      <p:sp>
        <p:nvSpPr>
          <p:cNvPr id="5" name="TextBox 4"/>
          <p:cNvSpPr txBox="1"/>
          <p:nvPr/>
        </p:nvSpPr>
        <p:spPr>
          <a:xfrm>
            <a:off x="548640" y="1645920"/>
            <a:ext cx="10515600" cy="914400"/>
          </a:xfrm>
          <a:prstGeom prst="rect">
            <a:avLst/>
          </a:prstGeom>
          <a:noFill/>
        </p:spPr>
        <p:txBody>
          <a:bodyPr wrap="square" lIns="0" rIns="0" tIns="0" bIns="0" anchor="t">
            <a:spAutoFit/>
          </a:bodyPr>
          <a:lstStyle/>
          <a:p>
            <a:pPr algn="l"/>
            <a:r>
              <a:rPr sz="4400" b="1" i="0">
                <a:solidFill>
                  <a:srgbClr val="FFFFFF"/>
                </a:solidFill>
                <a:latin typeface="Cambria"/>
              </a:rPr>
              <a:t>An easier way to compute the rank?</a:t>
            </a:r>
          </a:p>
        </p:txBody>
      </p:sp>
      <p:sp>
        <p:nvSpPr>
          <p:cNvPr id="6" name="TextBox 5"/>
          <p:cNvSpPr txBox="1"/>
          <p:nvPr/>
        </p:nvSpPr>
        <p:spPr>
          <a:xfrm>
            <a:off x="548640" y="3108960"/>
            <a:ext cx="10058400" cy="365760"/>
          </a:xfrm>
          <a:prstGeom prst="rect">
            <a:avLst/>
          </a:prstGeom>
          <a:noFill/>
        </p:spPr>
        <p:txBody>
          <a:bodyPr wrap="square" lIns="0" rIns="0" tIns="0" bIns="0" anchor="t">
            <a:spAutoFit/>
          </a:bodyPr>
          <a:lstStyle/>
          <a:p>
            <a:pPr algn="l"/>
            <a:r>
              <a:rPr sz="1600" b="1" i="0">
                <a:solidFill>
                  <a:srgbClr val="F2B263"/>
                </a:solidFill>
                <a:latin typeface="Calibri"/>
              </a:rPr>
              <a:t>ANSWER</a:t>
            </a:r>
          </a:p>
        </p:txBody>
      </p:sp>
      <p:sp>
        <p:nvSpPr>
          <p:cNvPr id="7" name="TextBox 6"/>
          <p:cNvSpPr txBox="1"/>
          <p:nvPr/>
        </p:nvSpPr>
        <p:spPr>
          <a:xfrm>
            <a:off x="548640" y="3566160"/>
            <a:ext cx="10515600" cy="2194560"/>
          </a:xfrm>
          <a:prstGeom prst="rect">
            <a:avLst/>
          </a:prstGeom>
          <a:noFill/>
        </p:spPr>
        <p:txBody>
          <a:bodyPr wrap="square" lIns="0" rIns="0" tIns="0" bIns="0" anchor="t">
            <a:spAutoFit/>
          </a:bodyPr>
          <a:lstStyle/>
          <a:p>
            <a:pPr algn="l">
              <a:lnSpc>
                <a:spcPct val="125000"/>
              </a:lnSpc>
            </a:pPr>
            <a:r>
              <a:rPr sz="2600" b="0" i="0">
                <a:solidFill>
                  <a:srgbClr val="BFD8D5"/>
                </a:solidFill>
                <a:latin typeface="Calibri"/>
              </a:rPr>
              <a:t>Yes. Bring the matrix to row echelon form and count the pivots. Equivalently, count the ones on the diagonal of its reduced row echelon form. The next part makes both forms precise.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33</a:t>
            </a:r>
          </a:p>
        </p:txBody>
      </p:sp>
      <p:sp>
        <p:nvSpPr>
          <p:cNvPr id="4" name="TextBox 3"/>
          <p:cNvSpPr txBox="1"/>
          <p:nvPr/>
        </p:nvSpPr>
        <p:spPr>
          <a:xfrm>
            <a:off x="548640" y="2011680"/>
            <a:ext cx="5486400" cy="365760"/>
          </a:xfrm>
          <a:prstGeom prst="rect">
            <a:avLst/>
          </a:prstGeom>
          <a:noFill/>
        </p:spPr>
        <p:txBody>
          <a:bodyPr wrap="square" lIns="0" rIns="0" tIns="0" bIns="0" anchor="t">
            <a:spAutoFit/>
          </a:bodyPr>
          <a:lstStyle/>
          <a:p>
            <a:pPr algn="l"/>
            <a:r>
              <a:rPr sz="1600" b="1" i="0">
                <a:solidFill>
                  <a:srgbClr val="F2B263"/>
                </a:solidFill>
                <a:latin typeface="Calibri"/>
              </a:rPr>
              <a:t>PART 4</a:t>
            </a:r>
          </a:p>
        </p:txBody>
      </p:sp>
      <p:sp>
        <p:nvSpPr>
          <p:cNvPr id="5" name="TextBox 4"/>
          <p:cNvSpPr txBox="1"/>
          <p:nvPr/>
        </p:nvSpPr>
        <p:spPr>
          <a:xfrm>
            <a:off x="548640" y="2468880"/>
            <a:ext cx="10515600" cy="1463040"/>
          </a:xfrm>
          <a:prstGeom prst="rect">
            <a:avLst/>
          </a:prstGeom>
          <a:noFill/>
        </p:spPr>
        <p:txBody>
          <a:bodyPr wrap="square" lIns="0" rIns="0" tIns="0" bIns="0" anchor="t">
            <a:spAutoFit/>
          </a:bodyPr>
          <a:lstStyle/>
          <a:p>
            <a:pPr algn="l"/>
            <a:r>
              <a:rPr sz="5400" b="1" i="0">
                <a:solidFill>
                  <a:srgbClr val="FFFFFF"/>
                </a:solidFill>
                <a:latin typeface="Cambria"/>
              </a:rPr>
              <a:t>Row echelon form</a:t>
            </a:r>
          </a:p>
        </p:txBody>
      </p:sp>
      <p:sp>
        <p:nvSpPr>
          <p:cNvPr id="6" name="TextBox 5"/>
          <p:cNvSpPr txBox="1"/>
          <p:nvPr/>
        </p:nvSpPr>
        <p:spPr>
          <a:xfrm>
            <a:off x="548640" y="4114800"/>
            <a:ext cx="8229600" cy="1097280"/>
          </a:xfrm>
          <a:prstGeom prst="rect">
            <a:avLst/>
          </a:prstGeom>
          <a:noFill/>
        </p:spPr>
        <p:txBody>
          <a:bodyPr wrap="square" lIns="0" rIns="0" tIns="0" bIns="0" anchor="t">
            <a:spAutoFit/>
          </a:bodyPr>
          <a:lstStyle/>
          <a:p>
            <a:pPr algn="l">
              <a:lnSpc>
                <a:spcPct val="120000"/>
              </a:lnSpc>
            </a:pPr>
            <a:r>
              <a:rPr sz="2000" b="0" i="0">
                <a:solidFill>
                  <a:srgbClr val="BFD8D5"/>
                </a:solidFill>
                <a:latin typeface="Calibri"/>
              </a:rPr>
              <a:t>A staircase shape that elimination always reaches, and the fastest way to read off the rank.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Row echelon form: definition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34</a:t>
            </a:r>
          </a:p>
        </p:txBody>
      </p:sp>
      <p:sp>
        <p:nvSpPr>
          <p:cNvPr id="6" name="Rounded Rectangle 5"/>
          <p:cNvSpPr/>
          <p:nvPr/>
        </p:nvSpPr>
        <p:spPr>
          <a:xfrm>
            <a:off x="548640" y="1417320"/>
            <a:ext cx="6400800" cy="30175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18488"/>
            <a:ext cx="585216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1929384"/>
            <a:ext cx="5852160" cy="2377439"/>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A matrix is in </a:t>
            </a:r>
            <a:r>
              <a:rPr sz="1700" b="1" i="0">
                <a:solidFill>
                  <a:srgbClr val="14213D"/>
                </a:solidFill>
                <a:latin typeface="Calibri"/>
              </a:rPr>
              <a:t>row echelon form</a:t>
            </a:r>
            <a:r>
              <a:rPr sz="1700" b="0" i="0">
                <a:solidFill>
                  <a:srgbClr val="14213D"/>
                </a:solidFill>
                <a:latin typeface="Calibri"/>
              </a:rPr>
              <a:t> if</a:t>
            </a:r>
          </a:p>
          <a:p>
            <a:pPr algn="l">
              <a:lnSpc>
                <a:spcPct val="115000"/>
              </a:lnSpc>
              <a:spcAft>
                <a:spcPts val="600"/>
              </a:spcAft>
            </a:pPr>
            <a:r>
              <a:rPr sz="1700" b="0" i="0">
                <a:solidFill>
                  <a:srgbClr val="14213D"/>
                </a:solidFill>
                <a:latin typeface="Calibri"/>
              </a:rPr>
              <a:t>(1)  all rows consisting entirely of zeros are at the bottom;</a:t>
            </a:r>
          </a:p>
          <a:p>
            <a:pPr algn="l">
              <a:lnSpc>
                <a:spcPct val="115000"/>
              </a:lnSpc>
              <a:spcAft>
                <a:spcPts val="600"/>
              </a:spcAft>
            </a:pPr>
            <a:r>
              <a:rPr sz="1700" b="0" i="0">
                <a:solidFill>
                  <a:srgbClr val="14213D"/>
                </a:solidFill>
                <a:latin typeface="Calibri"/>
              </a:rPr>
              <a:t>(2)  in each non-zero row the first non-zero entry, called the </a:t>
            </a:r>
            <a:r>
              <a:rPr sz="1700" b="1" i="0">
                <a:solidFill>
                  <a:srgbClr val="14213D"/>
                </a:solidFill>
                <a:latin typeface="Calibri"/>
              </a:rPr>
              <a:t>pivot</a:t>
            </a:r>
            <a:r>
              <a:rPr sz="1700" b="0" i="0">
                <a:solidFill>
                  <a:srgbClr val="14213D"/>
                </a:solidFill>
                <a:latin typeface="Calibri"/>
              </a:rPr>
              <a:t>, lies strictly to the right of the pivot of the row above.</a:t>
            </a:r>
          </a:p>
          <a:p>
            <a:pPr algn="l">
              <a:lnSpc>
                <a:spcPct val="115000"/>
              </a:lnSpc>
              <a:spcAft>
                <a:spcPts val="600"/>
              </a:spcAft>
            </a:pPr>
            <a:r>
              <a:rPr sz="1700" b="0" i="0">
                <a:solidFill>
                  <a:srgbClr val="14213D"/>
                </a:solidFill>
                <a:latin typeface="Calibri"/>
              </a:rPr>
              <a:t>The </a:t>
            </a:r>
            <a:r>
              <a:rPr sz="1700" b="1" i="0">
                <a:solidFill>
                  <a:srgbClr val="14213D"/>
                </a:solidFill>
                <a:latin typeface="Calibri"/>
              </a:rPr>
              <a:t>rank</a:t>
            </a:r>
            <a:r>
              <a:rPr sz="1700" b="0" i="0">
                <a:solidFill>
                  <a:srgbClr val="14213D"/>
                </a:solidFill>
                <a:latin typeface="Calibri"/>
              </a:rPr>
              <a:t> of a matrix is the number of pivots in its row echelon form.</a:t>
            </a:r>
          </a:p>
        </p:txBody>
      </p:sp>
      <p:sp>
        <p:nvSpPr>
          <p:cNvPr id="9" name="TextBox 8"/>
          <p:cNvSpPr txBox="1"/>
          <p:nvPr/>
        </p:nvSpPr>
        <p:spPr>
          <a:xfrm>
            <a:off x="548640" y="4617720"/>
            <a:ext cx="6400800" cy="1371600"/>
          </a:xfrm>
          <a:prstGeom prst="rect">
            <a:avLst/>
          </a:prstGeom>
          <a:noFill/>
        </p:spPr>
        <p:txBody>
          <a:bodyPr wrap="square" lIns="0" rIns="0" tIns="0" bIns="0" anchor="t">
            <a:spAutoFit/>
          </a:bodyPr>
          <a:lstStyle/>
          <a:p>
            <a:pPr algn="l">
              <a:lnSpc>
                <a:spcPct val="115000"/>
              </a:lnSpc>
            </a:pPr>
            <a:r>
              <a:rPr sz="1500" b="1" i="0">
                <a:solidFill>
                  <a:srgbClr val="5B6675"/>
                </a:solidFill>
                <a:latin typeface="Calibri"/>
              </a:rPr>
              <a:t>Note. </a:t>
            </a:r>
            <a:r>
              <a:rPr sz="1500" b="0" i="0">
                <a:solidFill>
                  <a:srgbClr val="5B6675"/>
                </a:solidFill>
                <a:latin typeface="Calibri"/>
              </a:rPr>
              <a:t>In general pivots other than 1 are allowed. In this class we divide each row by its pivot so that every pivot is 1; this makes no mathematical difference.</a:t>
            </a:r>
          </a:p>
        </p:txBody>
      </p:sp>
      <p:sp>
        <p:nvSpPr>
          <p:cNvPr id="10" name="Rectangle 9"/>
          <p:cNvSpPr/>
          <p:nvPr/>
        </p:nvSpPr>
        <p:spPr>
          <a:xfrm>
            <a:off x="7351776" y="155448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2</a:t>
            </a:r>
          </a:p>
        </p:txBody>
      </p:sp>
      <p:sp>
        <p:nvSpPr>
          <p:cNvPr id="11" name="Rectangle 10"/>
          <p:cNvSpPr/>
          <p:nvPr/>
        </p:nvSpPr>
        <p:spPr>
          <a:xfrm>
            <a:off x="7754112"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12" name="Rectangle 11"/>
          <p:cNvSpPr/>
          <p:nvPr/>
        </p:nvSpPr>
        <p:spPr>
          <a:xfrm>
            <a:off x="8156448"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13" name="Rectangle 12"/>
          <p:cNvSpPr/>
          <p:nvPr/>
        </p:nvSpPr>
        <p:spPr>
          <a:xfrm>
            <a:off x="8558784"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14" name="Rectangle 13"/>
          <p:cNvSpPr/>
          <p:nvPr/>
        </p:nvSpPr>
        <p:spPr>
          <a:xfrm>
            <a:off x="8961119"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15" name="Rectangle 14"/>
          <p:cNvSpPr/>
          <p:nvPr/>
        </p:nvSpPr>
        <p:spPr>
          <a:xfrm>
            <a:off x="7351776"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6" name="Rectangle 15"/>
          <p:cNvSpPr/>
          <p:nvPr/>
        </p:nvSpPr>
        <p:spPr>
          <a:xfrm>
            <a:off x="7754112" y="192024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7" name="Rectangle 16"/>
          <p:cNvSpPr/>
          <p:nvPr/>
        </p:nvSpPr>
        <p:spPr>
          <a:xfrm>
            <a:off x="8156448"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18" name="Rectangle 17"/>
          <p:cNvSpPr/>
          <p:nvPr/>
        </p:nvSpPr>
        <p:spPr>
          <a:xfrm>
            <a:off x="8558784"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19" name="Rectangle 18"/>
          <p:cNvSpPr/>
          <p:nvPr/>
        </p:nvSpPr>
        <p:spPr>
          <a:xfrm>
            <a:off x="8961119"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20" name="Rectangle 19"/>
          <p:cNvSpPr/>
          <p:nvPr/>
        </p:nvSpPr>
        <p:spPr>
          <a:xfrm>
            <a:off x="7351776"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1" name="Rectangle 20"/>
          <p:cNvSpPr/>
          <p:nvPr/>
        </p:nvSpPr>
        <p:spPr>
          <a:xfrm>
            <a:off x="7754112"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2" name="Rectangle 21"/>
          <p:cNvSpPr/>
          <p:nvPr/>
        </p:nvSpPr>
        <p:spPr>
          <a:xfrm>
            <a:off x="8156448" y="228600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3</a:t>
            </a:r>
          </a:p>
        </p:txBody>
      </p:sp>
      <p:sp>
        <p:nvSpPr>
          <p:cNvPr id="23" name="Rectangle 22"/>
          <p:cNvSpPr/>
          <p:nvPr/>
        </p:nvSpPr>
        <p:spPr>
          <a:xfrm>
            <a:off x="8558784"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24" name="Rectangle 23"/>
          <p:cNvSpPr/>
          <p:nvPr/>
        </p:nvSpPr>
        <p:spPr>
          <a:xfrm>
            <a:off x="8961119"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25" name="Rectangle 24"/>
          <p:cNvSpPr/>
          <p:nvPr/>
        </p:nvSpPr>
        <p:spPr>
          <a:xfrm>
            <a:off x="7351776"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6" name="Rectangle 25"/>
          <p:cNvSpPr/>
          <p:nvPr/>
        </p:nvSpPr>
        <p:spPr>
          <a:xfrm>
            <a:off x="7754112"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7" name="Rectangle 26"/>
          <p:cNvSpPr/>
          <p:nvPr/>
        </p:nvSpPr>
        <p:spPr>
          <a:xfrm>
            <a:off x="8156448"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8" name="Rectangle 27"/>
          <p:cNvSpPr/>
          <p:nvPr/>
        </p:nvSpPr>
        <p:spPr>
          <a:xfrm>
            <a:off x="8558784" y="265176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−5</a:t>
            </a:r>
          </a:p>
        </p:txBody>
      </p:sp>
      <p:sp>
        <p:nvSpPr>
          <p:cNvPr id="29" name="Rectangle 28"/>
          <p:cNvSpPr/>
          <p:nvPr/>
        </p:nvSpPr>
        <p:spPr>
          <a:xfrm>
            <a:off x="8961119"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30" name="Rectangle 29"/>
          <p:cNvSpPr/>
          <p:nvPr/>
        </p:nvSpPr>
        <p:spPr>
          <a:xfrm>
            <a:off x="7351776"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1" name="Rectangle 30"/>
          <p:cNvSpPr/>
          <p:nvPr/>
        </p:nvSpPr>
        <p:spPr>
          <a:xfrm>
            <a:off x="7754112"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2" name="Rectangle 31"/>
          <p:cNvSpPr/>
          <p:nvPr/>
        </p:nvSpPr>
        <p:spPr>
          <a:xfrm>
            <a:off x="8156448"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3" name="Rectangle 32"/>
          <p:cNvSpPr/>
          <p:nvPr/>
        </p:nvSpPr>
        <p:spPr>
          <a:xfrm>
            <a:off x="8558784"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4" name="Rectangle 33"/>
          <p:cNvSpPr/>
          <p:nvPr/>
        </p:nvSpPr>
        <p:spPr>
          <a:xfrm>
            <a:off x="8961119" y="301752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5" name="Left Bracket 34"/>
          <p:cNvSpPr/>
          <p:nvPr/>
        </p:nvSpPr>
        <p:spPr>
          <a:xfrm>
            <a:off x="7223760" y="1517904"/>
            <a:ext cx="128016" cy="1865375"/>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Bracket 35"/>
          <p:cNvSpPr/>
          <p:nvPr/>
        </p:nvSpPr>
        <p:spPr>
          <a:xfrm>
            <a:off x="9326880" y="1517904"/>
            <a:ext cx="128016" cy="1865375"/>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3456432"/>
            <a:ext cx="3328416" cy="548640"/>
          </a:xfrm>
          <a:prstGeom prst="rect">
            <a:avLst/>
          </a:prstGeom>
          <a:noFill/>
        </p:spPr>
        <p:txBody>
          <a:bodyPr wrap="square" lIns="0" rIns="0" tIns="0" bIns="0" anchor="t">
            <a:spAutoFit/>
          </a:bodyPr>
          <a:lstStyle/>
          <a:p>
            <a:pPr algn="ctr"/>
            <a:r>
              <a:rPr sz="1500" b="0" i="0">
                <a:solidFill>
                  <a:srgbClr val="14213D"/>
                </a:solidFill>
                <a:latin typeface="Calibri"/>
              </a:rPr>
              <a:t>Rank 5</a:t>
            </a:r>
          </a:p>
        </p:txBody>
      </p:sp>
      <p:sp>
        <p:nvSpPr>
          <p:cNvPr id="38" name="Rectangle 37"/>
          <p:cNvSpPr/>
          <p:nvPr/>
        </p:nvSpPr>
        <p:spPr>
          <a:xfrm>
            <a:off x="9729216" y="155448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3</a:t>
            </a:r>
          </a:p>
        </p:txBody>
      </p:sp>
      <p:sp>
        <p:nvSpPr>
          <p:cNvPr id="39" name="Rectangle 38"/>
          <p:cNvSpPr/>
          <p:nvPr/>
        </p:nvSpPr>
        <p:spPr>
          <a:xfrm>
            <a:off x="10131552"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0" name="Rectangle 39"/>
          <p:cNvSpPr/>
          <p:nvPr/>
        </p:nvSpPr>
        <p:spPr>
          <a:xfrm>
            <a:off x="10533888"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1" name="Rectangle 40"/>
          <p:cNvSpPr/>
          <p:nvPr/>
        </p:nvSpPr>
        <p:spPr>
          <a:xfrm>
            <a:off x="10936224"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2" name="Rectangle 41"/>
          <p:cNvSpPr/>
          <p:nvPr/>
        </p:nvSpPr>
        <p:spPr>
          <a:xfrm>
            <a:off x="11338559"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3" name="Rectangle 42"/>
          <p:cNvSpPr/>
          <p:nvPr/>
        </p:nvSpPr>
        <p:spPr>
          <a:xfrm>
            <a:off x="9729216"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4" name="Rectangle 43"/>
          <p:cNvSpPr/>
          <p:nvPr/>
        </p:nvSpPr>
        <p:spPr>
          <a:xfrm>
            <a:off x="10131552"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5" name="Rectangle 44"/>
          <p:cNvSpPr/>
          <p:nvPr/>
        </p:nvSpPr>
        <p:spPr>
          <a:xfrm>
            <a:off x="10533888" y="192024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46" name="Rectangle 45"/>
          <p:cNvSpPr/>
          <p:nvPr/>
        </p:nvSpPr>
        <p:spPr>
          <a:xfrm>
            <a:off x="10936224"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7" name="Rectangle 46"/>
          <p:cNvSpPr/>
          <p:nvPr/>
        </p:nvSpPr>
        <p:spPr>
          <a:xfrm>
            <a:off x="11338559"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8" name="Rectangle 47"/>
          <p:cNvSpPr/>
          <p:nvPr/>
        </p:nvSpPr>
        <p:spPr>
          <a:xfrm>
            <a:off x="9729216"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9" name="Rectangle 48"/>
          <p:cNvSpPr/>
          <p:nvPr/>
        </p:nvSpPr>
        <p:spPr>
          <a:xfrm>
            <a:off x="10131552"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0" name="Rectangle 49"/>
          <p:cNvSpPr/>
          <p:nvPr/>
        </p:nvSpPr>
        <p:spPr>
          <a:xfrm>
            <a:off x="10533888"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1" name="Rectangle 50"/>
          <p:cNvSpPr/>
          <p:nvPr/>
        </p:nvSpPr>
        <p:spPr>
          <a:xfrm>
            <a:off x="10936224" y="228600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−4</a:t>
            </a:r>
          </a:p>
        </p:txBody>
      </p:sp>
      <p:sp>
        <p:nvSpPr>
          <p:cNvPr id="52" name="Rectangle 51"/>
          <p:cNvSpPr/>
          <p:nvPr/>
        </p:nvSpPr>
        <p:spPr>
          <a:xfrm>
            <a:off x="11338559"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53" name="Rectangle 52"/>
          <p:cNvSpPr/>
          <p:nvPr/>
        </p:nvSpPr>
        <p:spPr>
          <a:xfrm>
            <a:off x="9729216"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4" name="Rectangle 53"/>
          <p:cNvSpPr/>
          <p:nvPr/>
        </p:nvSpPr>
        <p:spPr>
          <a:xfrm>
            <a:off x="10131552"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5" name="Rectangle 54"/>
          <p:cNvSpPr/>
          <p:nvPr/>
        </p:nvSpPr>
        <p:spPr>
          <a:xfrm>
            <a:off x="10533888"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6" name="Rectangle 55"/>
          <p:cNvSpPr/>
          <p:nvPr/>
        </p:nvSpPr>
        <p:spPr>
          <a:xfrm>
            <a:off x="10936224"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7" name="Rectangle 56"/>
          <p:cNvSpPr/>
          <p:nvPr/>
        </p:nvSpPr>
        <p:spPr>
          <a:xfrm>
            <a:off x="11338559"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8" name="Rectangle 57"/>
          <p:cNvSpPr/>
          <p:nvPr/>
        </p:nvSpPr>
        <p:spPr>
          <a:xfrm>
            <a:off x="9729216"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9" name="Rectangle 58"/>
          <p:cNvSpPr/>
          <p:nvPr/>
        </p:nvSpPr>
        <p:spPr>
          <a:xfrm>
            <a:off x="10131552"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0" name="Rectangle 59"/>
          <p:cNvSpPr/>
          <p:nvPr/>
        </p:nvSpPr>
        <p:spPr>
          <a:xfrm>
            <a:off x="10533888"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1" name="Rectangle 60"/>
          <p:cNvSpPr/>
          <p:nvPr/>
        </p:nvSpPr>
        <p:spPr>
          <a:xfrm>
            <a:off x="10936224"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2" name="Rectangle 61"/>
          <p:cNvSpPr/>
          <p:nvPr/>
        </p:nvSpPr>
        <p:spPr>
          <a:xfrm>
            <a:off x="11338559"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3" name="Left Bracket 62"/>
          <p:cNvSpPr/>
          <p:nvPr/>
        </p:nvSpPr>
        <p:spPr>
          <a:xfrm>
            <a:off x="9601200" y="1517904"/>
            <a:ext cx="128016" cy="1865375"/>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ight Bracket 63"/>
          <p:cNvSpPr/>
          <p:nvPr/>
        </p:nvSpPr>
        <p:spPr>
          <a:xfrm>
            <a:off x="11704320" y="1517904"/>
            <a:ext cx="128016" cy="1865375"/>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52560" y="3456432"/>
            <a:ext cx="3328416" cy="548640"/>
          </a:xfrm>
          <a:prstGeom prst="rect">
            <a:avLst/>
          </a:prstGeom>
          <a:noFill/>
        </p:spPr>
        <p:txBody>
          <a:bodyPr wrap="square" lIns="0" rIns="0" tIns="0" bIns="0" anchor="t">
            <a:spAutoFit/>
          </a:bodyPr>
          <a:lstStyle/>
          <a:p>
            <a:pPr algn="ctr"/>
            <a:r>
              <a:rPr sz="1500" b="0" i="0">
                <a:solidFill>
                  <a:srgbClr val="14213D"/>
                </a:solidFill>
                <a:latin typeface="Calibri"/>
              </a:rPr>
              <a:t>Rank 3</a:t>
            </a:r>
          </a:p>
        </p:txBody>
      </p:sp>
      <p:sp>
        <p:nvSpPr>
          <p:cNvPr id="66" name="TextBox 65"/>
          <p:cNvSpPr txBox="1"/>
          <p:nvPr/>
        </p:nvSpPr>
        <p:spPr>
          <a:xfrm>
            <a:off x="7223760" y="4114800"/>
            <a:ext cx="4480560" cy="1828800"/>
          </a:xfrm>
          <a:prstGeom prst="rect">
            <a:avLst/>
          </a:prstGeom>
          <a:noFill/>
        </p:spPr>
        <p:txBody>
          <a:bodyPr wrap="square" lIns="0" rIns="0" tIns="0" bIns="0" anchor="t">
            <a:spAutoFit/>
          </a:bodyPr>
          <a:lstStyle/>
          <a:p>
            <a:pPr algn="l">
              <a:lnSpc>
                <a:spcPct val="115000"/>
              </a:lnSpc>
              <a:spcAft>
                <a:spcPts val="400"/>
              </a:spcAft>
            </a:pPr>
            <a:r>
              <a:rPr sz="1400" b="0" i="0">
                <a:solidFill>
                  <a:srgbClr val="5B6675"/>
                </a:solidFill>
                <a:latin typeface="Calibri"/>
              </a:rPr>
              <a:t>•  Zero rows sit at the bottom.</a:t>
            </a:r>
          </a:p>
          <a:p>
            <a:pPr algn="l">
              <a:lnSpc>
                <a:spcPct val="115000"/>
              </a:lnSpc>
              <a:spcAft>
                <a:spcPts val="400"/>
              </a:spcAft>
            </a:pPr>
            <a:r>
              <a:rPr sz="1400" b="0" i="0">
                <a:solidFill>
                  <a:srgbClr val="5B6675"/>
                </a:solidFill>
                <a:latin typeface="Calibri"/>
              </a:rPr>
              <a:t>•  Each non-zero row has a pivot (its leftmost non-zero entry).</a:t>
            </a:r>
          </a:p>
          <a:p>
            <a:pPr algn="l">
              <a:lnSpc>
                <a:spcPct val="115000"/>
              </a:lnSpc>
              <a:spcAft>
                <a:spcPts val="400"/>
              </a:spcAft>
            </a:pPr>
            <a:r>
              <a:rPr sz="1400" b="0" i="0">
                <a:solidFill>
                  <a:srgbClr val="5B6675"/>
                </a:solidFill>
                <a:latin typeface="Calibri"/>
              </a:rPr>
              <a:t>•  Every pivot is to the right of the pivots above it: a staircase.</a:t>
            </a:r>
          </a:p>
          <a:p>
            <a:pPr algn="l">
              <a:lnSpc>
                <a:spcPct val="115000"/>
              </a:lnSpc>
              <a:spcAft>
                <a:spcPts val="400"/>
              </a:spcAft>
            </a:pPr>
            <a:r>
              <a:rPr sz="1400" b="0" i="0">
                <a:solidFill>
                  <a:srgbClr val="5B6675"/>
                </a:solidFill>
                <a:latin typeface="Calibri"/>
              </a:rPr>
              <a:t>•  The rank is the number of pivots: 5 and 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Reaching row echelon form, step by step</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35</a:t>
            </a:r>
          </a:p>
        </p:txBody>
      </p:sp>
      <p:sp>
        <p:nvSpPr>
          <p:cNvPr id="6" name="Rectangle 5"/>
          <p:cNvSpPr/>
          <p:nvPr/>
        </p:nvSpPr>
        <p:spPr>
          <a:xfrm>
            <a:off x="859536" y="2194560"/>
            <a:ext cx="56692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5</a:t>
            </a:r>
          </a:p>
        </p:txBody>
      </p:sp>
      <p:sp>
        <p:nvSpPr>
          <p:cNvPr id="7" name="Rectangle 6"/>
          <p:cNvSpPr/>
          <p:nvPr/>
        </p:nvSpPr>
        <p:spPr>
          <a:xfrm>
            <a:off x="1472184" y="2194560"/>
            <a:ext cx="56692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8" name="Rectangle 7"/>
          <p:cNvSpPr/>
          <p:nvPr/>
        </p:nvSpPr>
        <p:spPr>
          <a:xfrm>
            <a:off x="859536" y="2715768"/>
            <a:ext cx="56692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4</a:t>
            </a:r>
          </a:p>
        </p:txBody>
      </p:sp>
      <p:sp>
        <p:nvSpPr>
          <p:cNvPr id="9" name="Rectangle 8"/>
          <p:cNvSpPr/>
          <p:nvPr/>
        </p:nvSpPr>
        <p:spPr>
          <a:xfrm>
            <a:off x="1472184" y="2715768"/>
            <a:ext cx="56692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−3</a:t>
            </a:r>
          </a:p>
        </p:txBody>
      </p:sp>
      <p:sp>
        <p:nvSpPr>
          <p:cNvPr id="10" name="Left Bracket 9"/>
          <p:cNvSpPr/>
          <p:nvPr/>
        </p:nvSpPr>
        <p:spPr>
          <a:xfrm>
            <a:off x="731520" y="2157984"/>
            <a:ext cx="128016" cy="106984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Bracket 10"/>
          <p:cNvSpPr/>
          <p:nvPr/>
        </p:nvSpPr>
        <p:spPr>
          <a:xfrm>
            <a:off x="2039112" y="2157984"/>
            <a:ext cx="128016" cy="106984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3300984"/>
            <a:ext cx="2532888" cy="548640"/>
          </a:xfrm>
          <a:prstGeom prst="rect">
            <a:avLst/>
          </a:prstGeom>
          <a:noFill/>
        </p:spPr>
        <p:txBody>
          <a:bodyPr wrap="square" lIns="0" rIns="0" tIns="0" bIns="0" anchor="t">
            <a:spAutoFit/>
          </a:bodyPr>
          <a:lstStyle/>
          <a:p>
            <a:pPr algn="ctr"/>
            <a:r>
              <a:rPr sz="1400" b="0" i="0">
                <a:solidFill>
                  <a:srgbClr val="5B6675"/>
                </a:solidFill>
                <a:latin typeface="Calibri"/>
              </a:rPr>
              <a:t>Original matrix</a:t>
            </a:r>
          </a:p>
        </p:txBody>
      </p:sp>
      <p:sp>
        <p:nvSpPr>
          <p:cNvPr id="13" name="Right Arrow 12"/>
          <p:cNvSpPr/>
          <p:nvPr/>
        </p:nvSpPr>
        <p:spPr>
          <a:xfrm>
            <a:off x="2514600" y="2514600"/>
            <a:ext cx="1005840" cy="329184"/>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2898648"/>
            <a:ext cx="1005840" cy="731520"/>
          </a:xfrm>
          <a:prstGeom prst="rect">
            <a:avLst/>
          </a:prstGeom>
          <a:noFill/>
        </p:spPr>
        <p:txBody>
          <a:bodyPr wrap="square" lIns="0" rIns="0" tIns="0" bIns="0" anchor="t">
            <a:spAutoFit/>
          </a:bodyPr>
          <a:lstStyle/>
          <a:p>
            <a:pPr algn="ctr"/>
            <a:r>
              <a:rPr sz="1400" b="0" i="0">
                <a:solidFill>
                  <a:srgbClr val="5B6675"/>
                </a:solidFill>
                <a:latin typeface="Calibri"/>
              </a:rPr>
              <a:t>step 1</a:t>
            </a:r>
          </a:p>
        </p:txBody>
      </p:sp>
      <p:sp>
        <p:nvSpPr>
          <p:cNvPr id="15" name="Rectangle 14"/>
          <p:cNvSpPr/>
          <p:nvPr/>
        </p:nvSpPr>
        <p:spPr>
          <a:xfrm>
            <a:off x="4014215" y="2194560"/>
            <a:ext cx="65836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16" name="Rectangle 15"/>
          <p:cNvSpPr/>
          <p:nvPr/>
        </p:nvSpPr>
        <p:spPr>
          <a:xfrm>
            <a:off x="4718304" y="2194560"/>
            <a:ext cx="65836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0.2</a:t>
            </a:r>
          </a:p>
        </p:txBody>
      </p:sp>
      <p:sp>
        <p:nvSpPr>
          <p:cNvPr id="17" name="Rectangle 16"/>
          <p:cNvSpPr/>
          <p:nvPr/>
        </p:nvSpPr>
        <p:spPr>
          <a:xfrm>
            <a:off x="4014215" y="2715768"/>
            <a:ext cx="65836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18" name="Rectangle 17"/>
          <p:cNvSpPr/>
          <p:nvPr/>
        </p:nvSpPr>
        <p:spPr>
          <a:xfrm>
            <a:off x="4718304" y="2715768"/>
            <a:ext cx="65836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−0.75</a:t>
            </a:r>
          </a:p>
        </p:txBody>
      </p:sp>
      <p:sp>
        <p:nvSpPr>
          <p:cNvPr id="19" name="Left Bracket 18"/>
          <p:cNvSpPr/>
          <p:nvPr/>
        </p:nvSpPr>
        <p:spPr>
          <a:xfrm>
            <a:off x="3886200" y="2157984"/>
            <a:ext cx="128016" cy="106984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Bracket 19"/>
          <p:cNvSpPr/>
          <p:nvPr/>
        </p:nvSpPr>
        <p:spPr>
          <a:xfrm>
            <a:off x="5376672" y="2157984"/>
            <a:ext cx="128016" cy="106984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5897880" y="2514600"/>
            <a:ext cx="1005840" cy="329184"/>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97880" y="2898648"/>
            <a:ext cx="1005840" cy="731520"/>
          </a:xfrm>
          <a:prstGeom prst="rect">
            <a:avLst/>
          </a:prstGeom>
          <a:noFill/>
        </p:spPr>
        <p:txBody>
          <a:bodyPr wrap="square" lIns="0" rIns="0" tIns="0" bIns="0" anchor="t">
            <a:spAutoFit/>
          </a:bodyPr>
          <a:lstStyle/>
          <a:p>
            <a:pPr algn="ctr"/>
            <a:r>
              <a:rPr sz="1400" b="0" i="0">
                <a:solidFill>
                  <a:srgbClr val="5B6675"/>
                </a:solidFill>
                <a:latin typeface="Calibri"/>
              </a:rPr>
              <a:t>step 2</a:t>
            </a:r>
          </a:p>
        </p:txBody>
      </p:sp>
      <p:sp>
        <p:nvSpPr>
          <p:cNvPr id="23" name="Rectangle 22"/>
          <p:cNvSpPr/>
          <p:nvPr/>
        </p:nvSpPr>
        <p:spPr>
          <a:xfrm>
            <a:off x="7397496" y="2194560"/>
            <a:ext cx="65836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24" name="Rectangle 23"/>
          <p:cNvSpPr/>
          <p:nvPr/>
        </p:nvSpPr>
        <p:spPr>
          <a:xfrm>
            <a:off x="8101583" y="2194560"/>
            <a:ext cx="658368"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0.2</a:t>
            </a:r>
          </a:p>
        </p:txBody>
      </p:sp>
      <p:sp>
        <p:nvSpPr>
          <p:cNvPr id="25" name="Rectangle 24"/>
          <p:cNvSpPr/>
          <p:nvPr/>
        </p:nvSpPr>
        <p:spPr>
          <a:xfrm>
            <a:off x="7397496" y="2715768"/>
            <a:ext cx="658368"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26" name="Rectangle 25"/>
          <p:cNvSpPr/>
          <p:nvPr/>
        </p:nvSpPr>
        <p:spPr>
          <a:xfrm>
            <a:off x="8101583" y="2715768"/>
            <a:ext cx="658368"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−0.95</a:t>
            </a:r>
          </a:p>
        </p:txBody>
      </p:sp>
      <p:sp>
        <p:nvSpPr>
          <p:cNvPr id="27" name="Left Bracket 26"/>
          <p:cNvSpPr/>
          <p:nvPr/>
        </p:nvSpPr>
        <p:spPr>
          <a:xfrm>
            <a:off x="7269480" y="2157984"/>
            <a:ext cx="128016" cy="106984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Bracket 27"/>
          <p:cNvSpPr/>
          <p:nvPr/>
        </p:nvSpPr>
        <p:spPr>
          <a:xfrm>
            <a:off x="8759952" y="2157984"/>
            <a:ext cx="128016" cy="106984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9281160" y="2514600"/>
            <a:ext cx="1005840" cy="329184"/>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81160" y="2898648"/>
            <a:ext cx="1005840" cy="731520"/>
          </a:xfrm>
          <a:prstGeom prst="rect">
            <a:avLst/>
          </a:prstGeom>
          <a:noFill/>
        </p:spPr>
        <p:txBody>
          <a:bodyPr wrap="square" lIns="0" rIns="0" tIns="0" bIns="0" anchor="t">
            <a:spAutoFit/>
          </a:bodyPr>
          <a:lstStyle/>
          <a:p>
            <a:pPr algn="ctr"/>
            <a:r>
              <a:rPr sz="1400" b="0" i="0">
                <a:solidFill>
                  <a:srgbClr val="5B6675"/>
                </a:solidFill>
                <a:latin typeface="Calibri"/>
              </a:rPr>
              <a:t>step 3</a:t>
            </a:r>
          </a:p>
        </p:txBody>
      </p:sp>
      <p:sp>
        <p:nvSpPr>
          <p:cNvPr id="31" name="Rectangle 30"/>
          <p:cNvSpPr/>
          <p:nvPr/>
        </p:nvSpPr>
        <p:spPr>
          <a:xfrm>
            <a:off x="10689336" y="2194560"/>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32" name="Rectangle 31"/>
          <p:cNvSpPr/>
          <p:nvPr/>
        </p:nvSpPr>
        <p:spPr>
          <a:xfrm>
            <a:off x="11283696" y="2194560"/>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0.2</a:t>
            </a:r>
          </a:p>
        </p:txBody>
      </p:sp>
      <p:sp>
        <p:nvSpPr>
          <p:cNvPr id="33" name="Rectangle 32"/>
          <p:cNvSpPr/>
          <p:nvPr/>
        </p:nvSpPr>
        <p:spPr>
          <a:xfrm>
            <a:off x="10689336" y="2715768"/>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34" name="Rectangle 33"/>
          <p:cNvSpPr/>
          <p:nvPr/>
        </p:nvSpPr>
        <p:spPr>
          <a:xfrm>
            <a:off x="11283696" y="2715768"/>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35" name="Left Bracket 34"/>
          <p:cNvSpPr/>
          <p:nvPr/>
        </p:nvSpPr>
        <p:spPr>
          <a:xfrm>
            <a:off x="10561320" y="2157984"/>
            <a:ext cx="128016" cy="106984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Bracket 35"/>
          <p:cNvSpPr/>
          <p:nvPr/>
        </p:nvSpPr>
        <p:spPr>
          <a:xfrm>
            <a:off x="11832336" y="2157984"/>
            <a:ext cx="128016" cy="106984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12680" y="3300984"/>
            <a:ext cx="2496312" cy="548640"/>
          </a:xfrm>
          <a:prstGeom prst="rect">
            <a:avLst/>
          </a:prstGeom>
          <a:noFill/>
        </p:spPr>
        <p:txBody>
          <a:bodyPr wrap="square" lIns="0" rIns="0" tIns="0" bIns="0" anchor="t">
            <a:spAutoFit/>
          </a:bodyPr>
          <a:lstStyle/>
          <a:p>
            <a:pPr algn="ctr"/>
            <a:r>
              <a:rPr sz="1400" b="0" i="0">
                <a:solidFill>
                  <a:srgbClr val="5B6675"/>
                </a:solidFill>
                <a:latin typeface="Calibri"/>
              </a:rPr>
              <a:t>Row echelon form</a:t>
            </a:r>
          </a:p>
        </p:txBody>
      </p:sp>
      <p:sp>
        <p:nvSpPr>
          <p:cNvPr id="38" name="Rounded Rectangle 37"/>
          <p:cNvSpPr/>
          <p:nvPr/>
        </p:nvSpPr>
        <p:spPr>
          <a:xfrm>
            <a:off x="548640" y="4023360"/>
            <a:ext cx="11064240" cy="20574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4160520"/>
            <a:ext cx="10515600" cy="274320"/>
          </a:xfrm>
          <a:prstGeom prst="rect">
            <a:avLst/>
          </a:prstGeom>
          <a:noFill/>
        </p:spPr>
        <p:txBody>
          <a:bodyPr wrap="square" lIns="0" rIns="0" tIns="0" bIns="0" anchor="t">
            <a:spAutoFit/>
          </a:bodyPr>
          <a:lstStyle/>
          <a:p>
            <a:pPr algn="l"/>
            <a:r>
              <a:rPr sz="1200" b="1" i="0">
                <a:solidFill>
                  <a:srgbClr val="1F6F8B"/>
                </a:solidFill>
                <a:latin typeface="Calibri"/>
              </a:rPr>
              <a:t>THE STEPS</a:t>
            </a:r>
          </a:p>
        </p:txBody>
      </p:sp>
      <p:sp>
        <p:nvSpPr>
          <p:cNvPr id="40" name="TextBox 39"/>
          <p:cNvSpPr txBox="1"/>
          <p:nvPr/>
        </p:nvSpPr>
        <p:spPr>
          <a:xfrm>
            <a:off x="822960" y="4480560"/>
            <a:ext cx="10515600" cy="1554480"/>
          </a:xfrm>
          <a:prstGeom prst="rect">
            <a:avLst/>
          </a:prstGeom>
          <a:noFill/>
        </p:spPr>
        <p:txBody>
          <a:bodyPr wrap="square" lIns="0" rIns="0" tIns="0" bIns="0" anchor="t">
            <a:spAutoFit/>
          </a:bodyPr>
          <a:lstStyle/>
          <a:p>
            <a:pPr algn="l">
              <a:spcAft>
                <a:spcPts val="800"/>
              </a:spcAft>
            </a:pPr>
            <a:r>
              <a:rPr sz="1700" b="1" i="0">
                <a:solidFill>
                  <a:srgbClr val="14213D"/>
                </a:solidFill>
                <a:latin typeface="Cambria"/>
              </a:rPr>
              <a:t>Step 1  </a:t>
            </a:r>
            <a:r>
              <a:rPr sz="1700" b="0" i="0">
                <a:solidFill>
                  <a:srgbClr val="14213D"/>
                </a:solidFill>
                <a:latin typeface="Cambria"/>
              </a:rPr>
              <a:t>divide each row by its leftmost coefficient:  5a + b = 17 becomes a + 0.2b = 3.4,  4a − 3b = 6 becomes a − 0.75b = 1.5</a:t>
            </a:r>
          </a:p>
          <a:p>
            <a:pPr algn="l">
              <a:spcAft>
                <a:spcPts val="800"/>
              </a:spcAft>
            </a:pPr>
            <a:r>
              <a:rPr sz="1700" b="1" i="0">
                <a:solidFill>
                  <a:srgbClr val="14213D"/>
                </a:solidFill>
                <a:latin typeface="Cambria"/>
              </a:rPr>
              <a:t>Step 2  </a:t>
            </a:r>
            <a:r>
              <a:rPr sz="1700" b="0" i="0">
                <a:solidFill>
                  <a:srgbClr val="14213D"/>
                </a:solidFill>
                <a:latin typeface="Cambria"/>
              </a:rPr>
              <a:t>subtract row 1 from row 2:  [ 1   −0.75 ]  −  [ 1   0.2 ]  =  [ 0   −0.95 ]</a:t>
            </a:r>
          </a:p>
          <a:p>
            <a:pPr algn="l">
              <a:spcAft>
                <a:spcPts val="800"/>
              </a:spcAft>
            </a:pPr>
            <a:r>
              <a:rPr sz="1700" b="1" i="0">
                <a:solidFill>
                  <a:srgbClr val="14213D"/>
                </a:solidFill>
                <a:latin typeface="Cambria"/>
              </a:rPr>
              <a:t>Step 3  </a:t>
            </a:r>
            <a:r>
              <a:rPr sz="1700" b="0" i="0">
                <a:solidFill>
                  <a:srgbClr val="14213D"/>
                </a:solidFill>
                <a:latin typeface="Cambria"/>
              </a:rPr>
              <a:t>divide row 2 by its leftmost non-zero coefficient:  [ 0   −0.95 ] ÷ (−0.95)  =  [ 0   1 ]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Row echelon form, singularity and rank</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36</a:t>
            </a:r>
          </a:p>
        </p:txBody>
      </p:sp>
      <p:sp>
        <p:nvSpPr>
          <p:cNvPr id="6" name="TextBox 5"/>
          <p:cNvSpPr txBox="1"/>
          <p:nvPr/>
        </p:nvSpPr>
        <p:spPr>
          <a:xfrm>
            <a:off x="548640" y="1874519"/>
            <a:ext cx="2926080" cy="457200"/>
          </a:xfrm>
          <a:prstGeom prst="rect">
            <a:avLst/>
          </a:prstGeom>
          <a:noFill/>
        </p:spPr>
        <p:txBody>
          <a:bodyPr wrap="square" lIns="0" rIns="0" tIns="0" bIns="0" anchor="t">
            <a:spAutoFit/>
          </a:bodyPr>
          <a:lstStyle/>
          <a:p>
            <a:pPr algn="l"/>
            <a:r>
              <a:rPr sz="1800" b="1" i="0">
                <a:solidFill>
                  <a:srgbClr val="14213D"/>
                </a:solidFill>
                <a:latin typeface="Calibri"/>
              </a:rPr>
              <a:t>Non-singular matrix</a:t>
            </a:r>
          </a:p>
        </p:txBody>
      </p:sp>
      <p:sp>
        <p:nvSpPr>
          <p:cNvPr id="7" name="Rectangle 6"/>
          <p:cNvSpPr/>
          <p:nvPr/>
        </p:nvSpPr>
        <p:spPr>
          <a:xfrm>
            <a:off x="3694176" y="160020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8" name="Rectangle 7"/>
          <p:cNvSpPr/>
          <p:nvPr/>
        </p:nvSpPr>
        <p:spPr>
          <a:xfrm>
            <a:off x="4251960" y="160020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9" name="Rectangle 8"/>
          <p:cNvSpPr/>
          <p:nvPr/>
        </p:nvSpPr>
        <p:spPr>
          <a:xfrm>
            <a:off x="3694176" y="208483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10" name="Rectangle 9"/>
          <p:cNvSpPr/>
          <p:nvPr/>
        </p:nvSpPr>
        <p:spPr>
          <a:xfrm>
            <a:off x="4251960" y="208483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−3</a:t>
            </a:r>
          </a:p>
        </p:txBody>
      </p:sp>
      <p:sp>
        <p:nvSpPr>
          <p:cNvPr id="11" name="Left Bracket 10"/>
          <p:cNvSpPr/>
          <p:nvPr/>
        </p:nvSpPr>
        <p:spPr>
          <a:xfrm>
            <a:off x="3566160" y="1563624"/>
            <a:ext cx="128016" cy="996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Bracket 11"/>
          <p:cNvSpPr/>
          <p:nvPr/>
        </p:nvSpPr>
        <p:spPr>
          <a:xfrm>
            <a:off x="4764024" y="1563624"/>
            <a:ext cx="128016" cy="996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5394960" y="1901952"/>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03136" y="1600200"/>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5" name="Rectangle 14"/>
          <p:cNvSpPr/>
          <p:nvPr/>
        </p:nvSpPr>
        <p:spPr>
          <a:xfrm>
            <a:off x="7360919" y="160020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0.2</a:t>
            </a:r>
          </a:p>
        </p:txBody>
      </p:sp>
      <p:sp>
        <p:nvSpPr>
          <p:cNvPr id="16" name="Rectangle 15"/>
          <p:cNvSpPr/>
          <p:nvPr/>
        </p:nvSpPr>
        <p:spPr>
          <a:xfrm>
            <a:off x="6803136" y="208483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17" name="Rectangle 16"/>
          <p:cNvSpPr/>
          <p:nvPr/>
        </p:nvSpPr>
        <p:spPr>
          <a:xfrm>
            <a:off x="7360919" y="2084832"/>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8" name="Left Bracket 17"/>
          <p:cNvSpPr/>
          <p:nvPr/>
        </p:nvSpPr>
        <p:spPr>
          <a:xfrm>
            <a:off x="6675120" y="1563624"/>
            <a:ext cx="128016" cy="996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Bracket 18"/>
          <p:cNvSpPr/>
          <p:nvPr/>
        </p:nvSpPr>
        <p:spPr>
          <a:xfrm>
            <a:off x="7872983" y="1563624"/>
            <a:ext cx="128016" cy="996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1645920"/>
            <a:ext cx="1645920" cy="457200"/>
          </a:xfrm>
          <a:prstGeom prst="rect">
            <a:avLst/>
          </a:prstGeom>
          <a:noFill/>
        </p:spPr>
        <p:txBody>
          <a:bodyPr wrap="square" lIns="0" rIns="0" tIns="0" bIns="0" anchor="t">
            <a:spAutoFit/>
          </a:bodyPr>
          <a:lstStyle/>
          <a:p>
            <a:pPr algn="l"/>
            <a:r>
              <a:rPr sz="1600" b="1" i="0">
                <a:solidFill>
                  <a:srgbClr val="1F6F8B"/>
                </a:solidFill>
                <a:latin typeface="Calibri"/>
              </a:rPr>
              <a:t>2 pivots</a:t>
            </a:r>
          </a:p>
        </p:txBody>
      </p:sp>
      <p:sp>
        <p:nvSpPr>
          <p:cNvPr id="21" name="TextBox 20"/>
          <p:cNvSpPr txBox="1"/>
          <p:nvPr/>
        </p:nvSpPr>
        <p:spPr>
          <a:xfrm>
            <a:off x="8503920" y="2057400"/>
            <a:ext cx="1645920" cy="457200"/>
          </a:xfrm>
          <a:prstGeom prst="rect">
            <a:avLst/>
          </a:prstGeom>
          <a:noFill/>
        </p:spPr>
        <p:txBody>
          <a:bodyPr wrap="square" lIns="0" rIns="0" tIns="0" bIns="0" anchor="t">
            <a:spAutoFit/>
          </a:bodyPr>
          <a:lstStyle/>
          <a:p>
            <a:pPr algn="l"/>
            <a:r>
              <a:rPr sz="1300" b="0" i="0">
                <a:solidFill>
                  <a:srgbClr val="5B6675"/>
                </a:solidFill>
                <a:latin typeface="Calibri"/>
              </a:rPr>
              <a:t>in the diagonal</a:t>
            </a:r>
          </a:p>
        </p:txBody>
      </p:sp>
      <p:sp>
        <p:nvSpPr>
          <p:cNvPr id="22" name="TextBox 21"/>
          <p:cNvSpPr txBox="1"/>
          <p:nvPr/>
        </p:nvSpPr>
        <p:spPr>
          <a:xfrm>
            <a:off x="10241280" y="1737360"/>
            <a:ext cx="1371600" cy="640080"/>
          </a:xfrm>
          <a:prstGeom prst="rect">
            <a:avLst/>
          </a:prstGeom>
          <a:noFill/>
        </p:spPr>
        <p:txBody>
          <a:bodyPr wrap="square" lIns="0" rIns="0" tIns="0" bIns="0" anchor="t">
            <a:spAutoFit/>
          </a:bodyPr>
          <a:lstStyle/>
          <a:p>
            <a:pPr algn="l"/>
            <a:r>
              <a:rPr sz="2600" b="1" i="0">
                <a:solidFill>
                  <a:srgbClr val="14213D"/>
                </a:solidFill>
                <a:latin typeface="Cambria"/>
              </a:rPr>
              <a:t>Rank 2</a:t>
            </a:r>
          </a:p>
        </p:txBody>
      </p:sp>
      <p:sp>
        <p:nvSpPr>
          <p:cNvPr id="23" name="TextBox 22"/>
          <p:cNvSpPr txBox="1"/>
          <p:nvPr/>
        </p:nvSpPr>
        <p:spPr>
          <a:xfrm>
            <a:off x="548640" y="3337560"/>
            <a:ext cx="2926080" cy="457200"/>
          </a:xfrm>
          <a:prstGeom prst="rect">
            <a:avLst/>
          </a:prstGeom>
          <a:noFill/>
        </p:spPr>
        <p:txBody>
          <a:bodyPr wrap="square" lIns="0" rIns="0" tIns="0" bIns="0" anchor="t">
            <a:spAutoFit/>
          </a:bodyPr>
          <a:lstStyle/>
          <a:p>
            <a:pPr algn="l"/>
            <a:r>
              <a:rPr sz="1800" b="1" i="0">
                <a:solidFill>
                  <a:srgbClr val="14213D"/>
                </a:solidFill>
                <a:latin typeface="Calibri"/>
              </a:rPr>
              <a:t>Singular matrix</a:t>
            </a:r>
          </a:p>
        </p:txBody>
      </p:sp>
      <p:sp>
        <p:nvSpPr>
          <p:cNvPr id="24" name="Rectangle 23"/>
          <p:cNvSpPr/>
          <p:nvPr/>
        </p:nvSpPr>
        <p:spPr>
          <a:xfrm>
            <a:off x="3694176" y="3063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25" name="Rectangle 24"/>
          <p:cNvSpPr/>
          <p:nvPr/>
        </p:nvSpPr>
        <p:spPr>
          <a:xfrm>
            <a:off x="4251960" y="3063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6" name="Rectangle 25"/>
          <p:cNvSpPr/>
          <p:nvPr/>
        </p:nvSpPr>
        <p:spPr>
          <a:xfrm>
            <a:off x="3694176" y="3547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10</a:t>
            </a:r>
          </a:p>
        </p:txBody>
      </p:sp>
      <p:sp>
        <p:nvSpPr>
          <p:cNvPr id="27" name="Rectangle 26"/>
          <p:cNvSpPr/>
          <p:nvPr/>
        </p:nvSpPr>
        <p:spPr>
          <a:xfrm>
            <a:off x="4251960" y="3547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28" name="Left Bracket 27"/>
          <p:cNvSpPr/>
          <p:nvPr/>
        </p:nvSpPr>
        <p:spPr>
          <a:xfrm>
            <a:off x="3566160" y="3026664"/>
            <a:ext cx="128016" cy="996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Bracket 28"/>
          <p:cNvSpPr/>
          <p:nvPr/>
        </p:nvSpPr>
        <p:spPr>
          <a:xfrm>
            <a:off x="4764024" y="3026664"/>
            <a:ext cx="128016" cy="996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5394960" y="3364992"/>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03136" y="3063240"/>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32" name="Rectangle 31"/>
          <p:cNvSpPr/>
          <p:nvPr/>
        </p:nvSpPr>
        <p:spPr>
          <a:xfrm>
            <a:off x="7360919" y="3063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0.2</a:t>
            </a:r>
          </a:p>
        </p:txBody>
      </p:sp>
      <p:sp>
        <p:nvSpPr>
          <p:cNvPr id="33" name="Rectangle 32"/>
          <p:cNvSpPr/>
          <p:nvPr/>
        </p:nvSpPr>
        <p:spPr>
          <a:xfrm>
            <a:off x="6803136" y="3547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4" name="Rectangle 33"/>
          <p:cNvSpPr/>
          <p:nvPr/>
        </p:nvSpPr>
        <p:spPr>
          <a:xfrm>
            <a:off x="7360919" y="3547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5" name="Left Bracket 34"/>
          <p:cNvSpPr/>
          <p:nvPr/>
        </p:nvSpPr>
        <p:spPr>
          <a:xfrm>
            <a:off x="6675120" y="3026664"/>
            <a:ext cx="128016" cy="996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Bracket 35"/>
          <p:cNvSpPr/>
          <p:nvPr/>
        </p:nvSpPr>
        <p:spPr>
          <a:xfrm>
            <a:off x="7872983" y="3026664"/>
            <a:ext cx="128016" cy="996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0" y="3108960"/>
            <a:ext cx="1645920" cy="457200"/>
          </a:xfrm>
          <a:prstGeom prst="rect">
            <a:avLst/>
          </a:prstGeom>
          <a:noFill/>
        </p:spPr>
        <p:txBody>
          <a:bodyPr wrap="square" lIns="0" rIns="0" tIns="0" bIns="0" anchor="t">
            <a:spAutoFit/>
          </a:bodyPr>
          <a:lstStyle/>
          <a:p>
            <a:pPr algn="l"/>
            <a:r>
              <a:rPr sz="1600" b="1" i="0">
                <a:solidFill>
                  <a:srgbClr val="1F6F8B"/>
                </a:solidFill>
                <a:latin typeface="Calibri"/>
              </a:rPr>
              <a:t>1 pivot</a:t>
            </a:r>
          </a:p>
        </p:txBody>
      </p:sp>
      <p:sp>
        <p:nvSpPr>
          <p:cNvPr id="38" name="TextBox 37"/>
          <p:cNvSpPr txBox="1"/>
          <p:nvPr/>
        </p:nvSpPr>
        <p:spPr>
          <a:xfrm>
            <a:off x="8503920" y="3520440"/>
            <a:ext cx="1645920" cy="457200"/>
          </a:xfrm>
          <a:prstGeom prst="rect">
            <a:avLst/>
          </a:prstGeom>
          <a:noFill/>
        </p:spPr>
        <p:txBody>
          <a:bodyPr wrap="square" lIns="0" rIns="0" tIns="0" bIns="0" anchor="t">
            <a:spAutoFit/>
          </a:bodyPr>
          <a:lstStyle/>
          <a:p>
            <a:pPr algn="l"/>
            <a:r>
              <a:rPr sz="1300" b="0" i="0">
                <a:solidFill>
                  <a:srgbClr val="5B6675"/>
                </a:solidFill>
                <a:latin typeface="Calibri"/>
              </a:rPr>
              <a:t>in the diagonal</a:t>
            </a:r>
          </a:p>
        </p:txBody>
      </p:sp>
      <p:sp>
        <p:nvSpPr>
          <p:cNvPr id="39" name="TextBox 38"/>
          <p:cNvSpPr txBox="1"/>
          <p:nvPr/>
        </p:nvSpPr>
        <p:spPr>
          <a:xfrm>
            <a:off x="10241280" y="3200400"/>
            <a:ext cx="1371600" cy="640080"/>
          </a:xfrm>
          <a:prstGeom prst="rect">
            <a:avLst/>
          </a:prstGeom>
          <a:noFill/>
        </p:spPr>
        <p:txBody>
          <a:bodyPr wrap="square" lIns="0" rIns="0" tIns="0" bIns="0" anchor="t">
            <a:spAutoFit/>
          </a:bodyPr>
          <a:lstStyle/>
          <a:p>
            <a:pPr algn="l"/>
            <a:r>
              <a:rPr sz="2600" b="1" i="0">
                <a:solidFill>
                  <a:srgbClr val="14213D"/>
                </a:solidFill>
                <a:latin typeface="Cambria"/>
              </a:rPr>
              <a:t>Rank 1</a:t>
            </a:r>
          </a:p>
        </p:txBody>
      </p:sp>
      <p:sp>
        <p:nvSpPr>
          <p:cNvPr id="40" name="TextBox 39"/>
          <p:cNvSpPr txBox="1"/>
          <p:nvPr/>
        </p:nvSpPr>
        <p:spPr>
          <a:xfrm>
            <a:off x="548640" y="4800600"/>
            <a:ext cx="2926080" cy="457200"/>
          </a:xfrm>
          <a:prstGeom prst="rect">
            <a:avLst/>
          </a:prstGeom>
          <a:noFill/>
        </p:spPr>
        <p:txBody>
          <a:bodyPr wrap="square" lIns="0" rIns="0" tIns="0" bIns="0" anchor="t">
            <a:spAutoFit/>
          </a:bodyPr>
          <a:lstStyle/>
          <a:p>
            <a:pPr algn="l"/>
            <a:r>
              <a:rPr sz="1800" b="1" i="0">
                <a:solidFill>
                  <a:srgbClr val="14213D"/>
                </a:solidFill>
                <a:latin typeface="Calibri"/>
              </a:rPr>
              <a:t>Singular matrix</a:t>
            </a:r>
          </a:p>
        </p:txBody>
      </p:sp>
      <p:sp>
        <p:nvSpPr>
          <p:cNvPr id="41" name="Rectangle 40"/>
          <p:cNvSpPr/>
          <p:nvPr/>
        </p:nvSpPr>
        <p:spPr>
          <a:xfrm>
            <a:off x="3694176" y="45262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2" name="Rectangle 41"/>
          <p:cNvSpPr/>
          <p:nvPr/>
        </p:nvSpPr>
        <p:spPr>
          <a:xfrm>
            <a:off x="4251960" y="45262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3" name="Rectangle 42"/>
          <p:cNvSpPr/>
          <p:nvPr/>
        </p:nvSpPr>
        <p:spPr>
          <a:xfrm>
            <a:off x="3694176" y="50109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4" name="Rectangle 43"/>
          <p:cNvSpPr/>
          <p:nvPr/>
        </p:nvSpPr>
        <p:spPr>
          <a:xfrm>
            <a:off x="4251960" y="50109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5" name="Left Bracket 44"/>
          <p:cNvSpPr/>
          <p:nvPr/>
        </p:nvSpPr>
        <p:spPr>
          <a:xfrm>
            <a:off x="3566160" y="4489704"/>
            <a:ext cx="128016" cy="996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ight Bracket 45"/>
          <p:cNvSpPr/>
          <p:nvPr/>
        </p:nvSpPr>
        <p:spPr>
          <a:xfrm>
            <a:off x="4764024" y="4489704"/>
            <a:ext cx="128016" cy="996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ight Arrow 46"/>
          <p:cNvSpPr/>
          <p:nvPr/>
        </p:nvSpPr>
        <p:spPr>
          <a:xfrm>
            <a:off x="5394960" y="4828032"/>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803136" y="45262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9" name="Rectangle 48"/>
          <p:cNvSpPr/>
          <p:nvPr/>
        </p:nvSpPr>
        <p:spPr>
          <a:xfrm>
            <a:off x="7360919" y="45262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50" name="Rectangle 49"/>
          <p:cNvSpPr/>
          <p:nvPr/>
        </p:nvSpPr>
        <p:spPr>
          <a:xfrm>
            <a:off x="6803136" y="50109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51" name="Rectangle 50"/>
          <p:cNvSpPr/>
          <p:nvPr/>
        </p:nvSpPr>
        <p:spPr>
          <a:xfrm>
            <a:off x="7360919" y="50109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52" name="Left Bracket 51"/>
          <p:cNvSpPr/>
          <p:nvPr/>
        </p:nvSpPr>
        <p:spPr>
          <a:xfrm>
            <a:off x="6675120" y="4489704"/>
            <a:ext cx="128016" cy="996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ight Bracket 52"/>
          <p:cNvSpPr/>
          <p:nvPr/>
        </p:nvSpPr>
        <p:spPr>
          <a:xfrm>
            <a:off x="7872983" y="4489704"/>
            <a:ext cx="128016" cy="996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03920" y="4572000"/>
            <a:ext cx="1645920" cy="457200"/>
          </a:xfrm>
          <a:prstGeom prst="rect">
            <a:avLst/>
          </a:prstGeom>
          <a:noFill/>
        </p:spPr>
        <p:txBody>
          <a:bodyPr wrap="square" lIns="0" rIns="0" tIns="0" bIns="0" anchor="t">
            <a:spAutoFit/>
          </a:bodyPr>
          <a:lstStyle/>
          <a:p>
            <a:pPr algn="l"/>
            <a:r>
              <a:rPr sz="1600" b="1" i="0">
                <a:solidFill>
                  <a:srgbClr val="1F6F8B"/>
                </a:solidFill>
                <a:latin typeface="Calibri"/>
              </a:rPr>
              <a:t>0 pivots</a:t>
            </a:r>
          </a:p>
        </p:txBody>
      </p:sp>
      <p:sp>
        <p:nvSpPr>
          <p:cNvPr id="55" name="TextBox 54"/>
          <p:cNvSpPr txBox="1"/>
          <p:nvPr/>
        </p:nvSpPr>
        <p:spPr>
          <a:xfrm>
            <a:off x="8503920" y="4983480"/>
            <a:ext cx="1645920" cy="457200"/>
          </a:xfrm>
          <a:prstGeom prst="rect">
            <a:avLst/>
          </a:prstGeom>
          <a:noFill/>
        </p:spPr>
        <p:txBody>
          <a:bodyPr wrap="square" lIns="0" rIns="0" tIns="0" bIns="0" anchor="t">
            <a:spAutoFit/>
          </a:bodyPr>
          <a:lstStyle/>
          <a:p>
            <a:pPr algn="l"/>
            <a:r>
              <a:rPr sz="1300" b="0" i="0">
                <a:solidFill>
                  <a:srgbClr val="5B6675"/>
                </a:solidFill>
                <a:latin typeface="Calibri"/>
              </a:rPr>
              <a:t>in the diagonal</a:t>
            </a:r>
          </a:p>
        </p:txBody>
      </p:sp>
      <p:sp>
        <p:nvSpPr>
          <p:cNvPr id="56" name="TextBox 55"/>
          <p:cNvSpPr txBox="1"/>
          <p:nvPr/>
        </p:nvSpPr>
        <p:spPr>
          <a:xfrm>
            <a:off x="10241280" y="4663440"/>
            <a:ext cx="1371600" cy="640080"/>
          </a:xfrm>
          <a:prstGeom prst="rect">
            <a:avLst/>
          </a:prstGeom>
          <a:noFill/>
        </p:spPr>
        <p:txBody>
          <a:bodyPr wrap="square" lIns="0" rIns="0" tIns="0" bIns="0" anchor="t">
            <a:spAutoFit/>
          </a:bodyPr>
          <a:lstStyle/>
          <a:p>
            <a:pPr algn="l"/>
            <a:r>
              <a:rPr sz="2600" b="1" i="0">
                <a:solidFill>
                  <a:srgbClr val="14213D"/>
                </a:solidFill>
                <a:latin typeface="Cambria"/>
              </a:rPr>
              <a:t>Rank 0</a:t>
            </a:r>
          </a:p>
        </p:txBody>
      </p:sp>
      <p:sp>
        <p:nvSpPr>
          <p:cNvPr id="57" name="TextBox 56"/>
          <p:cNvSpPr txBox="1"/>
          <p:nvPr/>
        </p:nvSpPr>
        <p:spPr>
          <a:xfrm>
            <a:off x="548640" y="5989320"/>
            <a:ext cx="10972800" cy="365760"/>
          </a:xfrm>
          <a:prstGeom prst="rect">
            <a:avLst/>
          </a:prstGeom>
          <a:noFill/>
        </p:spPr>
        <p:txBody>
          <a:bodyPr wrap="square" lIns="0" rIns="0" tIns="0" bIns="0" anchor="t">
            <a:spAutoFit/>
          </a:bodyPr>
          <a:lstStyle/>
          <a:p>
            <a:pPr algn="l"/>
            <a:r>
              <a:rPr sz="1500" b="0" i="1">
                <a:solidFill>
                  <a:srgbClr val="5B6675"/>
                </a:solidFill>
                <a:latin typeface="Calibri"/>
              </a:rPr>
              <a:t>Full rank (2 pivots) means non-singular; a missing pivot means a zero row and a singular matrix.</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Row echelon form of a 3×3 system</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37</a:t>
            </a:r>
          </a:p>
        </p:txBody>
      </p:sp>
      <p:sp>
        <p:nvSpPr>
          <p:cNvPr id="6" name="TextBox 5"/>
          <p:cNvSpPr txBox="1"/>
          <p:nvPr/>
        </p:nvSpPr>
        <p:spPr>
          <a:xfrm>
            <a:off x="822960" y="1600200"/>
            <a:ext cx="3657600" cy="320040"/>
          </a:xfrm>
          <a:prstGeom prst="rect">
            <a:avLst/>
          </a:prstGeom>
          <a:noFill/>
        </p:spPr>
        <p:txBody>
          <a:bodyPr wrap="square" lIns="0" rIns="0" tIns="0" bIns="0" anchor="t">
            <a:spAutoFit/>
          </a:bodyPr>
          <a:lstStyle/>
          <a:p>
            <a:pPr algn="l"/>
            <a:r>
              <a:rPr sz="1400" b="1" i="0">
                <a:solidFill>
                  <a:srgbClr val="5B6675"/>
                </a:solidFill>
                <a:latin typeface="Calibri"/>
              </a:rPr>
              <a:t>SYSTEM</a:t>
            </a:r>
          </a:p>
        </p:txBody>
      </p:sp>
      <p:sp>
        <p:nvSpPr>
          <p:cNvPr id="7" name="TextBox 6"/>
          <p:cNvSpPr txBox="1"/>
          <p:nvPr/>
        </p:nvSpPr>
        <p:spPr>
          <a:xfrm>
            <a:off x="822960" y="1947672"/>
            <a:ext cx="3657600" cy="420624"/>
          </a:xfrm>
          <a:prstGeom prst="rect">
            <a:avLst/>
          </a:prstGeom>
          <a:noFill/>
        </p:spPr>
        <p:txBody>
          <a:bodyPr wrap="square" lIns="0" rIns="0" tIns="0" bIns="0" anchor="ctr">
            <a:spAutoFit/>
          </a:bodyPr>
          <a:lstStyle/>
          <a:p>
            <a:pPr algn="l"/>
            <a:r>
              <a:rPr sz="2000" b="0" i="0">
                <a:solidFill>
                  <a:srgbClr val="14213D"/>
                </a:solidFill>
                <a:latin typeface="Cambria"/>
              </a:rPr>
              <a:t>a + b + 2c = 12</a:t>
            </a:r>
          </a:p>
        </p:txBody>
      </p:sp>
      <p:sp>
        <p:nvSpPr>
          <p:cNvPr id="8" name="TextBox 7"/>
          <p:cNvSpPr txBox="1"/>
          <p:nvPr/>
        </p:nvSpPr>
        <p:spPr>
          <a:xfrm>
            <a:off x="822960" y="2368296"/>
            <a:ext cx="3657600" cy="420624"/>
          </a:xfrm>
          <a:prstGeom prst="rect">
            <a:avLst/>
          </a:prstGeom>
          <a:noFill/>
        </p:spPr>
        <p:txBody>
          <a:bodyPr wrap="square" lIns="0" rIns="0" tIns="0" bIns="0" anchor="ctr">
            <a:spAutoFit/>
          </a:bodyPr>
          <a:lstStyle/>
          <a:p>
            <a:pPr algn="l"/>
            <a:r>
              <a:rPr sz="2000" b="0" i="0">
                <a:solidFill>
                  <a:srgbClr val="14213D"/>
                </a:solidFill>
                <a:latin typeface="Cambria"/>
              </a:rPr>
              <a:t>3a − 3b − c = 3</a:t>
            </a:r>
          </a:p>
        </p:txBody>
      </p:sp>
      <p:sp>
        <p:nvSpPr>
          <p:cNvPr id="9" name="TextBox 8"/>
          <p:cNvSpPr txBox="1"/>
          <p:nvPr/>
        </p:nvSpPr>
        <p:spPr>
          <a:xfrm>
            <a:off x="822960" y="2788920"/>
            <a:ext cx="3657600" cy="420624"/>
          </a:xfrm>
          <a:prstGeom prst="rect">
            <a:avLst/>
          </a:prstGeom>
          <a:noFill/>
        </p:spPr>
        <p:txBody>
          <a:bodyPr wrap="square" lIns="0" rIns="0" tIns="0" bIns="0" anchor="ctr">
            <a:spAutoFit/>
          </a:bodyPr>
          <a:lstStyle/>
          <a:p>
            <a:pPr algn="l"/>
            <a:r>
              <a:rPr sz="2000" b="0" i="0">
                <a:solidFill>
                  <a:srgbClr val="14213D"/>
                </a:solidFill>
                <a:latin typeface="Cambria"/>
              </a:rPr>
              <a:t>2a − b + 6c = 24</a:t>
            </a:r>
          </a:p>
        </p:txBody>
      </p:sp>
      <p:sp>
        <p:nvSpPr>
          <p:cNvPr id="10" name="TextBox 9"/>
          <p:cNvSpPr txBox="1"/>
          <p:nvPr/>
        </p:nvSpPr>
        <p:spPr>
          <a:xfrm>
            <a:off x="7589520" y="1600200"/>
            <a:ext cx="4023360" cy="320040"/>
          </a:xfrm>
          <a:prstGeom prst="rect">
            <a:avLst/>
          </a:prstGeom>
          <a:noFill/>
        </p:spPr>
        <p:txBody>
          <a:bodyPr wrap="square" lIns="0" rIns="0" tIns="0" bIns="0" anchor="t">
            <a:spAutoFit/>
          </a:bodyPr>
          <a:lstStyle/>
          <a:p>
            <a:pPr algn="l"/>
            <a:r>
              <a:rPr sz="1400" b="1" i="0">
                <a:solidFill>
                  <a:srgbClr val="5B6675"/>
                </a:solidFill>
                <a:latin typeface="Calibri"/>
              </a:rPr>
              <a:t>TRIANGULAR SYSTEM</a:t>
            </a:r>
          </a:p>
        </p:txBody>
      </p:sp>
      <p:sp>
        <p:nvSpPr>
          <p:cNvPr id="11" name="TextBox 10"/>
          <p:cNvSpPr txBox="1"/>
          <p:nvPr/>
        </p:nvSpPr>
        <p:spPr>
          <a:xfrm>
            <a:off x="7589520" y="1947672"/>
            <a:ext cx="4023360" cy="420624"/>
          </a:xfrm>
          <a:prstGeom prst="rect">
            <a:avLst/>
          </a:prstGeom>
          <a:noFill/>
        </p:spPr>
        <p:txBody>
          <a:bodyPr wrap="square" lIns="0" rIns="0" tIns="0" bIns="0" anchor="ctr">
            <a:spAutoFit/>
          </a:bodyPr>
          <a:lstStyle/>
          <a:p>
            <a:pPr algn="l"/>
            <a:r>
              <a:rPr sz="2000" b="0" i="0">
                <a:solidFill>
                  <a:srgbClr val="14213D"/>
                </a:solidFill>
                <a:latin typeface="Cambria"/>
              </a:rPr>
              <a:t>a + b + 2c = 12</a:t>
            </a:r>
          </a:p>
        </p:txBody>
      </p:sp>
      <p:sp>
        <p:nvSpPr>
          <p:cNvPr id="12" name="TextBox 11"/>
          <p:cNvSpPr txBox="1"/>
          <p:nvPr/>
        </p:nvSpPr>
        <p:spPr>
          <a:xfrm>
            <a:off x="7589520" y="2368296"/>
            <a:ext cx="4023360" cy="420624"/>
          </a:xfrm>
          <a:prstGeom prst="rect">
            <a:avLst/>
          </a:prstGeom>
          <a:noFill/>
        </p:spPr>
        <p:txBody>
          <a:bodyPr wrap="square" lIns="0" rIns="0" tIns="0" bIns="0" anchor="ctr">
            <a:spAutoFit/>
          </a:bodyPr>
          <a:lstStyle/>
          <a:p>
            <a:pPr algn="l"/>
            <a:r>
              <a:rPr sz="2000" b="0" i="0">
                <a:solidFill>
                  <a:srgbClr val="14213D"/>
                </a:solidFill>
                <a:latin typeface="Cambria"/>
              </a:rPr>
              <a:t>−6b − 7c = −33</a:t>
            </a:r>
          </a:p>
        </p:txBody>
      </p:sp>
      <p:sp>
        <p:nvSpPr>
          <p:cNvPr id="13" name="TextBox 12"/>
          <p:cNvSpPr txBox="1"/>
          <p:nvPr/>
        </p:nvSpPr>
        <p:spPr>
          <a:xfrm>
            <a:off x="7589520" y="2788920"/>
            <a:ext cx="4023360" cy="420624"/>
          </a:xfrm>
          <a:prstGeom prst="rect">
            <a:avLst/>
          </a:prstGeom>
          <a:noFill/>
        </p:spPr>
        <p:txBody>
          <a:bodyPr wrap="square" lIns="0" rIns="0" tIns="0" bIns="0" anchor="ctr">
            <a:spAutoFit/>
          </a:bodyPr>
          <a:lstStyle/>
          <a:p>
            <a:pPr algn="l"/>
            <a:r>
              <a:rPr sz="2000" b="0" i="0">
                <a:solidFill>
                  <a:srgbClr val="14213D"/>
                </a:solidFill>
                <a:latin typeface="Cambria"/>
              </a:rPr>
              <a:t>11c = 33</a:t>
            </a:r>
          </a:p>
        </p:txBody>
      </p:sp>
      <p:sp>
        <p:nvSpPr>
          <p:cNvPr id="14" name="Rectangle 13"/>
          <p:cNvSpPr/>
          <p:nvPr/>
        </p:nvSpPr>
        <p:spPr>
          <a:xfrm>
            <a:off x="1225295" y="3657600"/>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5" name="Rectangle 14"/>
          <p:cNvSpPr/>
          <p:nvPr/>
        </p:nvSpPr>
        <p:spPr>
          <a:xfrm>
            <a:off x="1773936" y="3657600"/>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6" name="Rectangle 15"/>
          <p:cNvSpPr/>
          <p:nvPr/>
        </p:nvSpPr>
        <p:spPr>
          <a:xfrm>
            <a:off x="2322576" y="3657600"/>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17" name="Rectangle 16"/>
          <p:cNvSpPr/>
          <p:nvPr/>
        </p:nvSpPr>
        <p:spPr>
          <a:xfrm>
            <a:off x="1225295" y="4123944"/>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3</a:t>
            </a:r>
          </a:p>
        </p:txBody>
      </p:sp>
      <p:sp>
        <p:nvSpPr>
          <p:cNvPr id="18" name="Rectangle 17"/>
          <p:cNvSpPr/>
          <p:nvPr/>
        </p:nvSpPr>
        <p:spPr>
          <a:xfrm>
            <a:off x="1773936" y="4123944"/>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−3</a:t>
            </a:r>
          </a:p>
        </p:txBody>
      </p:sp>
      <p:sp>
        <p:nvSpPr>
          <p:cNvPr id="19" name="Rectangle 18"/>
          <p:cNvSpPr/>
          <p:nvPr/>
        </p:nvSpPr>
        <p:spPr>
          <a:xfrm>
            <a:off x="2322576" y="4123944"/>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0" name="Rectangle 19"/>
          <p:cNvSpPr/>
          <p:nvPr/>
        </p:nvSpPr>
        <p:spPr>
          <a:xfrm>
            <a:off x="1225295" y="4590288"/>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21" name="Rectangle 20"/>
          <p:cNvSpPr/>
          <p:nvPr/>
        </p:nvSpPr>
        <p:spPr>
          <a:xfrm>
            <a:off x="1773936" y="4590288"/>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2" name="Rectangle 21"/>
          <p:cNvSpPr/>
          <p:nvPr/>
        </p:nvSpPr>
        <p:spPr>
          <a:xfrm>
            <a:off x="2322576" y="4590288"/>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6</a:t>
            </a:r>
          </a:p>
        </p:txBody>
      </p:sp>
      <p:sp>
        <p:nvSpPr>
          <p:cNvPr id="23" name="Left Bracket 22"/>
          <p:cNvSpPr/>
          <p:nvPr/>
        </p:nvSpPr>
        <p:spPr>
          <a:xfrm>
            <a:off x="1097280" y="3621024"/>
            <a:ext cx="128016" cy="142646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Bracket 23"/>
          <p:cNvSpPr/>
          <p:nvPr/>
        </p:nvSpPr>
        <p:spPr>
          <a:xfrm>
            <a:off x="2825496" y="3621024"/>
            <a:ext cx="128016" cy="142646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120640"/>
            <a:ext cx="2953512" cy="548640"/>
          </a:xfrm>
          <a:prstGeom prst="rect">
            <a:avLst/>
          </a:prstGeom>
          <a:noFill/>
        </p:spPr>
        <p:txBody>
          <a:bodyPr wrap="square" lIns="0" rIns="0" tIns="0" bIns="0" anchor="t">
            <a:spAutoFit/>
          </a:bodyPr>
          <a:lstStyle/>
          <a:p>
            <a:pPr algn="ctr"/>
            <a:r>
              <a:rPr sz="1400" b="0" i="0">
                <a:solidFill>
                  <a:srgbClr val="5B6675"/>
                </a:solidFill>
                <a:latin typeface="Calibri"/>
              </a:rPr>
              <a:t>Matrix</a:t>
            </a:r>
          </a:p>
        </p:txBody>
      </p:sp>
      <p:sp>
        <p:nvSpPr>
          <p:cNvPr id="26" name="Right Arrow 25"/>
          <p:cNvSpPr/>
          <p:nvPr/>
        </p:nvSpPr>
        <p:spPr>
          <a:xfrm>
            <a:off x="3566160" y="4206240"/>
            <a:ext cx="3566160" cy="329184"/>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3246120"/>
            <a:ext cx="4114800" cy="914400"/>
          </a:xfrm>
          <a:prstGeom prst="rect">
            <a:avLst/>
          </a:prstGeom>
          <a:noFill/>
        </p:spPr>
        <p:txBody>
          <a:bodyPr wrap="square" lIns="0" rIns="0" tIns="0" bIns="0" anchor="t">
            <a:spAutoFit/>
          </a:bodyPr>
          <a:lstStyle/>
          <a:p>
            <a:pPr algn="ctr"/>
            <a:r>
              <a:rPr sz="1600" b="0" i="0">
                <a:solidFill>
                  <a:srgbClr val="14213D"/>
                </a:solidFill>
                <a:latin typeface="Cambria"/>
              </a:rPr>
              <a:t>R₂ ← R₂ − 3R₁        R₃ ← R₃ − 2R₁</a:t>
            </a:r>
          </a:p>
          <a:p>
            <a:pPr algn="ctr"/>
            <a:r>
              <a:rPr sz="1600" b="0" i="0">
                <a:solidFill>
                  <a:srgbClr val="14213D"/>
                </a:solidFill>
                <a:latin typeface="Cambria"/>
              </a:rPr>
              <a:t>then  R₃ ← 2R₃ − R₂</a:t>
            </a:r>
          </a:p>
        </p:txBody>
      </p:sp>
      <p:sp>
        <p:nvSpPr>
          <p:cNvPr id="28" name="Rectangle 27"/>
          <p:cNvSpPr/>
          <p:nvPr/>
        </p:nvSpPr>
        <p:spPr>
          <a:xfrm>
            <a:off x="7991856" y="3657600"/>
            <a:ext cx="50292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9" name="Rectangle 28"/>
          <p:cNvSpPr/>
          <p:nvPr/>
        </p:nvSpPr>
        <p:spPr>
          <a:xfrm>
            <a:off x="8540496" y="3657600"/>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30" name="Rectangle 29"/>
          <p:cNvSpPr/>
          <p:nvPr/>
        </p:nvSpPr>
        <p:spPr>
          <a:xfrm>
            <a:off x="9089136" y="3657600"/>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31" name="Rectangle 30"/>
          <p:cNvSpPr/>
          <p:nvPr/>
        </p:nvSpPr>
        <p:spPr>
          <a:xfrm>
            <a:off x="7991856" y="4123944"/>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2" name="Rectangle 31"/>
          <p:cNvSpPr/>
          <p:nvPr/>
        </p:nvSpPr>
        <p:spPr>
          <a:xfrm>
            <a:off x="8540496" y="4123944"/>
            <a:ext cx="50292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−6</a:t>
            </a:r>
          </a:p>
        </p:txBody>
      </p:sp>
      <p:sp>
        <p:nvSpPr>
          <p:cNvPr id="33" name="Rectangle 32"/>
          <p:cNvSpPr/>
          <p:nvPr/>
        </p:nvSpPr>
        <p:spPr>
          <a:xfrm>
            <a:off x="9089136" y="4123944"/>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−7</a:t>
            </a:r>
          </a:p>
        </p:txBody>
      </p:sp>
      <p:sp>
        <p:nvSpPr>
          <p:cNvPr id="34" name="Rectangle 33"/>
          <p:cNvSpPr/>
          <p:nvPr/>
        </p:nvSpPr>
        <p:spPr>
          <a:xfrm>
            <a:off x="7991856" y="4590288"/>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5" name="Rectangle 34"/>
          <p:cNvSpPr/>
          <p:nvPr/>
        </p:nvSpPr>
        <p:spPr>
          <a:xfrm>
            <a:off x="8540496" y="4590288"/>
            <a:ext cx="50292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6" name="Rectangle 35"/>
          <p:cNvSpPr/>
          <p:nvPr/>
        </p:nvSpPr>
        <p:spPr>
          <a:xfrm>
            <a:off x="9089136" y="4590288"/>
            <a:ext cx="50292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11</a:t>
            </a:r>
          </a:p>
        </p:txBody>
      </p:sp>
      <p:sp>
        <p:nvSpPr>
          <p:cNvPr id="37" name="Left Bracket 36"/>
          <p:cNvSpPr/>
          <p:nvPr/>
        </p:nvSpPr>
        <p:spPr>
          <a:xfrm>
            <a:off x="7863840" y="3621024"/>
            <a:ext cx="128016" cy="142646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Bracket 37"/>
          <p:cNvSpPr/>
          <p:nvPr/>
        </p:nvSpPr>
        <p:spPr>
          <a:xfrm>
            <a:off x="9592055" y="3621024"/>
            <a:ext cx="128016" cy="142646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0" y="5120640"/>
            <a:ext cx="2953512" cy="548640"/>
          </a:xfrm>
          <a:prstGeom prst="rect">
            <a:avLst/>
          </a:prstGeom>
          <a:noFill/>
        </p:spPr>
        <p:txBody>
          <a:bodyPr wrap="square" lIns="0" rIns="0" tIns="0" bIns="0" anchor="t">
            <a:spAutoFit/>
          </a:bodyPr>
          <a:lstStyle/>
          <a:p>
            <a:pPr algn="ctr"/>
            <a:r>
              <a:rPr sz="1400" b="0" i="0">
                <a:solidFill>
                  <a:srgbClr val="5B6675"/>
                </a:solidFill>
                <a:latin typeface="Calibri"/>
              </a:rPr>
              <a:t>Row echelon form matrix</a:t>
            </a:r>
          </a:p>
        </p:txBody>
      </p:sp>
      <p:sp>
        <p:nvSpPr>
          <p:cNvPr id="40" name="TextBox 39"/>
          <p:cNvSpPr txBox="1"/>
          <p:nvPr/>
        </p:nvSpPr>
        <p:spPr>
          <a:xfrm>
            <a:off x="3291840" y="4846320"/>
            <a:ext cx="4114800" cy="1097280"/>
          </a:xfrm>
          <a:prstGeom prst="rect">
            <a:avLst/>
          </a:prstGeom>
          <a:noFill/>
        </p:spPr>
        <p:txBody>
          <a:bodyPr wrap="square" lIns="0" rIns="0" tIns="0" bIns="0" anchor="t">
            <a:spAutoFit/>
          </a:bodyPr>
          <a:lstStyle/>
          <a:p>
            <a:pPr algn="ctr">
              <a:lnSpc>
                <a:spcPct val="115000"/>
              </a:lnSpc>
            </a:pPr>
            <a:r>
              <a:rPr sz="1400" b="0" i="0">
                <a:solidFill>
                  <a:srgbClr val="5B6675"/>
                </a:solidFill>
                <a:latin typeface="Calibri"/>
              </a:rPr>
              <a:t>Three pivots: rank 3. The last row gives c = 3 at once, exactly as in the elimination we did by hand.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Normalizing the pivots to 1</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38</a:t>
            </a:r>
          </a:p>
        </p:txBody>
      </p:sp>
      <p:sp>
        <p:nvSpPr>
          <p:cNvPr id="6" name="Rectangle 5"/>
          <p:cNvSpPr/>
          <p:nvPr/>
        </p:nvSpPr>
        <p:spPr>
          <a:xfrm>
            <a:off x="950976" y="1828800"/>
            <a:ext cx="457200" cy="402336"/>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3</a:t>
            </a:r>
          </a:p>
        </p:txBody>
      </p:sp>
      <p:sp>
        <p:nvSpPr>
          <p:cNvPr id="7" name="Rectangle 6"/>
          <p:cNvSpPr/>
          <p:nvPr/>
        </p:nvSpPr>
        <p:spPr>
          <a:xfrm>
            <a:off x="1444752" y="1828800"/>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8" name="Rectangle 7"/>
          <p:cNvSpPr/>
          <p:nvPr/>
        </p:nvSpPr>
        <p:spPr>
          <a:xfrm>
            <a:off x="1938528" y="1828800"/>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9" name="Rectangle 8"/>
          <p:cNvSpPr/>
          <p:nvPr/>
        </p:nvSpPr>
        <p:spPr>
          <a:xfrm>
            <a:off x="2432304" y="1828800"/>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10" name="Rectangle 9"/>
          <p:cNvSpPr/>
          <p:nvPr/>
        </p:nvSpPr>
        <p:spPr>
          <a:xfrm>
            <a:off x="2926080" y="1828800"/>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11" name="Rectangle 10"/>
          <p:cNvSpPr/>
          <p:nvPr/>
        </p:nvSpPr>
        <p:spPr>
          <a:xfrm>
            <a:off x="950976" y="2267712"/>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12" name="Rectangle 11"/>
          <p:cNvSpPr/>
          <p:nvPr/>
        </p:nvSpPr>
        <p:spPr>
          <a:xfrm>
            <a:off x="1444752" y="2267712"/>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13" name="Rectangle 12"/>
          <p:cNvSpPr/>
          <p:nvPr/>
        </p:nvSpPr>
        <p:spPr>
          <a:xfrm>
            <a:off x="1938528" y="2267712"/>
            <a:ext cx="457200" cy="402336"/>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14" name="Rectangle 13"/>
          <p:cNvSpPr/>
          <p:nvPr/>
        </p:nvSpPr>
        <p:spPr>
          <a:xfrm>
            <a:off x="2432304" y="2267712"/>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15" name="Rectangle 14"/>
          <p:cNvSpPr/>
          <p:nvPr/>
        </p:nvSpPr>
        <p:spPr>
          <a:xfrm>
            <a:off x="2926080" y="2267712"/>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16" name="Rectangle 15"/>
          <p:cNvSpPr/>
          <p:nvPr/>
        </p:nvSpPr>
        <p:spPr>
          <a:xfrm>
            <a:off x="950976" y="2706624"/>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17" name="Rectangle 16"/>
          <p:cNvSpPr/>
          <p:nvPr/>
        </p:nvSpPr>
        <p:spPr>
          <a:xfrm>
            <a:off x="1444752" y="2706624"/>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18" name="Rectangle 17"/>
          <p:cNvSpPr/>
          <p:nvPr/>
        </p:nvSpPr>
        <p:spPr>
          <a:xfrm>
            <a:off x="1938528" y="2706624"/>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19" name="Rectangle 18"/>
          <p:cNvSpPr/>
          <p:nvPr/>
        </p:nvSpPr>
        <p:spPr>
          <a:xfrm>
            <a:off x="2432304" y="2706624"/>
            <a:ext cx="457200" cy="402336"/>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−4</a:t>
            </a:r>
          </a:p>
        </p:txBody>
      </p:sp>
      <p:sp>
        <p:nvSpPr>
          <p:cNvPr id="20" name="Rectangle 19"/>
          <p:cNvSpPr/>
          <p:nvPr/>
        </p:nvSpPr>
        <p:spPr>
          <a:xfrm>
            <a:off x="2926080" y="2706624"/>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21" name="Rectangle 20"/>
          <p:cNvSpPr/>
          <p:nvPr/>
        </p:nvSpPr>
        <p:spPr>
          <a:xfrm>
            <a:off x="950976" y="3145536"/>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2" name="Rectangle 21"/>
          <p:cNvSpPr/>
          <p:nvPr/>
        </p:nvSpPr>
        <p:spPr>
          <a:xfrm>
            <a:off x="1444752" y="3145536"/>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3" name="Rectangle 22"/>
          <p:cNvSpPr/>
          <p:nvPr/>
        </p:nvSpPr>
        <p:spPr>
          <a:xfrm>
            <a:off x="1938528" y="3145536"/>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4" name="Rectangle 23"/>
          <p:cNvSpPr/>
          <p:nvPr/>
        </p:nvSpPr>
        <p:spPr>
          <a:xfrm>
            <a:off x="2432304" y="3145536"/>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5" name="Rectangle 24"/>
          <p:cNvSpPr/>
          <p:nvPr/>
        </p:nvSpPr>
        <p:spPr>
          <a:xfrm>
            <a:off x="2926080" y="3145536"/>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6" name="Rectangle 25"/>
          <p:cNvSpPr/>
          <p:nvPr/>
        </p:nvSpPr>
        <p:spPr>
          <a:xfrm>
            <a:off x="950976" y="3584448"/>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7" name="Rectangle 26"/>
          <p:cNvSpPr/>
          <p:nvPr/>
        </p:nvSpPr>
        <p:spPr>
          <a:xfrm>
            <a:off x="1444752" y="3584448"/>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8" name="Rectangle 27"/>
          <p:cNvSpPr/>
          <p:nvPr/>
        </p:nvSpPr>
        <p:spPr>
          <a:xfrm>
            <a:off x="1938528" y="3584448"/>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29" name="Rectangle 28"/>
          <p:cNvSpPr/>
          <p:nvPr/>
        </p:nvSpPr>
        <p:spPr>
          <a:xfrm>
            <a:off x="2432304" y="3584448"/>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30" name="Rectangle 29"/>
          <p:cNvSpPr/>
          <p:nvPr/>
        </p:nvSpPr>
        <p:spPr>
          <a:xfrm>
            <a:off x="2926080" y="3584448"/>
            <a:ext cx="457200" cy="402336"/>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31" name="Left Bracket 30"/>
          <p:cNvSpPr/>
          <p:nvPr/>
        </p:nvSpPr>
        <p:spPr>
          <a:xfrm>
            <a:off x="822960" y="1792224"/>
            <a:ext cx="128016" cy="223113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Bracket 31"/>
          <p:cNvSpPr/>
          <p:nvPr/>
        </p:nvSpPr>
        <p:spPr>
          <a:xfrm>
            <a:off x="3383280" y="1792224"/>
            <a:ext cx="128016" cy="223113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096512"/>
            <a:ext cx="3785616" cy="548640"/>
          </a:xfrm>
          <a:prstGeom prst="rect">
            <a:avLst/>
          </a:prstGeom>
          <a:noFill/>
        </p:spPr>
        <p:txBody>
          <a:bodyPr wrap="square" lIns="0" rIns="0" tIns="0" bIns="0" anchor="t">
            <a:spAutoFit/>
          </a:bodyPr>
          <a:lstStyle/>
          <a:p>
            <a:pPr algn="ctr"/>
            <a:r>
              <a:rPr sz="1400" b="0" i="0">
                <a:solidFill>
                  <a:srgbClr val="5B6675"/>
                </a:solidFill>
                <a:latin typeface="Calibri"/>
              </a:rPr>
              <a:t>Row echelon form, pivots 3, 1, −4</a:t>
            </a:r>
          </a:p>
        </p:txBody>
      </p:sp>
      <p:sp>
        <p:nvSpPr>
          <p:cNvPr id="34" name="Right Arrow 33"/>
          <p:cNvSpPr/>
          <p:nvPr/>
        </p:nvSpPr>
        <p:spPr>
          <a:xfrm>
            <a:off x="3931920" y="1892807"/>
            <a:ext cx="118872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0" y="1554480"/>
            <a:ext cx="1188720" cy="320040"/>
          </a:xfrm>
          <a:prstGeom prst="rect">
            <a:avLst/>
          </a:prstGeom>
          <a:noFill/>
        </p:spPr>
        <p:txBody>
          <a:bodyPr wrap="square" lIns="0" rIns="0" tIns="0" bIns="0" anchor="t">
            <a:spAutoFit/>
          </a:bodyPr>
          <a:lstStyle/>
          <a:p>
            <a:pPr algn="ctr"/>
            <a:r>
              <a:rPr sz="1400" b="0" i="0">
                <a:solidFill>
                  <a:srgbClr val="14213D"/>
                </a:solidFill>
                <a:latin typeface="Cambria"/>
              </a:rPr>
              <a:t>÷ 3</a:t>
            </a:r>
          </a:p>
        </p:txBody>
      </p:sp>
      <p:sp>
        <p:nvSpPr>
          <p:cNvPr id="36" name="Right Arrow 35"/>
          <p:cNvSpPr/>
          <p:nvPr/>
        </p:nvSpPr>
        <p:spPr>
          <a:xfrm>
            <a:off x="3931920" y="2331720"/>
            <a:ext cx="118872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1920" y="1993392"/>
            <a:ext cx="1188720" cy="320040"/>
          </a:xfrm>
          <a:prstGeom prst="rect">
            <a:avLst/>
          </a:prstGeom>
          <a:noFill/>
        </p:spPr>
        <p:txBody>
          <a:bodyPr wrap="square" lIns="0" rIns="0" tIns="0" bIns="0" anchor="t">
            <a:spAutoFit/>
          </a:bodyPr>
          <a:lstStyle/>
          <a:p>
            <a:pPr algn="ctr"/>
            <a:r>
              <a:rPr sz="1400" b="0" i="0">
                <a:solidFill>
                  <a:srgbClr val="14213D"/>
                </a:solidFill>
                <a:latin typeface="Cambria"/>
              </a:rPr>
              <a:t>÷ 1</a:t>
            </a:r>
          </a:p>
        </p:txBody>
      </p:sp>
      <p:sp>
        <p:nvSpPr>
          <p:cNvPr id="38" name="Right Arrow 37"/>
          <p:cNvSpPr/>
          <p:nvPr/>
        </p:nvSpPr>
        <p:spPr>
          <a:xfrm>
            <a:off x="3931920" y="2770632"/>
            <a:ext cx="118872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31920" y="2432304"/>
            <a:ext cx="1188720" cy="320040"/>
          </a:xfrm>
          <a:prstGeom prst="rect">
            <a:avLst/>
          </a:prstGeom>
          <a:noFill/>
        </p:spPr>
        <p:txBody>
          <a:bodyPr wrap="square" lIns="0" rIns="0" tIns="0" bIns="0" anchor="t">
            <a:spAutoFit/>
          </a:bodyPr>
          <a:lstStyle/>
          <a:p>
            <a:pPr algn="ctr"/>
            <a:r>
              <a:rPr sz="1400" b="0" i="0">
                <a:solidFill>
                  <a:srgbClr val="14213D"/>
                </a:solidFill>
                <a:latin typeface="Cambria"/>
              </a:rPr>
              <a:t>÷ (−4)</a:t>
            </a:r>
          </a:p>
        </p:txBody>
      </p:sp>
      <p:sp>
        <p:nvSpPr>
          <p:cNvPr id="40" name="Rectangle 39"/>
          <p:cNvSpPr/>
          <p:nvPr/>
        </p:nvSpPr>
        <p:spPr>
          <a:xfrm>
            <a:off x="5614416" y="1828800"/>
            <a:ext cx="457200" cy="402336"/>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41" name="Rectangle 40"/>
          <p:cNvSpPr/>
          <p:nvPr/>
        </p:nvSpPr>
        <p:spPr>
          <a:xfrm>
            <a:off x="6108192" y="1828800"/>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42" name="Rectangle 41"/>
          <p:cNvSpPr/>
          <p:nvPr/>
        </p:nvSpPr>
        <p:spPr>
          <a:xfrm>
            <a:off x="6601968" y="1828800"/>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43" name="Rectangle 42"/>
          <p:cNvSpPr/>
          <p:nvPr/>
        </p:nvSpPr>
        <p:spPr>
          <a:xfrm>
            <a:off x="7095744" y="1828800"/>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44" name="Rectangle 43"/>
          <p:cNvSpPr/>
          <p:nvPr/>
        </p:nvSpPr>
        <p:spPr>
          <a:xfrm>
            <a:off x="7589520" y="1828800"/>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45" name="Rectangle 44"/>
          <p:cNvSpPr/>
          <p:nvPr/>
        </p:nvSpPr>
        <p:spPr>
          <a:xfrm>
            <a:off x="5614416" y="2267712"/>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6" name="Rectangle 45"/>
          <p:cNvSpPr/>
          <p:nvPr/>
        </p:nvSpPr>
        <p:spPr>
          <a:xfrm>
            <a:off x="6108192" y="2267712"/>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47" name="Rectangle 46"/>
          <p:cNvSpPr/>
          <p:nvPr/>
        </p:nvSpPr>
        <p:spPr>
          <a:xfrm>
            <a:off x="6601968" y="2267712"/>
            <a:ext cx="457200" cy="402336"/>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48" name="Rectangle 47"/>
          <p:cNvSpPr/>
          <p:nvPr/>
        </p:nvSpPr>
        <p:spPr>
          <a:xfrm>
            <a:off x="7095744" y="2267712"/>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49" name="Rectangle 48"/>
          <p:cNvSpPr/>
          <p:nvPr/>
        </p:nvSpPr>
        <p:spPr>
          <a:xfrm>
            <a:off x="7589520" y="2267712"/>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50" name="Rectangle 49"/>
          <p:cNvSpPr/>
          <p:nvPr/>
        </p:nvSpPr>
        <p:spPr>
          <a:xfrm>
            <a:off x="5614416" y="2706624"/>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1" name="Rectangle 50"/>
          <p:cNvSpPr/>
          <p:nvPr/>
        </p:nvSpPr>
        <p:spPr>
          <a:xfrm>
            <a:off x="6108192" y="2706624"/>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2" name="Rectangle 51"/>
          <p:cNvSpPr/>
          <p:nvPr/>
        </p:nvSpPr>
        <p:spPr>
          <a:xfrm>
            <a:off x="6601968" y="2706624"/>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3" name="Rectangle 52"/>
          <p:cNvSpPr/>
          <p:nvPr/>
        </p:nvSpPr>
        <p:spPr>
          <a:xfrm>
            <a:off x="7095744" y="2706624"/>
            <a:ext cx="457200" cy="402336"/>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1</a:t>
            </a:r>
          </a:p>
        </p:txBody>
      </p:sp>
      <p:sp>
        <p:nvSpPr>
          <p:cNvPr id="54" name="Rectangle 53"/>
          <p:cNvSpPr/>
          <p:nvPr/>
        </p:nvSpPr>
        <p:spPr>
          <a:xfrm>
            <a:off x="7589520" y="2706624"/>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a:t>
            </a:r>
          </a:p>
        </p:txBody>
      </p:sp>
      <p:sp>
        <p:nvSpPr>
          <p:cNvPr id="55" name="Rectangle 54"/>
          <p:cNvSpPr/>
          <p:nvPr/>
        </p:nvSpPr>
        <p:spPr>
          <a:xfrm>
            <a:off x="5614416" y="3145536"/>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6" name="Rectangle 55"/>
          <p:cNvSpPr/>
          <p:nvPr/>
        </p:nvSpPr>
        <p:spPr>
          <a:xfrm>
            <a:off x="6108192" y="3145536"/>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7" name="Rectangle 56"/>
          <p:cNvSpPr/>
          <p:nvPr/>
        </p:nvSpPr>
        <p:spPr>
          <a:xfrm>
            <a:off x="6601968" y="3145536"/>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8" name="Rectangle 57"/>
          <p:cNvSpPr/>
          <p:nvPr/>
        </p:nvSpPr>
        <p:spPr>
          <a:xfrm>
            <a:off x="7095744" y="3145536"/>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59" name="Rectangle 58"/>
          <p:cNvSpPr/>
          <p:nvPr/>
        </p:nvSpPr>
        <p:spPr>
          <a:xfrm>
            <a:off x="7589520" y="3145536"/>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0" name="Rectangle 59"/>
          <p:cNvSpPr/>
          <p:nvPr/>
        </p:nvSpPr>
        <p:spPr>
          <a:xfrm>
            <a:off x="5614416" y="3584448"/>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1" name="Rectangle 60"/>
          <p:cNvSpPr/>
          <p:nvPr/>
        </p:nvSpPr>
        <p:spPr>
          <a:xfrm>
            <a:off x="6108192" y="3584448"/>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2" name="Rectangle 61"/>
          <p:cNvSpPr/>
          <p:nvPr/>
        </p:nvSpPr>
        <p:spPr>
          <a:xfrm>
            <a:off x="6601968" y="3584448"/>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3" name="Rectangle 62"/>
          <p:cNvSpPr/>
          <p:nvPr/>
        </p:nvSpPr>
        <p:spPr>
          <a:xfrm>
            <a:off x="7095744" y="3584448"/>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4" name="Rectangle 63"/>
          <p:cNvSpPr/>
          <p:nvPr/>
        </p:nvSpPr>
        <p:spPr>
          <a:xfrm>
            <a:off x="7589520" y="3584448"/>
            <a:ext cx="457200" cy="402336"/>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14213D"/>
                </a:solidFill>
                <a:latin typeface="Calibri"/>
              </a:rPr>
              <a:t>0</a:t>
            </a:r>
          </a:p>
        </p:txBody>
      </p:sp>
      <p:sp>
        <p:nvSpPr>
          <p:cNvPr id="65" name="Left Bracket 64"/>
          <p:cNvSpPr/>
          <p:nvPr/>
        </p:nvSpPr>
        <p:spPr>
          <a:xfrm>
            <a:off x="5486400" y="1792224"/>
            <a:ext cx="128016" cy="223113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ight Bracket 65"/>
          <p:cNvSpPr/>
          <p:nvPr/>
        </p:nvSpPr>
        <p:spPr>
          <a:xfrm>
            <a:off x="8046720" y="1792224"/>
            <a:ext cx="128016" cy="223113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937760" y="4096512"/>
            <a:ext cx="3785616" cy="548640"/>
          </a:xfrm>
          <a:prstGeom prst="rect">
            <a:avLst/>
          </a:prstGeom>
          <a:noFill/>
        </p:spPr>
        <p:txBody>
          <a:bodyPr wrap="square" lIns="0" rIns="0" tIns="0" bIns="0" anchor="t">
            <a:spAutoFit/>
          </a:bodyPr>
          <a:lstStyle/>
          <a:p>
            <a:pPr algn="ctr"/>
            <a:r>
              <a:rPr sz="1400" b="0" i="0">
                <a:solidFill>
                  <a:srgbClr val="5B6675"/>
                </a:solidFill>
                <a:latin typeface="Calibri"/>
              </a:rPr>
              <a:t>Row echelon form, every pivot 1</a:t>
            </a:r>
          </a:p>
        </p:txBody>
      </p:sp>
      <p:sp>
        <p:nvSpPr>
          <p:cNvPr id="68" name="Rounded Rectangle 67"/>
          <p:cNvSpPr/>
          <p:nvPr/>
        </p:nvSpPr>
        <p:spPr>
          <a:xfrm>
            <a:off x="8595360" y="1828800"/>
            <a:ext cx="3017520" cy="274320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69680" y="2029968"/>
            <a:ext cx="2468879" cy="274320"/>
          </a:xfrm>
          <a:prstGeom prst="rect">
            <a:avLst/>
          </a:prstGeom>
          <a:noFill/>
        </p:spPr>
        <p:txBody>
          <a:bodyPr wrap="square" lIns="0" rIns="0" tIns="0" bIns="0" anchor="t">
            <a:spAutoFit/>
          </a:bodyPr>
          <a:lstStyle/>
          <a:p>
            <a:pPr algn="l"/>
            <a:r>
              <a:rPr sz="1200" b="1" i="0">
                <a:solidFill>
                  <a:srgbClr val="1F6F8B"/>
                </a:solidFill>
                <a:latin typeface="Calibri"/>
              </a:rPr>
              <a:t>WHY IT IS ALLOWED</a:t>
            </a:r>
          </a:p>
        </p:txBody>
      </p:sp>
      <p:sp>
        <p:nvSpPr>
          <p:cNvPr id="70" name="TextBox 69"/>
          <p:cNvSpPr txBox="1"/>
          <p:nvPr/>
        </p:nvSpPr>
        <p:spPr>
          <a:xfrm>
            <a:off x="8869680" y="2340864"/>
            <a:ext cx="2468879" cy="2103120"/>
          </a:xfrm>
          <a:prstGeom prst="rect">
            <a:avLst/>
          </a:prstGeom>
          <a:noFill/>
        </p:spPr>
        <p:txBody>
          <a:bodyPr wrap="square" lIns="0" rIns="0" tIns="0" bIns="0" anchor="t">
            <a:spAutoFit/>
          </a:bodyPr>
          <a:lstStyle/>
          <a:p>
            <a:pPr algn="l">
              <a:lnSpc>
                <a:spcPct val="115000"/>
              </a:lnSpc>
              <a:spcAft>
                <a:spcPts val="600"/>
              </a:spcAft>
            </a:pPr>
            <a:r>
              <a:rPr sz="1400" b="0" i="0">
                <a:solidFill>
                  <a:srgbClr val="14213D"/>
                </a:solidFill>
                <a:latin typeface="Calibri"/>
              </a:rPr>
              <a:t>Dividing a row by its pivot is a legal row operation (scaling by a non-zero constant).</a:t>
            </a:r>
          </a:p>
          <a:p>
            <a:pPr algn="l">
              <a:lnSpc>
                <a:spcPct val="115000"/>
              </a:lnSpc>
              <a:spcAft>
                <a:spcPts val="600"/>
              </a:spcAft>
            </a:pPr>
            <a:r>
              <a:rPr sz="1400" b="0" i="0">
                <a:solidFill>
                  <a:srgbClr val="14213D"/>
                </a:solidFill>
                <a:latin typeface="Calibri"/>
              </a:rPr>
              <a:t>The staircase, the number of pivots and the rank are unchanged.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More examples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39</a:t>
            </a:r>
          </a:p>
        </p:txBody>
      </p:sp>
      <p:sp>
        <p:nvSpPr>
          <p:cNvPr id="6" name="TextBox 5"/>
          <p:cNvSpPr txBox="1"/>
          <p:nvPr/>
        </p:nvSpPr>
        <p:spPr>
          <a:xfrm>
            <a:off x="548640" y="1874519"/>
            <a:ext cx="1828800" cy="457200"/>
          </a:xfrm>
          <a:prstGeom prst="rect">
            <a:avLst/>
          </a:prstGeom>
          <a:noFill/>
        </p:spPr>
        <p:txBody>
          <a:bodyPr wrap="square" lIns="0" rIns="0" tIns="0" bIns="0" anchor="t">
            <a:spAutoFit/>
          </a:bodyPr>
          <a:lstStyle/>
          <a:p>
            <a:pPr algn="l"/>
            <a:r>
              <a:rPr sz="1600" b="1" i="0">
                <a:solidFill>
                  <a:srgbClr val="14213D"/>
                </a:solidFill>
                <a:latin typeface="Calibri"/>
              </a:rPr>
              <a:t>Non-singular</a:t>
            </a:r>
          </a:p>
        </p:txBody>
      </p:sp>
      <p:sp>
        <p:nvSpPr>
          <p:cNvPr id="7" name="Rectangle 6"/>
          <p:cNvSpPr/>
          <p:nvPr/>
        </p:nvSpPr>
        <p:spPr>
          <a:xfrm>
            <a:off x="2414016" y="150876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8" name="Rectangle 7"/>
          <p:cNvSpPr/>
          <p:nvPr/>
        </p:nvSpPr>
        <p:spPr>
          <a:xfrm>
            <a:off x="2834640" y="150876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9" name="Rectangle 8"/>
          <p:cNvSpPr/>
          <p:nvPr/>
        </p:nvSpPr>
        <p:spPr>
          <a:xfrm>
            <a:off x="3255264" y="150876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0" name="Rectangle 9"/>
          <p:cNvSpPr/>
          <p:nvPr/>
        </p:nvSpPr>
        <p:spPr>
          <a:xfrm>
            <a:off x="2414016" y="1911095"/>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1" name="Rectangle 10"/>
          <p:cNvSpPr/>
          <p:nvPr/>
        </p:nvSpPr>
        <p:spPr>
          <a:xfrm>
            <a:off x="2834640" y="1911095"/>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12" name="Rectangle 11"/>
          <p:cNvSpPr/>
          <p:nvPr/>
        </p:nvSpPr>
        <p:spPr>
          <a:xfrm>
            <a:off x="3255264" y="1911095"/>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3" name="Rectangle 12"/>
          <p:cNvSpPr/>
          <p:nvPr/>
        </p:nvSpPr>
        <p:spPr>
          <a:xfrm>
            <a:off x="2414016" y="23134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4" name="Rectangle 13"/>
          <p:cNvSpPr/>
          <p:nvPr/>
        </p:nvSpPr>
        <p:spPr>
          <a:xfrm>
            <a:off x="2834640" y="23134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5" name="Rectangle 14"/>
          <p:cNvSpPr/>
          <p:nvPr/>
        </p:nvSpPr>
        <p:spPr>
          <a:xfrm>
            <a:off x="3255264" y="23134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16" name="Left Bracket 15"/>
          <p:cNvSpPr/>
          <p:nvPr/>
        </p:nvSpPr>
        <p:spPr>
          <a:xfrm>
            <a:off x="2286000" y="1472184"/>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Bracket 16"/>
          <p:cNvSpPr/>
          <p:nvPr/>
        </p:nvSpPr>
        <p:spPr>
          <a:xfrm>
            <a:off x="3639312" y="1472184"/>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4023360" y="1965960"/>
            <a:ext cx="164592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2295144"/>
            <a:ext cx="2743200" cy="731520"/>
          </a:xfrm>
          <a:prstGeom prst="rect">
            <a:avLst/>
          </a:prstGeom>
          <a:noFill/>
        </p:spPr>
        <p:txBody>
          <a:bodyPr wrap="square" lIns="0" rIns="0" tIns="0" bIns="0" anchor="t">
            <a:spAutoFit/>
          </a:bodyPr>
          <a:lstStyle/>
          <a:p>
            <a:pPr algn="ctr"/>
            <a:r>
              <a:rPr sz="1200" b="0" i="0">
                <a:solidFill>
                  <a:srgbClr val="5B6675"/>
                </a:solidFill>
                <a:latin typeface="Calibri"/>
              </a:rPr>
              <a:t>R₂ ← R₂ − R₁,  R₃ ← R₃ − R₁</a:t>
            </a:r>
          </a:p>
        </p:txBody>
      </p:sp>
      <p:sp>
        <p:nvSpPr>
          <p:cNvPr id="20" name="Rectangle 19"/>
          <p:cNvSpPr/>
          <p:nvPr/>
        </p:nvSpPr>
        <p:spPr>
          <a:xfrm>
            <a:off x="9180576" y="1508760"/>
            <a:ext cx="384048"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1" name="Rectangle 20"/>
          <p:cNvSpPr/>
          <p:nvPr/>
        </p:nvSpPr>
        <p:spPr>
          <a:xfrm>
            <a:off x="9601200" y="150876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2" name="Rectangle 21"/>
          <p:cNvSpPr/>
          <p:nvPr/>
        </p:nvSpPr>
        <p:spPr>
          <a:xfrm>
            <a:off x="10021824" y="150876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3" name="Rectangle 22"/>
          <p:cNvSpPr/>
          <p:nvPr/>
        </p:nvSpPr>
        <p:spPr>
          <a:xfrm>
            <a:off x="9180576" y="1911095"/>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4" name="Rectangle 23"/>
          <p:cNvSpPr/>
          <p:nvPr/>
        </p:nvSpPr>
        <p:spPr>
          <a:xfrm>
            <a:off x="9601200" y="1911095"/>
            <a:ext cx="384048"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5" name="Rectangle 24"/>
          <p:cNvSpPr/>
          <p:nvPr/>
        </p:nvSpPr>
        <p:spPr>
          <a:xfrm>
            <a:off x="10021824" y="1911095"/>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6" name="Rectangle 25"/>
          <p:cNvSpPr/>
          <p:nvPr/>
        </p:nvSpPr>
        <p:spPr>
          <a:xfrm>
            <a:off x="9180576" y="23134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7" name="Rectangle 26"/>
          <p:cNvSpPr/>
          <p:nvPr/>
        </p:nvSpPr>
        <p:spPr>
          <a:xfrm>
            <a:off x="9601200" y="23134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8" name="Rectangle 27"/>
          <p:cNvSpPr/>
          <p:nvPr/>
        </p:nvSpPr>
        <p:spPr>
          <a:xfrm>
            <a:off x="10021824" y="2313432"/>
            <a:ext cx="384048"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9" name="Left Bracket 28"/>
          <p:cNvSpPr/>
          <p:nvPr/>
        </p:nvSpPr>
        <p:spPr>
          <a:xfrm>
            <a:off x="9052560" y="1472184"/>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Bracket 29"/>
          <p:cNvSpPr/>
          <p:nvPr/>
        </p:nvSpPr>
        <p:spPr>
          <a:xfrm>
            <a:off x="10405872" y="1472184"/>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44200" y="1874519"/>
            <a:ext cx="1097280" cy="457200"/>
          </a:xfrm>
          <a:prstGeom prst="rect">
            <a:avLst/>
          </a:prstGeom>
          <a:noFill/>
        </p:spPr>
        <p:txBody>
          <a:bodyPr wrap="square" lIns="0" rIns="0" tIns="0" bIns="0" anchor="t">
            <a:spAutoFit/>
          </a:bodyPr>
          <a:lstStyle/>
          <a:p>
            <a:pPr algn="l"/>
            <a:r>
              <a:rPr sz="1600" b="1" i="0">
                <a:solidFill>
                  <a:srgbClr val="1F6F8B"/>
                </a:solidFill>
                <a:latin typeface="Calibri"/>
              </a:rPr>
              <a:t>rank 3</a:t>
            </a:r>
          </a:p>
        </p:txBody>
      </p:sp>
      <p:sp>
        <p:nvSpPr>
          <p:cNvPr id="32" name="TextBox 31"/>
          <p:cNvSpPr txBox="1"/>
          <p:nvPr/>
        </p:nvSpPr>
        <p:spPr>
          <a:xfrm>
            <a:off x="548640" y="3447288"/>
            <a:ext cx="1828800" cy="457200"/>
          </a:xfrm>
          <a:prstGeom prst="rect">
            <a:avLst/>
          </a:prstGeom>
          <a:noFill/>
        </p:spPr>
        <p:txBody>
          <a:bodyPr wrap="square" lIns="0" rIns="0" tIns="0" bIns="0" anchor="t">
            <a:spAutoFit/>
          </a:bodyPr>
          <a:lstStyle/>
          <a:p>
            <a:pPr algn="l"/>
            <a:r>
              <a:rPr sz="1600" b="1" i="0">
                <a:solidFill>
                  <a:srgbClr val="14213D"/>
                </a:solidFill>
                <a:latin typeface="Calibri"/>
              </a:rPr>
              <a:t>Singular</a:t>
            </a:r>
          </a:p>
        </p:txBody>
      </p:sp>
      <p:sp>
        <p:nvSpPr>
          <p:cNvPr id="33" name="Rectangle 32"/>
          <p:cNvSpPr/>
          <p:nvPr/>
        </p:nvSpPr>
        <p:spPr>
          <a:xfrm>
            <a:off x="2414016"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4" name="Rectangle 33"/>
          <p:cNvSpPr/>
          <p:nvPr/>
        </p:nvSpPr>
        <p:spPr>
          <a:xfrm>
            <a:off x="2834640"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5" name="Rectangle 34"/>
          <p:cNvSpPr/>
          <p:nvPr/>
        </p:nvSpPr>
        <p:spPr>
          <a:xfrm>
            <a:off x="3255264"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6" name="Rectangle 35"/>
          <p:cNvSpPr/>
          <p:nvPr/>
        </p:nvSpPr>
        <p:spPr>
          <a:xfrm>
            <a:off x="2414016"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7" name="Rectangle 36"/>
          <p:cNvSpPr/>
          <p:nvPr/>
        </p:nvSpPr>
        <p:spPr>
          <a:xfrm>
            <a:off x="2834640"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8" name="Rectangle 37"/>
          <p:cNvSpPr/>
          <p:nvPr/>
        </p:nvSpPr>
        <p:spPr>
          <a:xfrm>
            <a:off x="3255264"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39" name="Rectangle 38"/>
          <p:cNvSpPr/>
          <p:nvPr/>
        </p:nvSpPr>
        <p:spPr>
          <a:xfrm>
            <a:off x="2414016"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0" name="Rectangle 39"/>
          <p:cNvSpPr/>
          <p:nvPr/>
        </p:nvSpPr>
        <p:spPr>
          <a:xfrm>
            <a:off x="2834640"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1" name="Rectangle 40"/>
          <p:cNvSpPr/>
          <p:nvPr/>
        </p:nvSpPr>
        <p:spPr>
          <a:xfrm>
            <a:off x="3255264"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42" name="Left Bracket 41"/>
          <p:cNvSpPr/>
          <p:nvPr/>
        </p:nvSpPr>
        <p:spPr>
          <a:xfrm>
            <a:off x="2286000" y="3044952"/>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Bracket 42"/>
          <p:cNvSpPr/>
          <p:nvPr/>
        </p:nvSpPr>
        <p:spPr>
          <a:xfrm>
            <a:off x="3639312" y="3044952"/>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Arrow 43"/>
          <p:cNvSpPr/>
          <p:nvPr/>
        </p:nvSpPr>
        <p:spPr>
          <a:xfrm>
            <a:off x="4023360" y="3538728"/>
            <a:ext cx="164592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74720" y="3867911"/>
            <a:ext cx="2743200" cy="731520"/>
          </a:xfrm>
          <a:prstGeom prst="rect">
            <a:avLst/>
          </a:prstGeom>
          <a:noFill/>
        </p:spPr>
        <p:txBody>
          <a:bodyPr wrap="square" lIns="0" rIns="0" tIns="0" bIns="0" anchor="t">
            <a:spAutoFit/>
          </a:bodyPr>
          <a:lstStyle/>
          <a:p>
            <a:pPr algn="ctr"/>
            <a:r>
              <a:rPr sz="1200" b="0" i="0">
                <a:solidFill>
                  <a:srgbClr val="5B6675"/>
                </a:solidFill>
                <a:latin typeface="Calibri"/>
              </a:rPr>
              <a:t>R₂ ← R₂ − R₁,  R₃ ← R₃ − R₁</a:t>
            </a:r>
          </a:p>
        </p:txBody>
      </p:sp>
      <p:sp>
        <p:nvSpPr>
          <p:cNvPr id="46" name="Rectangle 45"/>
          <p:cNvSpPr/>
          <p:nvPr/>
        </p:nvSpPr>
        <p:spPr>
          <a:xfrm>
            <a:off x="6071616"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7" name="Rectangle 46"/>
          <p:cNvSpPr/>
          <p:nvPr/>
        </p:nvSpPr>
        <p:spPr>
          <a:xfrm>
            <a:off x="6492240"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8" name="Rectangle 47"/>
          <p:cNvSpPr/>
          <p:nvPr/>
        </p:nvSpPr>
        <p:spPr>
          <a:xfrm>
            <a:off x="6912864"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9" name="Rectangle 48"/>
          <p:cNvSpPr/>
          <p:nvPr/>
        </p:nvSpPr>
        <p:spPr>
          <a:xfrm>
            <a:off x="6071616"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0" name="Rectangle 49"/>
          <p:cNvSpPr/>
          <p:nvPr/>
        </p:nvSpPr>
        <p:spPr>
          <a:xfrm>
            <a:off x="6492240"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1" name="Rectangle 50"/>
          <p:cNvSpPr/>
          <p:nvPr/>
        </p:nvSpPr>
        <p:spPr>
          <a:xfrm>
            <a:off x="6912864"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52" name="Rectangle 51"/>
          <p:cNvSpPr/>
          <p:nvPr/>
        </p:nvSpPr>
        <p:spPr>
          <a:xfrm>
            <a:off x="6071616"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3" name="Rectangle 52"/>
          <p:cNvSpPr/>
          <p:nvPr/>
        </p:nvSpPr>
        <p:spPr>
          <a:xfrm>
            <a:off x="6492240"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4" name="Rectangle 53"/>
          <p:cNvSpPr/>
          <p:nvPr/>
        </p:nvSpPr>
        <p:spPr>
          <a:xfrm>
            <a:off x="6912864"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55" name="Left Bracket 54"/>
          <p:cNvSpPr/>
          <p:nvPr/>
        </p:nvSpPr>
        <p:spPr>
          <a:xfrm>
            <a:off x="5943600" y="3044952"/>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ight Bracket 55"/>
          <p:cNvSpPr/>
          <p:nvPr/>
        </p:nvSpPr>
        <p:spPr>
          <a:xfrm>
            <a:off x="7296912" y="3044952"/>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ight Arrow 56"/>
          <p:cNvSpPr/>
          <p:nvPr/>
        </p:nvSpPr>
        <p:spPr>
          <a:xfrm>
            <a:off x="7680960" y="3538728"/>
            <a:ext cx="109728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23760" y="3867911"/>
            <a:ext cx="2011680" cy="731520"/>
          </a:xfrm>
          <a:prstGeom prst="rect">
            <a:avLst/>
          </a:prstGeom>
          <a:noFill/>
        </p:spPr>
        <p:txBody>
          <a:bodyPr wrap="square" lIns="0" rIns="0" tIns="0" bIns="0" anchor="t">
            <a:spAutoFit/>
          </a:bodyPr>
          <a:lstStyle/>
          <a:p>
            <a:pPr algn="ctr"/>
            <a:r>
              <a:rPr sz="1200" b="0" i="0">
                <a:solidFill>
                  <a:srgbClr val="5B6675"/>
                </a:solidFill>
                <a:latin typeface="Calibri"/>
              </a:rPr>
              <a:t>R₃ ← R₃ − 2R₂</a:t>
            </a:r>
          </a:p>
        </p:txBody>
      </p:sp>
      <p:sp>
        <p:nvSpPr>
          <p:cNvPr id="59" name="Rectangle 58"/>
          <p:cNvSpPr/>
          <p:nvPr/>
        </p:nvSpPr>
        <p:spPr>
          <a:xfrm>
            <a:off x="9180576" y="3081528"/>
            <a:ext cx="384048"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0" name="Rectangle 59"/>
          <p:cNvSpPr/>
          <p:nvPr/>
        </p:nvSpPr>
        <p:spPr>
          <a:xfrm>
            <a:off x="9601200"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1" name="Rectangle 60"/>
          <p:cNvSpPr/>
          <p:nvPr/>
        </p:nvSpPr>
        <p:spPr>
          <a:xfrm>
            <a:off x="10021824" y="308152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2" name="Rectangle 61"/>
          <p:cNvSpPr/>
          <p:nvPr/>
        </p:nvSpPr>
        <p:spPr>
          <a:xfrm>
            <a:off x="9180576"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3" name="Rectangle 62"/>
          <p:cNvSpPr/>
          <p:nvPr/>
        </p:nvSpPr>
        <p:spPr>
          <a:xfrm>
            <a:off x="9601200" y="3483864"/>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4" name="Rectangle 63"/>
          <p:cNvSpPr/>
          <p:nvPr/>
        </p:nvSpPr>
        <p:spPr>
          <a:xfrm>
            <a:off x="10021824" y="3483864"/>
            <a:ext cx="384048"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5" name="Rectangle 64"/>
          <p:cNvSpPr/>
          <p:nvPr/>
        </p:nvSpPr>
        <p:spPr>
          <a:xfrm>
            <a:off x="9180576"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6" name="Rectangle 65"/>
          <p:cNvSpPr/>
          <p:nvPr/>
        </p:nvSpPr>
        <p:spPr>
          <a:xfrm>
            <a:off x="9601200"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7" name="Rectangle 66"/>
          <p:cNvSpPr/>
          <p:nvPr/>
        </p:nvSpPr>
        <p:spPr>
          <a:xfrm>
            <a:off x="10021824" y="3886200"/>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8" name="Left Bracket 67"/>
          <p:cNvSpPr/>
          <p:nvPr/>
        </p:nvSpPr>
        <p:spPr>
          <a:xfrm>
            <a:off x="9052560" y="3044952"/>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ight Bracket 68"/>
          <p:cNvSpPr/>
          <p:nvPr/>
        </p:nvSpPr>
        <p:spPr>
          <a:xfrm>
            <a:off x="10405872" y="3044952"/>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744200" y="3447288"/>
            <a:ext cx="1097280" cy="457200"/>
          </a:xfrm>
          <a:prstGeom prst="rect">
            <a:avLst/>
          </a:prstGeom>
          <a:noFill/>
        </p:spPr>
        <p:txBody>
          <a:bodyPr wrap="square" lIns="0" rIns="0" tIns="0" bIns="0" anchor="t">
            <a:spAutoFit/>
          </a:bodyPr>
          <a:lstStyle/>
          <a:p>
            <a:pPr algn="l"/>
            <a:r>
              <a:rPr sz="1600" b="1" i="0">
                <a:solidFill>
                  <a:srgbClr val="1F6F8B"/>
                </a:solidFill>
                <a:latin typeface="Calibri"/>
              </a:rPr>
              <a:t>rank 2</a:t>
            </a:r>
          </a:p>
        </p:txBody>
      </p:sp>
      <p:sp>
        <p:nvSpPr>
          <p:cNvPr id="71" name="TextBox 70"/>
          <p:cNvSpPr txBox="1"/>
          <p:nvPr/>
        </p:nvSpPr>
        <p:spPr>
          <a:xfrm>
            <a:off x="548640" y="5020056"/>
            <a:ext cx="1828800" cy="457200"/>
          </a:xfrm>
          <a:prstGeom prst="rect">
            <a:avLst/>
          </a:prstGeom>
          <a:noFill/>
        </p:spPr>
        <p:txBody>
          <a:bodyPr wrap="square" lIns="0" rIns="0" tIns="0" bIns="0" anchor="t">
            <a:spAutoFit/>
          </a:bodyPr>
          <a:lstStyle/>
          <a:p>
            <a:pPr algn="l"/>
            <a:r>
              <a:rPr sz="1600" b="1" i="0">
                <a:solidFill>
                  <a:srgbClr val="14213D"/>
                </a:solidFill>
                <a:latin typeface="Calibri"/>
              </a:rPr>
              <a:t>Singular</a:t>
            </a:r>
          </a:p>
        </p:txBody>
      </p:sp>
      <p:sp>
        <p:nvSpPr>
          <p:cNvPr id="72" name="Rectangle 71"/>
          <p:cNvSpPr/>
          <p:nvPr/>
        </p:nvSpPr>
        <p:spPr>
          <a:xfrm>
            <a:off x="2414016" y="4654296"/>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3" name="Rectangle 72"/>
          <p:cNvSpPr/>
          <p:nvPr/>
        </p:nvSpPr>
        <p:spPr>
          <a:xfrm>
            <a:off x="2834640" y="4654296"/>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4" name="Rectangle 73"/>
          <p:cNvSpPr/>
          <p:nvPr/>
        </p:nvSpPr>
        <p:spPr>
          <a:xfrm>
            <a:off x="3255264" y="4654296"/>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5" name="Rectangle 74"/>
          <p:cNvSpPr/>
          <p:nvPr/>
        </p:nvSpPr>
        <p:spPr>
          <a:xfrm>
            <a:off x="2414016" y="50566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76" name="Rectangle 75"/>
          <p:cNvSpPr/>
          <p:nvPr/>
        </p:nvSpPr>
        <p:spPr>
          <a:xfrm>
            <a:off x="2834640" y="50566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77" name="Rectangle 76"/>
          <p:cNvSpPr/>
          <p:nvPr/>
        </p:nvSpPr>
        <p:spPr>
          <a:xfrm>
            <a:off x="3255264" y="50566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78" name="Rectangle 77"/>
          <p:cNvSpPr/>
          <p:nvPr/>
        </p:nvSpPr>
        <p:spPr>
          <a:xfrm>
            <a:off x="2414016" y="545896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79" name="Rectangle 78"/>
          <p:cNvSpPr/>
          <p:nvPr/>
        </p:nvSpPr>
        <p:spPr>
          <a:xfrm>
            <a:off x="2834640" y="545896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80" name="Rectangle 79"/>
          <p:cNvSpPr/>
          <p:nvPr/>
        </p:nvSpPr>
        <p:spPr>
          <a:xfrm>
            <a:off x="3255264" y="545896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81" name="Left Bracket 80"/>
          <p:cNvSpPr/>
          <p:nvPr/>
        </p:nvSpPr>
        <p:spPr>
          <a:xfrm>
            <a:off x="2286000" y="4617720"/>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ight Bracket 81"/>
          <p:cNvSpPr/>
          <p:nvPr/>
        </p:nvSpPr>
        <p:spPr>
          <a:xfrm>
            <a:off x="3639312" y="4617720"/>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ight Arrow 82"/>
          <p:cNvSpPr/>
          <p:nvPr/>
        </p:nvSpPr>
        <p:spPr>
          <a:xfrm>
            <a:off x="4023360" y="5111496"/>
            <a:ext cx="1645920"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474720" y="5440679"/>
            <a:ext cx="2743200" cy="731520"/>
          </a:xfrm>
          <a:prstGeom prst="rect">
            <a:avLst/>
          </a:prstGeom>
          <a:noFill/>
        </p:spPr>
        <p:txBody>
          <a:bodyPr wrap="square" lIns="0" rIns="0" tIns="0" bIns="0" anchor="t">
            <a:spAutoFit/>
          </a:bodyPr>
          <a:lstStyle/>
          <a:p>
            <a:pPr algn="ctr"/>
            <a:r>
              <a:rPr sz="1200" b="0" i="0">
                <a:solidFill>
                  <a:srgbClr val="5B6675"/>
                </a:solidFill>
                <a:latin typeface="Calibri"/>
              </a:rPr>
              <a:t>R₂ ← R₂ − 2R₁,  R₃ ← R₃ − 3R₁</a:t>
            </a:r>
          </a:p>
        </p:txBody>
      </p:sp>
      <p:sp>
        <p:nvSpPr>
          <p:cNvPr id="85" name="Rectangle 84"/>
          <p:cNvSpPr/>
          <p:nvPr/>
        </p:nvSpPr>
        <p:spPr>
          <a:xfrm>
            <a:off x="9180576" y="4654296"/>
            <a:ext cx="384048"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86" name="Rectangle 85"/>
          <p:cNvSpPr/>
          <p:nvPr/>
        </p:nvSpPr>
        <p:spPr>
          <a:xfrm>
            <a:off x="9601200" y="4654296"/>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87" name="Rectangle 86"/>
          <p:cNvSpPr/>
          <p:nvPr/>
        </p:nvSpPr>
        <p:spPr>
          <a:xfrm>
            <a:off x="10021824" y="4654296"/>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88" name="Rectangle 87"/>
          <p:cNvSpPr/>
          <p:nvPr/>
        </p:nvSpPr>
        <p:spPr>
          <a:xfrm>
            <a:off x="9180576" y="50566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9" name="Rectangle 88"/>
          <p:cNvSpPr/>
          <p:nvPr/>
        </p:nvSpPr>
        <p:spPr>
          <a:xfrm>
            <a:off x="9601200" y="50566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0" name="Rectangle 89"/>
          <p:cNvSpPr/>
          <p:nvPr/>
        </p:nvSpPr>
        <p:spPr>
          <a:xfrm>
            <a:off x="10021824" y="5056632"/>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1" name="Rectangle 90"/>
          <p:cNvSpPr/>
          <p:nvPr/>
        </p:nvSpPr>
        <p:spPr>
          <a:xfrm>
            <a:off x="9180576" y="545896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2" name="Rectangle 91"/>
          <p:cNvSpPr/>
          <p:nvPr/>
        </p:nvSpPr>
        <p:spPr>
          <a:xfrm>
            <a:off x="9601200" y="545896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3" name="Rectangle 92"/>
          <p:cNvSpPr/>
          <p:nvPr/>
        </p:nvSpPr>
        <p:spPr>
          <a:xfrm>
            <a:off x="10021824" y="5458968"/>
            <a:ext cx="384048"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4" name="Left Bracket 93"/>
          <p:cNvSpPr/>
          <p:nvPr/>
        </p:nvSpPr>
        <p:spPr>
          <a:xfrm>
            <a:off x="9052560" y="4617720"/>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ight Bracket 94"/>
          <p:cNvSpPr/>
          <p:nvPr/>
        </p:nvSpPr>
        <p:spPr>
          <a:xfrm>
            <a:off x="10405872" y="4617720"/>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744200" y="5020056"/>
            <a:ext cx="1097280" cy="457200"/>
          </a:xfrm>
          <a:prstGeom prst="rect">
            <a:avLst/>
          </a:prstGeom>
          <a:noFill/>
        </p:spPr>
        <p:txBody>
          <a:bodyPr wrap="square" lIns="0" rIns="0" tIns="0" bIns="0" anchor="t">
            <a:spAutoFit/>
          </a:bodyPr>
          <a:lstStyle/>
          <a:p>
            <a:pPr algn="l"/>
            <a:r>
              <a:rPr sz="1600" b="1" i="0">
                <a:solidFill>
                  <a:srgbClr val="1F6F8B"/>
                </a:solidFill>
                <a:latin typeface="Calibri"/>
              </a:rPr>
              <a:t>rank 1</a:t>
            </a:r>
          </a:p>
        </p:txBody>
      </p:sp>
      <p:sp>
        <p:nvSpPr>
          <p:cNvPr id="97" name="TextBox 96"/>
          <p:cNvSpPr txBox="1"/>
          <p:nvPr/>
        </p:nvSpPr>
        <p:spPr>
          <a:xfrm>
            <a:off x="548640" y="6172200"/>
            <a:ext cx="10972800" cy="274320"/>
          </a:xfrm>
          <a:prstGeom prst="rect">
            <a:avLst/>
          </a:prstGeom>
          <a:noFill/>
        </p:spPr>
        <p:txBody>
          <a:bodyPr wrap="square" lIns="0" rIns="0" tIns="0" bIns="0" anchor="t">
            <a:spAutoFit/>
          </a:bodyPr>
          <a:lstStyle/>
          <a:p>
            <a:pPr algn="l"/>
            <a:r>
              <a:rPr sz="1200" b="0" i="1">
                <a:solidFill>
                  <a:srgbClr val="5B6675"/>
                </a:solidFill>
                <a:latin typeface="Calibri"/>
              </a:rPr>
              <a:t>The second example needs two rounds: after the first round, row 3 is twice row 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Pivots count the rank</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40</a:t>
            </a:r>
          </a:p>
        </p:txBody>
      </p:sp>
      <p:sp>
        <p:nvSpPr>
          <p:cNvPr id="6" name="TextBox 5"/>
          <p:cNvSpPr txBox="1"/>
          <p:nvPr/>
        </p:nvSpPr>
        <p:spPr>
          <a:xfrm>
            <a:off x="548640" y="1463040"/>
            <a:ext cx="2743200" cy="274320"/>
          </a:xfrm>
          <a:prstGeom prst="rect">
            <a:avLst/>
          </a:prstGeom>
          <a:noFill/>
        </p:spPr>
        <p:txBody>
          <a:bodyPr wrap="square" lIns="0" rIns="0" tIns="0" bIns="0" anchor="t">
            <a:spAutoFit/>
          </a:bodyPr>
          <a:lstStyle/>
          <a:p>
            <a:pPr algn="l"/>
            <a:r>
              <a:rPr sz="1100" b="1" i="0">
                <a:solidFill>
                  <a:srgbClr val="1F6F8B"/>
                </a:solidFill>
                <a:latin typeface="Calibri"/>
              </a:rPr>
              <a:t>MATRIX</a:t>
            </a:r>
          </a:p>
        </p:txBody>
      </p:sp>
      <p:sp>
        <p:nvSpPr>
          <p:cNvPr id="7" name="TextBox 6"/>
          <p:cNvSpPr txBox="1"/>
          <p:nvPr/>
        </p:nvSpPr>
        <p:spPr>
          <a:xfrm>
            <a:off x="548640" y="3429000"/>
            <a:ext cx="2743200" cy="274320"/>
          </a:xfrm>
          <a:prstGeom prst="rect">
            <a:avLst/>
          </a:prstGeom>
          <a:noFill/>
        </p:spPr>
        <p:txBody>
          <a:bodyPr wrap="square" lIns="0" rIns="0" tIns="0" bIns="0" anchor="t">
            <a:spAutoFit/>
          </a:bodyPr>
          <a:lstStyle/>
          <a:p>
            <a:pPr algn="l"/>
            <a:r>
              <a:rPr sz="1100" b="1" i="0">
                <a:solidFill>
                  <a:srgbClr val="1F6F8B"/>
                </a:solidFill>
                <a:latin typeface="Calibri"/>
              </a:rPr>
              <a:t>ROW ECHELON FORM</a:t>
            </a:r>
          </a:p>
        </p:txBody>
      </p:sp>
      <p:sp>
        <p:nvSpPr>
          <p:cNvPr id="8" name="TextBox 7"/>
          <p:cNvSpPr txBox="1"/>
          <p:nvPr/>
        </p:nvSpPr>
        <p:spPr>
          <a:xfrm>
            <a:off x="548640" y="1783080"/>
            <a:ext cx="2651760" cy="274320"/>
          </a:xfrm>
          <a:prstGeom prst="rect">
            <a:avLst/>
          </a:prstGeom>
          <a:noFill/>
        </p:spPr>
        <p:txBody>
          <a:bodyPr wrap="square" lIns="0" rIns="0" tIns="0" bIns="0" anchor="t">
            <a:spAutoFit/>
          </a:bodyPr>
          <a:lstStyle/>
          <a:p>
            <a:pPr algn="l"/>
            <a:r>
              <a:rPr sz="1400" b="1" i="0">
                <a:solidFill>
                  <a:srgbClr val="14213D"/>
                </a:solidFill>
                <a:latin typeface="Calibri"/>
              </a:rPr>
              <a:t>Matrix 1</a:t>
            </a:r>
          </a:p>
        </p:txBody>
      </p:sp>
      <p:sp>
        <p:nvSpPr>
          <p:cNvPr id="9" name="Rectangle 8"/>
          <p:cNvSpPr/>
          <p:nvPr/>
        </p:nvSpPr>
        <p:spPr>
          <a:xfrm>
            <a:off x="1179576"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0" name="Rectangle 9"/>
          <p:cNvSpPr/>
          <p:nvPr/>
        </p:nvSpPr>
        <p:spPr>
          <a:xfrm>
            <a:off x="1636776"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1" name="Rectangle 10"/>
          <p:cNvSpPr/>
          <p:nvPr/>
        </p:nvSpPr>
        <p:spPr>
          <a:xfrm>
            <a:off x="2093976"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2" name="Rectangle 11"/>
          <p:cNvSpPr/>
          <p:nvPr/>
        </p:nvSpPr>
        <p:spPr>
          <a:xfrm>
            <a:off x="1179576"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3" name="Rectangle 12"/>
          <p:cNvSpPr/>
          <p:nvPr/>
        </p:nvSpPr>
        <p:spPr>
          <a:xfrm>
            <a:off x="1636776"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14" name="Rectangle 13"/>
          <p:cNvSpPr/>
          <p:nvPr/>
        </p:nvSpPr>
        <p:spPr>
          <a:xfrm>
            <a:off x="2093976"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5" name="Rectangle 14"/>
          <p:cNvSpPr/>
          <p:nvPr/>
        </p:nvSpPr>
        <p:spPr>
          <a:xfrm>
            <a:off x="1179576"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6" name="Rectangle 15"/>
          <p:cNvSpPr/>
          <p:nvPr/>
        </p:nvSpPr>
        <p:spPr>
          <a:xfrm>
            <a:off x="1636776"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17" name="Rectangle 16"/>
          <p:cNvSpPr/>
          <p:nvPr/>
        </p:nvSpPr>
        <p:spPr>
          <a:xfrm>
            <a:off x="2093976"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18" name="Left Bracket 17"/>
          <p:cNvSpPr/>
          <p:nvPr/>
        </p:nvSpPr>
        <p:spPr>
          <a:xfrm>
            <a:off x="1051560" y="206654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Bracket 18"/>
          <p:cNvSpPr/>
          <p:nvPr/>
        </p:nvSpPr>
        <p:spPr>
          <a:xfrm>
            <a:off x="2514600" y="206654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79576" y="3749039"/>
            <a:ext cx="420624"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1" name="Rectangle 20"/>
          <p:cNvSpPr/>
          <p:nvPr/>
        </p:nvSpPr>
        <p:spPr>
          <a:xfrm>
            <a:off x="1636776"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2" name="Rectangle 21"/>
          <p:cNvSpPr/>
          <p:nvPr/>
        </p:nvSpPr>
        <p:spPr>
          <a:xfrm>
            <a:off x="2093976"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3" name="Rectangle 22"/>
          <p:cNvSpPr/>
          <p:nvPr/>
        </p:nvSpPr>
        <p:spPr>
          <a:xfrm>
            <a:off x="1179576"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4" name="Rectangle 23"/>
          <p:cNvSpPr/>
          <p:nvPr/>
        </p:nvSpPr>
        <p:spPr>
          <a:xfrm>
            <a:off x="1636776" y="4151376"/>
            <a:ext cx="420624"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5" name="Rectangle 24"/>
          <p:cNvSpPr/>
          <p:nvPr/>
        </p:nvSpPr>
        <p:spPr>
          <a:xfrm>
            <a:off x="2093976"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6" name="Rectangle 25"/>
          <p:cNvSpPr/>
          <p:nvPr/>
        </p:nvSpPr>
        <p:spPr>
          <a:xfrm>
            <a:off x="1179576"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7" name="Rectangle 26"/>
          <p:cNvSpPr/>
          <p:nvPr/>
        </p:nvSpPr>
        <p:spPr>
          <a:xfrm>
            <a:off x="1636776"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8" name="Rectangle 27"/>
          <p:cNvSpPr/>
          <p:nvPr/>
        </p:nvSpPr>
        <p:spPr>
          <a:xfrm>
            <a:off x="2093976" y="4553712"/>
            <a:ext cx="420624"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29" name="Left Bracket 28"/>
          <p:cNvSpPr/>
          <p:nvPr/>
        </p:nvSpPr>
        <p:spPr>
          <a:xfrm>
            <a:off x="1051560" y="371246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Bracket 29"/>
          <p:cNvSpPr/>
          <p:nvPr/>
        </p:nvSpPr>
        <p:spPr>
          <a:xfrm>
            <a:off x="2514600" y="371246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983480"/>
            <a:ext cx="2651760" cy="365760"/>
          </a:xfrm>
          <a:prstGeom prst="rect">
            <a:avLst/>
          </a:prstGeom>
          <a:noFill/>
        </p:spPr>
        <p:txBody>
          <a:bodyPr wrap="square" lIns="0" rIns="0" tIns="0" bIns="0" anchor="t">
            <a:spAutoFit/>
          </a:bodyPr>
          <a:lstStyle/>
          <a:p>
            <a:pPr algn="ctr"/>
            <a:r>
              <a:rPr sz="1400" b="0" i="0">
                <a:solidFill>
                  <a:srgbClr val="5B6675"/>
                </a:solidFill>
                <a:latin typeface="Calibri"/>
              </a:rPr>
              <a:t>Number of pivots = 3</a:t>
            </a:r>
          </a:p>
        </p:txBody>
      </p:sp>
      <p:sp>
        <p:nvSpPr>
          <p:cNvPr id="32" name="TextBox 31"/>
          <p:cNvSpPr txBox="1"/>
          <p:nvPr/>
        </p:nvSpPr>
        <p:spPr>
          <a:xfrm>
            <a:off x="548640" y="5349240"/>
            <a:ext cx="2651760" cy="548640"/>
          </a:xfrm>
          <a:prstGeom prst="rect">
            <a:avLst/>
          </a:prstGeom>
          <a:noFill/>
        </p:spPr>
        <p:txBody>
          <a:bodyPr wrap="square" lIns="0" rIns="0" tIns="0" bIns="0" anchor="t">
            <a:spAutoFit/>
          </a:bodyPr>
          <a:lstStyle/>
          <a:p>
            <a:pPr algn="ctr"/>
            <a:r>
              <a:rPr sz="2400" b="1" i="0">
                <a:solidFill>
                  <a:srgbClr val="14213D"/>
                </a:solidFill>
                <a:latin typeface="Cambria"/>
              </a:rPr>
              <a:t>Rank = 3</a:t>
            </a:r>
          </a:p>
        </p:txBody>
      </p:sp>
      <p:sp>
        <p:nvSpPr>
          <p:cNvPr id="33" name="TextBox 32"/>
          <p:cNvSpPr txBox="1"/>
          <p:nvPr/>
        </p:nvSpPr>
        <p:spPr>
          <a:xfrm>
            <a:off x="3364992" y="1783080"/>
            <a:ext cx="2651760" cy="274320"/>
          </a:xfrm>
          <a:prstGeom prst="rect">
            <a:avLst/>
          </a:prstGeom>
          <a:noFill/>
        </p:spPr>
        <p:txBody>
          <a:bodyPr wrap="square" lIns="0" rIns="0" tIns="0" bIns="0" anchor="t">
            <a:spAutoFit/>
          </a:bodyPr>
          <a:lstStyle/>
          <a:p>
            <a:pPr algn="l"/>
            <a:r>
              <a:rPr sz="1400" b="1" i="0">
                <a:solidFill>
                  <a:srgbClr val="14213D"/>
                </a:solidFill>
                <a:latin typeface="Calibri"/>
              </a:rPr>
              <a:t>Matrix 2</a:t>
            </a:r>
          </a:p>
        </p:txBody>
      </p:sp>
      <p:sp>
        <p:nvSpPr>
          <p:cNvPr id="34" name="Rectangle 33"/>
          <p:cNvSpPr/>
          <p:nvPr/>
        </p:nvSpPr>
        <p:spPr>
          <a:xfrm>
            <a:off x="3995928"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5" name="Rectangle 34"/>
          <p:cNvSpPr/>
          <p:nvPr/>
        </p:nvSpPr>
        <p:spPr>
          <a:xfrm>
            <a:off x="4453128"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6" name="Rectangle 35"/>
          <p:cNvSpPr/>
          <p:nvPr/>
        </p:nvSpPr>
        <p:spPr>
          <a:xfrm>
            <a:off x="4910328"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7" name="Rectangle 36"/>
          <p:cNvSpPr/>
          <p:nvPr/>
        </p:nvSpPr>
        <p:spPr>
          <a:xfrm>
            <a:off x="3995928"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8" name="Rectangle 37"/>
          <p:cNvSpPr/>
          <p:nvPr/>
        </p:nvSpPr>
        <p:spPr>
          <a:xfrm>
            <a:off x="4453128"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9" name="Rectangle 38"/>
          <p:cNvSpPr/>
          <p:nvPr/>
        </p:nvSpPr>
        <p:spPr>
          <a:xfrm>
            <a:off x="4910328"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40" name="Rectangle 39"/>
          <p:cNvSpPr/>
          <p:nvPr/>
        </p:nvSpPr>
        <p:spPr>
          <a:xfrm>
            <a:off x="3995928"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1" name="Rectangle 40"/>
          <p:cNvSpPr/>
          <p:nvPr/>
        </p:nvSpPr>
        <p:spPr>
          <a:xfrm>
            <a:off x="4453128"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2" name="Rectangle 41"/>
          <p:cNvSpPr/>
          <p:nvPr/>
        </p:nvSpPr>
        <p:spPr>
          <a:xfrm>
            <a:off x="4910328"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43" name="Left Bracket 42"/>
          <p:cNvSpPr/>
          <p:nvPr/>
        </p:nvSpPr>
        <p:spPr>
          <a:xfrm>
            <a:off x="3867912" y="206654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Bracket 43"/>
          <p:cNvSpPr/>
          <p:nvPr/>
        </p:nvSpPr>
        <p:spPr>
          <a:xfrm>
            <a:off x="5330952" y="206654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995928" y="3749039"/>
            <a:ext cx="420624"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6" name="Rectangle 45"/>
          <p:cNvSpPr/>
          <p:nvPr/>
        </p:nvSpPr>
        <p:spPr>
          <a:xfrm>
            <a:off x="4453128"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7" name="Rectangle 46"/>
          <p:cNvSpPr/>
          <p:nvPr/>
        </p:nvSpPr>
        <p:spPr>
          <a:xfrm>
            <a:off x="4910328"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8" name="Rectangle 47"/>
          <p:cNvSpPr/>
          <p:nvPr/>
        </p:nvSpPr>
        <p:spPr>
          <a:xfrm>
            <a:off x="3995928"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49" name="Rectangle 48"/>
          <p:cNvSpPr/>
          <p:nvPr/>
        </p:nvSpPr>
        <p:spPr>
          <a:xfrm>
            <a:off x="4453128"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0" name="Rectangle 49"/>
          <p:cNvSpPr/>
          <p:nvPr/>
        </p:nvSpPr>
        <p:spPr>
          <a:xfrm>
            <a:off x="4910328" y="4151376"/>
            <a:ext cx="420624"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51" name="Rectangle 50"/>
          <p:cNvSpPr/>
          <p:nvPr/>
        </p:nvSpPr>
        <p:spPr>
          <a:xfrm>
            <a:off x="3995928"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2" name="Rectangle 51"/>
          <p:cNvSpPr/>
          <p:nvPr/>
        </p:nvSpPr>
        <p:spPr>
          <a:xfrm>
            <a:off x="4453128"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3" name="Rectangle 52"/>
          <p:cNvSpPr/>
          <p:nvPr/>
        </p:nvSpPr>
        <p:spPr>
          <a:xfrm>
            <a:off x="4910328"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4" name="Left Bracket 53"/>
          <p:cNvSpPr/>
          <p:nvPr/>
        </p:nvSpPr>
        <p:spPr>
          <a:xfrm>
            <a:off x="3867912" y="371246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Bracket 54"/>
          <p:cNvSpPr/>
          <p:nvPr/>
        </p:nvSpPr>
        <p:spPr>
          <a:xfrm>
            <a:off x="5330952" y="371246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64992" y="4983480"/>
            <a:ext cx="2651760" cy="365760"/>
          </a:xfrm>
          <a:prstGeom prst="rect">
            <a:avLst/>
          </a:prstGeom>
          <a:noFill/>
        </p:spPr>
        <p:txBody>
          <a:bodyPr wrap="square" lIns="0" rIns="0" tIns="0" bIns="0" anchor="t">
            <a:spAutoFit/>
          </a:bodyPr>
          <a:lstStyle/>
          <a:p>
            <a:pPr algn="ctr"/>
            <a:r>
              <a:rPr sz="1400" b="0" i="0">
                <a:solidFill>
                  <a:srgbClr val="5B6675"/>
                </a:solidFill>
                <a:latin typeface="Calibri"/>
              </a:rPr>
              <a:t>Number of pivots = 2</a:t>
            </a:r>
          </a:p>
        </p:txBody>
      </p:sp>
      <p:sp>
        <p:nvSpPr>
          <p:cNvPr id="57" name="TextBox 56"/>
          <p:cNvSpPr txBox="1"/>
          <p:nvPr/>
        </p:nvSpPr>
        <p:spPr>
          <a:xfrm>
            <a:off x="3364992" y="5349240"/>
            <a:ext cx="2651760" cy="548640"/>
          </a:xfrm>
          <a:prstGeom prst="rect">
            <a:avLst/>
          </a:prstGeom>
          <a:noFill/>
        </p:spPr>
        <p:txBody>
          <a:bodyPr wrap="square" lIns="0" rIns="0" tIns="0" bIns="0" anchor="t">
            <a:spAutoFit/>
          </a:bodyPr>
          <a:lstStyle/>
          <a:p>
            <a:pPr algn="ctr"/>
            <a:r>
              <a:rPr sz="2400" b="1" i="0">
                <a:solidFill>
                  <a:srgbClr val="14213D"/>
                </a:solidFill>
                <a:latin typeface="Cambria"/>
              </a:rPr>
              <a:t>Rank = 2</a:t>
            </a:r>
          </a:p>
        </p:txBody>
      </p:sp>
      <p:sp>
        <p:nvSpPr>
          <p:cNvPr id="58" name="TextBox 57"/>
          <p:cNvSpPr txBox="1"/>
          <p:nvPr/>
        </p:nvSpPr>
        <p:spPr>
          <a:xfrm>
            <a:off x="6181344" y="1783080"/>
            <a:ext cx="2651760" cy="274320"/>
          </a:xfrm>
          <a:prstGeom prst="rect">
            <a:avLst/>
          </a:prstGeom>
          <a:noFill/>
        </p:spPr>
        <p:txBody>
          <a:bodyPr wrap="square" lIns="0" rIns="0" tIns="0" bIns="0" anchor="t">
            <a:spAutoFit/>
          </a:bodyPr>
          <a:lstStyle/>
          <a:p>
            <a:pPr algn="l"/>
            <a:r>
              <a:rPr sz="1400" b="1" i="0">
                <a:solidFill>
                  <a:srgbClr val="14213D"/>
                </a:solidFill>
                <a:latin typeface="Calibri"/>
              </a:rPr>
              <a:t>Matrix 3</a:t>
            </a:r>
          </a:p>
        </p:txBody>
      </p:sp>
      <p:sp>
        <p:nvSpPr>
          <p:cNvPr id="59" name="Rectangle 58"/>
          <p:cNvSpPr/>
          <p:nvPr/>
        </p:nvSpPr>
        <p:spPr>
          <a:xfrm>
            <a:off x="6812279"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0" name="Rectangle 59"/>
          <p:cNvSpPr/>
          <p:nvPr/>
        </p:nvSpPr>
        <p:spPr>
          <a:xfrm>
            <a:off x="7269479"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1" name="Rectangle 60"/>
          <p:cNvSpPr/>
          <p:nvPr/>
        </p:nvSpPr>
        <p:spPr>
          <a:xfrm>
            <a:off x="7726679"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2" name="Rectangle 61"/>
          <p:cNvSpPr/>
          <p:nvPr/>
        </p:nvSpPr>
        <p:spPr>
          <a:xfrm>
            <a:off x="6812279"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63" name="Rectangle 62"/>
          <p:cNvSpPr/>
          <p:nvPr/>
        </p:nvSpPr>
        <p:spPr>
          <a:xfrm>
            <a:off x="7269479"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64" name="Rectangle 63"/>
          <p:cNvSpPr/>
          <p:nvPr/>
        </p:nvSpPr>
        <p:spPr>
          <a:xfrm>
            <a:off x="7726679"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65" name="Rectangle 64"/>
          <p:cNvSpPr/>
          <p:nvPr/>
        </p:nvSpPr>
        <p:spPr>
          <a:xfrm>
            <a:off x="6812279"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66" name="Rectangle 65"/>
          <p:cNvSpPr/>
          <p:nvPr/>
        </p:nvSpPr>
        <p:spPr>
          <a:xfrm>
            <a:off x="7269479"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67" name="Rectangle 66"/>
          <p:cNvSpPr/>
          <p:nvPr/>
        </p:nvSpPr>
        <p:spPr>
          <a:xfrm>
            <a:off x="7726679"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68" name="Left Bracket 67"/>
          <p:cNvSpPr/>
          <p:nvPr/>
        </p:nvSpPr>
        <p:spPr>
          <a:xfrm>
            <a:off x="6684264" y="206654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ight Bracket 68"/>
          <p:cNvSpPr/>
          <p:nvPr/>
        </p:nvSpPr>
        <p:spPr>
          <a:xfrm>
            <a:off x="8147304" y="206654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812279" y="3749039"/>
            <a:ext cx="420624" cy="36576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1" name="Rectangle 70"/>
          <p:cNvSpPr/>
          <p:nvPr/>
        </p:nvSpPr>
        <p:spPr>
          <a:xfrm>
            <a:off x="7269479"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2" name="Rectangle 71"/>
          <p:cNvSpPr/>
          <p:nvPr/>
        </p:nvSpPr>
        <p:spPr>
          <a:xfrm>
            <a:off x="7726679"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3" name="Rectangle 72"/>
          <p:cNvSpPr/>
          <p:nvPr/>
        </p:nvSpPr>
        <p:spPr>
          <a:xfrm>
            <a:off x="6812279"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4" name="Rectangle 73"/>
          <p:cNvSpPr/>
          <p:nvPr/>
        </p:nvSpPr>
        <p:spPr>
          <a:xfrm>
            <a:off x="7269479"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5" name="Rectangle 74"/>
          <p:cNvSpPr/>
          <p:nvPr/>
        </p:nvSpPr>
        <p:spPr>
          <a:xfrm>
            <a:off x="7726679"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6" name="Rectangle 75"/>
          <p:cNvSpPr/>
          <p:nvPr/>
        </p:nvSpPr>
        <p:spPr>
          <a:xfrm>
            <a:off x="6812279"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7" name="Rectangle 76"/>
          <p:cNvSpPr/>
          <p:nvPr/>
        </p:nvSpPr>
        <p:spPr>
          <a:xfrm>
            <a:off x="7269479"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8" name="Rectangle 77"/>
          <p:cNvSpPr/>
          <p:nvPr/>
        </p:nvSpPr>
        <p:spPr>
          <a:xfrm>
            <a:off x="7726679"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9" name="Left Bracket 78"/>
          <p:cNvSpPr/>
          <p:nvPr/>
        </p:nvSpPr>
        <p:spPr>
          <a:xfrm>
            <a:off x="6684264" y="371246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ight Bracket 79"/>
          <p:cNvSpPr/>
          <p:nvPr/>
        </p:nvSpPr>
        <p:spPr>
          <a:xfrm>
            <a:off x="8147304" y="371246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181344" y="4983480"/>
            <a:ext cx="2651760" cy="365760"/>
          </a:xfrm>
          <a:prstGeom prst="rect">
            <a:avLst/>
          </a:prstGeom>
          <a:noFill/>
        </p:spPr>
        <p:txBody>
          <a:bodyPr wrap="square" lIns="0" rIns="0" tIns="0" bIns="0" anchor="t">
            <a:spAutoFit/>
          </a:bodyPr>
          <a:lstStyle/>
          <a:p>
            <a:pPr algn="ctr"/>
            <a:r>
              <a:rPr sz="1400" b="0" i="0">
                <a:solidFill>
                  <a:srgbClr val="5B6675"/>
                </a:solidFill>
                <a:latin typeface="Calibri"/>
              </a:rPr>
              <a:t>Number of pivots = 1</a:t>
            </a:r>
          </a:p>
        </p:txBody>
      </p:sp>
      <p:sp>
        <p:nvSpPr>
          <p:cNvPr id="82" name="TextBox 81"/>
          <p:cNvSpPr txBox="1"/>
          <p:nvPr/>
        </p:nvSpPr>
        <p:spPr>
          <a:xfrm>
            <a:off x="6181344" y="5349240"/>
            <a:ext cx="2651760" cy="548640"/>
          </a:xfrm>
          <a:prstGeom prst="rect">
            <a:avLst/>
          </a:prstGeom>
          <a:noFill/>
        </p:spPr>
        <p:txBody>
          <a:bodyPr wrap="square" lIns="0" rIns="0" tIns="0" bIns="0" anchor="t">
            <a:spAutoFit/>
          </a:bodyPr>
          <a:lstStyle/>
          <a:p>
            <a:pPr algn="ctr"/>
            <a:r>
              <a:rPr sz="2400" b="1" i="0">
                <a:solidFill>
                  <a:srgbClr val="14213D"/>
                </a:solidFill>
                <a:latin typeface="Cambria"/>
              </a:rPr>
              <a:t>Rank = 1</a:t>
            </a:r>
          </a:p>
        </p:txBody>
      </p:sp>
      <p:sp>
        <p:nvSpPr>
          <p:cNvPr id="83" name="TextBox 82"/>
          <p:cNvSpPr txBox="1"/>
          <p:nvPr/>
        </p:nvSpPr>
        <p:spPr>
          <a:xfrm>
            <a:off x="8997696" y="1783080"/>
            <a:ext cx="2651760" cy="274320"/>
          </a:xfrm>
          <a:prstGeom prst="rect">
            <a:avLst/>
          </a:prstGeom>
          <a:noFill/>
        </p:spPr>
        <p:txBody>
          <a:bodyPr wrap="square" lIns="0" rIns="0" tIns="0" bIns="0" anchor="t">
            <a:spAutoFit/>
          </a:bodyPr>
          <a:lstStyle/>
          <a:p>
            <a:pPr algn="l"/>
            <a:r>
              <a:rPr sz="1400" b="1" i="0">
                <a:solidFill>
                  <a:srgbClr val="14213D"/>
                </a:solidFill>
                <a:latin typeface="Calibri"/>
              </a:rPr>
              <a:t>Matrix 4</a:t>
            </a:r>
          </a:p>
        </p:txBody>
      </p:sp>
      <p:sp>
        <p:nvSpPr>
          <p:cNvPr id="84" name="Rectangle 83"/>
          <p:cNvSpPr/>
          <p:nvPr/>
        </p:nvSpPr>
        <p:spPr>
          <a:xfrm>
            <a:off x="9628632"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5" name="Rectangle 84"/>
          <p:cNvSpPr/>
          <p:nvPr/>
        </p:nvSpPr>
        <p:spPr>
          <a:xfrm>
            <a:off x="10085832"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6" name="Rectangle 85"/>
          <p:cNvSpPr/>
          <p:nvPr/>
        </p:nvSpPr>
        <p:spPr>
          <a:xfrm>
            <a:off x="10543032" y="2103120"/>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7" name="Rectangle 86"/>
          <p:cNvSpPr/>
          <p:nvPr/>
        </p:nvSpPr>
        <p:spPr>
          <a:xfrm>
            <a:off x="9628632"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8" name="Rectangle 87"/>
          <p:cNvSpPr/>
          <p:nvPr/>
        </p:nvSpPr>
        <p:spPr>
          <a:xfrm>
            <a:off x="10085832"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9" name="Rectangle 88"/>
          <p:cNvSpPr/>
          <p:nvPr/>
        </p:nvSpPr>
        <p:spPr>
          <a:xfrm>
            <a:off x="10543032" y="250545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0" name="Rectangle 89"/>
          <p:cNvSpPr/>
          <p:nvPr/>
        </p:nvSpPr>
        <p:spPr>
          <a:xfrm>
            <a:off x="9628632"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1" name="Rectangle 90"/>
          <p:cNvSpPr/>
          <p:nvPr/>
        </p:nvSpPr>
        <p:spPr>
          <a:xfrm>
            <a:off x="10085832"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2" name="Rectangle 91"/>
          <p:cNvSpPr/>
          <p:nvPr/>
        </p:nvSpPr>
        <p:spPr>
          <a:xfrm>
            <a:off x="10543032" y="2907791"/>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3" name="Left Bracket 92"/>
          <p:cNvSpPr/>
          <p:nvPr/>
        </p:nvSpPr>
        <p:spPr>
          <a:xfrm>
            <a:off x="9500616" y="206654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ight Bracket 93"/>
          <p:cNvSpPr/>
          <p:nvPr/>
        </p:nvSpPr>
        <p:spPr>
          <a:xfrm>
            <a:off x="10963656" y="206654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9628632"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6" name="Rectangle 95"/>
          <p:cNvSpPr/>
          <p:nvPr/>
        </p:nvSpPr>
        <p:spPr>
          <a:xfrm>
            <a:off x="10085832"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7" name="Rectangle 96"/>
          <p:cNvSpPr/>
          <p:nvPr/>
        </p:nvSpPr>
        <p:spPr>
          <a:xfrm>
            <a:off x="10543032" y="3749039"/>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8" name="Rectangle 97"/>
          <p:cNvSpPr/>
          <p:nvPr/>
        </p:nvSpPr>
        <p:spPr>
          <a:xfrm>
            <a:off x="9628632"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9" name="Rectangle 98"/>
          <p:cNvSpPr/>
          <p:nvPr/>
        </p:nvSpPr>
        <p:spPr>
          <a:xfrm>
            <a:off x="10085832"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00" name="Rectangle 99"/>
          <p:cNvSpPr/>
          <p:nvPr/>
        </p:nvSpPr>
        <p:spPr>
          <a:xfrm>
            <a:off x="10543032" y="4151376"/>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01" name="Rectangle 100"/>
          <p:cNvSpPr/>
          <p:nvPr/>
        </p:nvSpPr>
        <p:spPr>
          <a:xfrm>
            <a:off x="9628632"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02" name="Rectangle 101"/>
          <p:cNvSpPr/>
          <p:nvPr/>
        </p:nvSpPr>
        <p:spPr>
          <a:xfrm>
            <a:off x="10085832"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03" name="Rectangle 102"/>
          <p:cNvSpPr/>
          <p:nvPr/>
        </p:nvSpPr>
        <p:spPr>
          <a:xfrm>
            <a:off x="10543032" y="4553712"/>
            <a:ext cx="420624" cy="36576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04" name="Left Bracket 103"/>
          <p:cNvSpPr/>
          <p:nvPr/>
        </p:nvSpPr>
        <p:spPr>
          <a:xfrm>
            <a:off x="9500616" y="3712463"/>
            <a:ext cx="128016" cy="1243584"/>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ight Bracket 104"/>
          <p:cNvSpPr/>
          <p:nvPr/>
        </p:nvSpPr>
        <p:spPr>
          <a:xfrm>
            <a:off x="10963656" y="3712463"/>
            <a:ext cx="128016" cy="1243584"/>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997696" y="4983480"/>
            <a:ext cx="2651760" cy="365760"/>
          </a:xfrm>
          <a:prstGeom prst="rect">
            <a:avLst/>
          </a:prstGeom>
          <a:noFill/>
        </p:spPr>
        <p:txBody>
          <a:bodyPr wrap="square" lIns="0" rIns="0" tIns="0" bIns="0" anchor="t">
            <a:spAutoFit/>
          </a:bodyPr>
          <a:lstStyle/>
          <a:p>
            <a:pPr algn="ctr"/>
            <a:r>
              <a:rPr sz="1400" b="0" i="0">
                <a:solidFill>
                  <a:srgbClr val="5B6675"/>
                </a:solidFill>
                <a:latin typeface="Calibri"/>
              </a:rPr>
              <a:t>Number of pivots = 0</a:t>
            </a:r>
          </a:p>
        </p:txBody>
      </p:sp>
      <p:sp>
        <p:nvSpPr>
          <p:cNvPr id="107" name="TextBox 106"/>
          <p:cNvSpPr txBox="1"/>
          <p:nvPr/>
        </p:nvSpPr>
        <p:spPr>
          <a:xfrm>
            <a:off x="8997696" y="5349240"/>
            <a:ext cx="2651760" cy="548640"/>
          </a:xfrm>
          <a:prstGeom prst="rect">
            <a:avLst/>
          </a:prstGeom>
          <a:noFill/>
        </p:spPr>
        <p:txBody>
          <a:bodyPr wrap="square" lIns="0" rIns="0" tIns="0" bIns="0" anchor="t">
            <a:spAutoFit/>
          </a:bodyPr>
          <a:lstStyle/>
          <a:p>
            <a:pPr algn="ctr"/>
            <a:r>
              <a:rPr sz="2400" b="1" i="0">
                <a:solidFill>
                  <a:srgbClr val="14213D"/>
                </a:solidFill>
                <a:latin typeface="Cambria"/>
              </a:rPr>
              <a:t>Rank = 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41</a:t>
            </a:r>
          </a:p>
        </p:txBody>
      </p:sp>
      <p:sp>
        <p:nvSpPr>
          <p:cNvPr id="4" name="TextBox 3"/>
          <p:cNvSpPr txBox="1"/>
          <p:nvPr/>
        </p:nvSpPr>
        <p:spPr>
          <a:xfrm>
            <a:off x="548640" y="2011680"/>
            <a:ext cx="5486400" cy="365760"/>
          </a:xfrm>
          <a:prstGeom prst="rect">
            <a:avLst/>
          </a:prstGeom>
          <a:noFill/>
        </p:spPr>
        <p:txBody>
          <a:bodyPr wrap="square" lIns="0" rIns="0" tIns="0" bIns="0" anchor="t">
            <a:spAutoFit/>
          </a:bodyPr>
          <a:lstStyle/>
          <a:p>
            <a:pPr algn="l"/>
            <a:r>
              <a:rPr sz="1600" b="1" i="0">
                <a:solidFill>
                  <a:srgbClr val="F2B263"/>
                </a:solidFill>
                <a:latin typeface="Calibri"/>
              </a:rPr>
              <a:t>PART 5</a:t>
            </a:r>
          </a:p>
        </p:txBody>
      </p:sp>
      <p:sp>
        <p:nvSpPr>
          <p:cNvPr id="5" name="TextBox 4"/>
          <p:cNvSpPr txBox="1"/>
          <p:nvPr/>
        </p:nvSpPr>
        <p:spPr>
          <a:xfrm>
            <a:off x="548640" y="2468880"/>
            <a:ext cx="10515600" cy="1463040"/>
          </a:xfrm>
          <a:prstGeom prst="rect">
            <a:avLst/>
          </a:prstGeom>
          <a:noFill/>
        </p:spPr>
        <p:txBody>
          <a:bodyPr wrap="square" lIns="0" rIns="0" tIns="0" bIns="0" anchor="t">
            <a:spAutoFit/>
          </a:bodyPr>
          <a:lstStyle/>
          <a:p>
            <a:pPr algn="l"/>
            <a:r>
              <a:rPr sz="5400" b="1" i="0">
                <a:solidFill>
                  <a:srgbClr val="FFFFFF"/>
                </a:solidFill>
                <a:latin typeface="Cambria"/>
              </a:rPr>
              <a:t>Reduced row echelon form</a:t>
            </a:r>
          </a:p>
        </p:txBody>
      </p:sp>
      <p:sp>
        <p:nvSpPr>
          <p:cNvPr id="6" name="TextBox 5"/>
          <p:cNvSpPr txBox="1"/>
          <p:nvPr/>
        </p:nvSpPr>
        <p:spPr>
          <a:xfrm>
            <a:off x="548640" y="4114800"/>
            <a:ext cx="8229600" cy="1097280"/>
          </a:xfrm>
          <a:prstGeom prst="rect">
            <a:avLst/>
          </a:prstGeom>
          <a:noFill/>
        </p:spPr>
        <p:txBody>
          <a:bodyPr wrap="square" lIns="0" rIns="0" tIns="0" bIns="0" anchor="t">
            <a:spAutoFit/>
          </a:bodyPr>
          <a:lstStyle/>
          <a:p>
            <a:pPr algn="l">
              <a:lnSpc>
                <a:spcPct val="120000"/>
              </a:lnSpc>
            </a:pPr>
            <a:r>
              <a:rPr sz="2000" b="0" i="0">
                <a:solidFill>
                  <a:srgbClr val="BFD8D5"/>
                </a:solidFill>
                <a:latin typeface="Calibri"/>
              </a:rPr>
              <a:t>Continue past the staircase: pivots become 1 and everything above a pivot becomes 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REDUCED 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Reduced row echelon form: definition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42</a:t>
            </a:r>
          </a:p>
        </p:txBody>
      </p:sp>
      <p:sp>
        <p:nvSpPr>
          <p:cNvPr id="6" name="Rounded Rectangle 5"/>
          <p:cNvSpPr/>
          <p:nvPr/>
        </p:nvSpPr>
        <p:spPr>
          <a:xfrm>
            <a:off x="548640" y="1417320"/>
            <a:ext cx="6400800" cy="310896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18488"/>
            <a:ext cx="585216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1929384"/>
            <a:ext cx="5852160" cy="2468880"/>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A matrix is in </a:t>
            </a:r>
            <a:r>
              <a:rPr sz="1700" b="1" i="0">
                <a:solidFill>
                  <a:srgbClr val="14213D"/>
                </a:solidFill>
                <a:latin typeface="Calibri"/>
              </a:rPr>
              <a:t>reduced row echelon form</a:t>
            </a:r>
            <a:r>
              <a:rPr sz="1700" b="0" i="0">
                <a:solidFill>
                  <a:srgbClr val="14213D"/>
                </a:solidFill>
                <a:latin typeface="Calibri"/>
              </a:rPr>
              <a:t> if</a:t>
            </a:r>
          </a:p>
          <a:p>
            <a:pPr algn="l">
              <a:lnSpc>
                <a:spcPct val="115000"/>
              </a:lnSpc>
              <a:spcAft>
                <a:spcPts val="600"/>
              </a:spcAft>
            </a:pPr>
            <a:r>
              <a:rPr sz="1700" b="0" i="0">
                <a:solidFill>
                  <a:srgbClr val="14213D"/>
                </a:solidFill>
                <a:latin typeface="Calibri"/>
              </a:rPr>
              <a:t>(1)  it is in row echelon form;</a:t>
            </a:r>
          </a:p>
          <a:p>
            <a:pPr algn="l">
              <a:lnSpc>
                <a:spcPct val="115000"/>
              </a:lnSpc>
              <a:spcAft>
                <a:spcPts val="600"/>
              </a:spcAft>
            </a:pPr>
            <a:r>
              <a:rPr sz="1700" b="0" i="0">
                <a:solidFill>
                  <a:srgbClr val="14213D"/>
                </a:solidFill>
                <a:latin typeface="Calibri"/>
              </a:rPr>
              <a:t>(2)  every pivot equals 1;</a:t>
            </a:r>
          </a:p>
          <a:p>
            <a:pPr algn="l">
              <a:lnSpc>
                <a:spcPct val="115000"/>
              </a:lnSpc>
              <a:spcAft>
                <a:spcPts val="600"/>
              </a:spcAft>
            </a:pPr>
            <a:r>
              <a:rPr sz="1700" b="0" i="0">
                <a:solidFill>
                  <a:srgbClr val="14213D"/>
                </a:solidFill>
                <a:latin typeface="Calibri"/>
              </a:rPr>
              <a:t>(3)  every pivot is the only non-zero entry in its column, so all entries above a pivot are 0.</a:t>
            </a:r>
          </a:p>
          <a:p>
            <a:pPr algn="l">
              <a:lnSpc>
                <a:spcPct val="115000"/>
              </a:lnSpc>
              <a:spcAft>
                <a:spcPts val="600"/>
              </a:spcAft>
            </a:pPr>
            <a:r>
              <a:rPr sz="1700" b="1" i="0">
                <a:solidFill>
                  <a:srgbClr val="14213D"/>
                </a:solidFill>
                <a:latin typeface="Calibri"/>
              </a:rPr>
              <a:t>Fact. </a:t>
            </a:r>
            <a:r>
              <a:rPr sz="1700" b="0" i="0">
                <a:solidFill>
                  <a:srgbClr val="14213D"/>
                </a:solidFill>
                <a:latin typeface="Calibri"/>
              </a:rPr>
              <a:t>Every matrix has exactly one reduced row echelon form; the rank is still the number of pivots.</a:t>
            </a:r>
          </a:p>
        </p:txBody>
      </p:sp>
      <p:sp>
        <p:nvSpPr>
          <p:cNvPr id="9" name="TextBox 8"/>
          <p:cNvSpPr txBox="1"/>
          <p:nvPr/>
        </p:nvSpPr>
        <p:spPr>
          <a:xfrm>
            <a:off x="548640" y="4709160"/>
            <a:ext cx="6400800" cy="1280160"/>
          </a:xfrm>
          <a:prstGeom prst="rect">
            <a:avLst/>
          </a:prstGeom>
          <a:noFill/>
        </p:spPr>
        <p:txBody>
          <a:bodyPr wrap="square" lIns="0" rIns="0" tIns="0" bIns="0" anchor="t">
            <a:spAutoFit/>
          </a:bodyPr>
          <a:lstStyle/>
          <a:p>
            <a:pPr algn="l">
              <a:lnSpc>
                <a:spcPct val="115000"/>
              </a:lnSpc>
            </a:pPr>
            <a:r>
              <a:rPr sz="1500" b="0" i="0">
                <a:solidFill>
                  <a:srgbClr val="5B6675"/>
                </a:solidFill>
                <a:latin typeface="Calibri"/>
              </a:rPr>
              <a:t>For a non-singular square matrix the reduced row echelon form is the identity matrix, and the augmented system is then solved outright.</a:t>
            </a:r>
          </a:p>
        </p:txBody>
      </p:sp>
      <p:sp>
        <p:nvSpPr>
          <p:cNvPr id="10" name="Rectangle 9"/>
          <p:cNvSpPr/>
          <p:nvPr/>
        </p:nvSpPr>
        <p:spPr>
          <a:xfrm>
            <a:off x="7351776" y="155448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1" name="Rectangle 10"/>
          <p:cNvSpPr/>
          <p:nvPr/>
        </p:nvSpPr>
        <p:spPr>
          <a:xfrm>
            <a:off x="7754112"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2" name="Rectangle 11"/>
          <p:cNvSpPr/>
          <p:nvPr/>
        </p:nvSpPr>
        <p:spPr>
          <a:xfrm>
            <a:off x="8156448"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3" name="Rectangle 12"/>
          <p:cNvSpPr/>
          <p:nvPr/>
        </p:nvSpPr>
        <p:spPr>
          <a:xfrm>
            <a:off x="8558784"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4" name="Rectangle 13"/>
          <p:cNvSpPr/>
          <p:nvPr/>
        </p:nvSpPr>
        <p:spPr>
          <a:xfrm>
            <a:off x="8961119"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5" name="Rectangle 14"/>
          <p:cNvSpPr/>
          <p:nvPr/>
        </p:nvSpPr>
        <p:spPr>
          <a:xfrm>
            <a:off x="7351776"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6" name="Rectangle 15"/>
          <p:cNvSpPr/>
          <p:nvPr/>
        </p:nvSpPr>
        <p:spPr>
          <a:xfrm>
            <a:off x="7754112" y="192024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17" name="Rectangle 16"/>
          <p:cNvSpPr/>
          <p:nvPr/>
        </p:nvSpPr>
        <p:spPr>
          <a:xfrm>
            <a:off x="8156448"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8" name="Rectangle 17"/>
          <p:cNvSpPr/>
          <p:nvPr/>
        </p:nvSpPr>
        <p:spPr>
          <a:xfrm>
            <a:off x="8558784"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19" name="Rectangle 18"/>
          <p:cNvSpPr/>
          <p:nvPr/>
        </p:nvSpPr>
        <p:spPr>
          <a:xfrm>
            <a:off x="8961119"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0" name="Rectangle 19"/>
          <p:cNvSpPr/>
          <p:nvPr/>
        </p:nvSpPr>
        <p:spPr>
          <a:xfrm>
            <a:off x="7351776"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1" name="Rectangle 20"/>
          <p:cNvSpPr/>
          <p:nvPr/>
        </p:nvSpPr>
        <p:spPr>
          <a:xfrm>
            <a:off x="7754112"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2" name="Rectangle 21"/>
          <p:cNvSpPr/>
          <p:nvPr/>
        </p:nvSpPr>
        <p:spPr>
          <a:xfrm>
            <a:off x="8156448" y="228600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23" name="Rectangle 22"/>
          <p:cNvSpPr/>
          <p:nvPr/>
        </p:nvSpPr>
        <p:spPr>
          <a:xfrm>
            <a:off x="8558784"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4" name="Rectangle 23"/>
          <p:cNvSpPr/>
          <p:nvPr/>
        </p:nvSpPr>
        <p:spPr>
          <a:xfrm>
            <a:off x="8961119"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5" name="Rectangle 24"/>
          <p:cNvSpPr/>
          <p:nvPr/>
        </p:nvSpPr>
        <p:spPr>
          <a:xfrm>
            <a:off x="7351776"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6" name="Rectangle 25"/>
          <p:cNvSpPr/>
          <p:nvPr/>
        </p:nvSpPr>
        <p:spPr>
          <a:xfrm>
            <a:off x="7754112"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7" name="Rectangle 26"/>
          <p:cNvSpPr/>
          <p:nvPr/>
        </p:nvSpPr>
        <p:spPr>
          <a:xfrm>
            <a:off x="8156448"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28" name="Rectangle 27"/>
          <p:cNvSpPr/>
          <p:nvPr/>
        </p:nvSpPr>
        <p:spPr>
          <a:xfrm>
            <a:off x="8558784" y="265176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29" name="Rectangle 28"/>
          <p:cNvSpPr/>
          <p:nvPr/>
        </p:nvSpPr>
        <p:spPr>
          <a:xfrm>
            <a:off x="8961119"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0" name="Rectangle 29"/>
          <p:cNvSpPr/>
          <p:nvPr/>
        </p:nvSpPr>
        <p:spPr>
          <a:xfrm>
            <a:off x="7351776"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1" name="Rectangle 30"/>
          <p:cNvSpPr/>
          <p:nvPr/>
        </p:nvSpPr>
        <p:spPr>
          <a:xfrm>
            <a:off x="7754112"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2" name="Rectangle 31"/>
          <p:cNvSpPr/>
          <p:nvPr/>
        </p:nvSpPr>
        <p:spPr>
          <a:xfrm>
            <a:off x="8156448"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3" name="Rectangle 32"/>
          <p:cNvSpPr/>
          <p:nvPr/>
        </p:nvSpPr>
        <p:spPr>
          <a:xfrm>
            <a:off x="8558784"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34" name="Rectangle 33"/>
          <p:cNvSpPr/>
          <p:nvPr/>
        </p:nvSpPr>
        <p:spPr>
          <a:xfrm>
            <a:off x="8961119" y="301752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5" name="Left Bracket 34"/>
          <p:cNvSpPr/>
          <p:nvPr/>
        </p:nvSpPr>
        <p:spPr>
          <a:xfrm>
            <a:off x="7223760" y="1517904"/>
            <a:ext cx="128016" cy="1865375"/>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Bracket 35"/>
          <p:cNvSpPr/>
          <p:nvPr/>
        </p:nvSpPr>
        <p:spPr>
          <a:xfrm>
            <a:off x="9326880" y="1517904"/>
            <a:ext cx="128016" cy="1865375"/>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3456432"/>
            <a:ext cx="3328416" cy="548640"/>
          </a:xfrm>
          <a:prstGeom prst="rect">
            <a:avLst/>
          </a:prstGeom>
          <a:noFill/>
        </p:spPr>
        <p:txBody>
          <a:bodyPr wrap="square" lIns="0" rIns="0" tIns="0" bIns="0" anchor="t">
            <a:spAutoFit/>
          </a:bodyPr>
          <a:lstStyle/>
          <a:p>
            <a:pPr algn="ctr"/>
            <a:r>
              <a:rPr sz="1500" b="0" i="0">
                <a:solidFill>
                  <a:srgbClr val="14213D"/>
                </a:solidFill>
                <a:latin typeface="Calibri"/>
              </a:rPr>
              <a:t>Rank 5</a:t>
            </a:r>
          </a:p>
        </p:txBody>
      </p:sp>
      <p:sp>
        <p:nvSpPr>
          <p:cNvPr id="38" name="Rectangle 37"/>
          <p:cNvSpPr/>
          <p:nvPr/>
        </p:nvSpPr>
        <p:spPr>
          <a:xfrm>
            <a:off x="9729216" y="155448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39" name="Rectangle 38"/>
          <p:cNvSpPr/>
          <p:nvPr/>
        </p:nvSpPr>
        <p:spPr>
          <a:xfrm>
            <a:off x="10131552"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0" name="Rectangle 39"/>
          <p:cNvSpPr/>
          <p:nvPr/>
        </p:nvSpPr>
        <p:spPr>
          <a:xfrm>
            <a:off x="10533888"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1" name="Rectangle 40"/>
          <p:cNvSpPr/>
          <p:nvPr/>
        </p:nvSpPr>
        <p:spPr>
          <a:xfrm>
            <a:off x="10936224"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2" name="Rectangle 41"/>
          <p:cNvSpPr/>
          <p:nvPr/>
        </p:nvSpPr>
        <p:spPr>
          <a:xfrm>
            <a:off x="11338559" y="155448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3" name="Rectangle 42"/>
          <p:cNvSpPr/>
          <p:nvPr/>
        </p:nvSpPr>
        <p:spPr>
          <a:xfrm>
            <a:off x="9729216"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4" name="Rectangle 43"/>
          <p:cNvSpPr/>
          <p:nvPr/>
        </p:nvSpPr>
        <p:spPr>
          <a:xfrm>
            <a:off x="10131552"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5" name="Rectangle 44"/>
          <p:cNvSpPr/>
          <p:nvPr/>
        </p:nvSpPr>
        <p:spPr>
          <a:xfrm>
            <a:off x="10533888" y="192024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46" name="Rectangle 45"/>
          <p:cNvSpPr/>
          <p:nvPr/>
        </p:nvSpPr>
        <p:spPr>
          <a:xfrm>
            <a:off x="10936224"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7" name="Rectangle 46"/>
          <p:cNvSpPr/>
          <p:nvPr/>
        </p:nvSpPr>
        <p:spPr>
          <a:xfrm>
            <a:off x="11338559" y="192024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48" name="Rectangle 47"/>
          <p:cNvSpPr/>
          <p:nvPr/>
        </p:nvSpPr>
        <p:spPr>
          <a:xfrm>
            <a:off x="9729216"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49" name="Rectangle 48"/>
          <p:cNvSpPr/>
          <p:nvPr/>
        </p:nvSpPr>
        <p:spPr>
          <a:xfrm>
            <a:off x="10131552"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0" name="Rectangle 49"/>
          <p:cNvSpPr/>
          <p:nvPr/>
        </p:nvSpPr>
        <p:spPr>
          <a:xfrm>
            <a:off x="10533888"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1" name="Rectangle 50"/>
          <p:cNvSpPr/>
          <p:nvPr/>
        </p:nvSpPr>
        <p:spPr>
          <a:xfrm>
            <a:off x="10936224" y="2286000"/>
            <a:ext cx="365760" cy="32918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1</a:t>
            </a:r>
          </a:p>
        </p:txBody>
      </p:sp>
      <p:sp>
        <p:nvSpPr>
          <p:cNvPr id="52" name="Rectangle 51"/>
          <p:cNvSpPr/>
          <p:nvPr/>
        </p:nvSpPr>
        <p:spPr>
          <a:xfrm>
            <a:off x="11338559" y="228600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a:t>
            </a:r>
          </a:p>
        </p:txBody>
      </p:sp>
      <p:sp>
        <p:nvSpPr>
          <p:cNvPr id="53" name="Rectangle 52"/>
          <p:cNvSpPr/>
          <p:nvPr/>
        </p:nvSpPr>
        <p:spPr>
          <a:xfrm>
            <a:off x="9729216"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4" name="Rectangle 53"/>
          <p:cNvSpPr/>
          <p:nvPr/>
        </p:nvSpPr>
        <p:spPr>
          <a:xfrm>
            <a:off x="10131552"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5" name="Rectangle 54"/>
          <p:cNvSpPr/>
          <p:nvPr/>
        </p:nvSpPr>
        <p:spPr>
          <a:xfrm>
            <a:off x="10533888"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6" name="Rectangle 55"/>
          <p:cNvSpPr/>
          <p:nvPr/>
        </p:nvSpPr>
        <p:spPr>
          <a:xfrm>
            <a:off x="10936224"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7" name="Rectangle 56"/>
          <p:cNvSpPr/>
          <p:nvPr/>
        </p:nvSpPr>
        <p:spPr>
          <a:xfrm>
            <a:off x="11338559" y="265176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8" name="Rectangle 57"/>
          <p:cNvSpPr/>
          <p:nvPr/>
        </p:nvSpPr>
        <p:spPr>
          <a:xfrm>
            <a:off x="9729216"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59" name="Rectangle 58"/>
          <p:cNvSpPr/>
          <p:nvPr/>
        </p:nvSpPr>
        <p:spPr>
          <a:xfrm>
            <a:off x="10131552"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0" name="Rectangle 59"/>
          <p:cNvSpPr/>
          <p:nvPr/>
        </p:nvSpPr>
        <p:spPr>
          <a:xfrm>
            <a:off x="10533888"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1" name="Rectangle 60"/>
          <p:cNvSpPr/>
          <p:nvPr/>
        </p:nvSpPr>
        <p:spPr>
          <a:xfrm>
            <a:off x="10936224"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2" name="Rectangle 61"/>
          <p:cNvSpPr/>
          <p:nvPr/>
        </p:nvSpPr>
        <p:spPr>
          <a:xfrm>
            <a:off x="11338559" y="3017520"/>
            <a:ext cx="365760" cy="32918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a:solidFill>
                  <a:srgbClr val="14213D"/>
                </a:solidFill>
                <a:latin typeface="Calibri"/>
              </a:rPr>
              <a:t>0</a:t>
            </a:r>
          </a:p>
        </p:txBody>
      </p:sp>
      <p:sp>
        <p:nvSpPr>
          <p:cNvPr id="63" name="Left Bracket 62"/>
          <p:cNvSpPr/>
          <p:nvPr/>
        </p:nvSpPr>
        <p:spPr>
          <a:xfrm>
            <a:off x="9601200" y="1517904"/>
            <a:ext cx="128016" cy="1865375"/>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ight Bracket 63"/>
          <p:cNvSpPr/>
          <p:nvPr/>
        </p:nvSpPr>
        <p:spPr>
          <a:xfrm>
            <a:off x="11704320" y="1517904"/>
            <a:ext cx="128016" cy="1865375"/>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52560" y="3456432"/>
            <a:ext cx="3328416" cy="548640"/>
          </a:xfrm>
          <a:prstGeom prst="rect">
            <a:avLst/>
          </a:prstGeom>
          <a:noFill/>
        </p:spPr>
        <p:txBody>
          <a:bodyPr wrap="square" lIns="0" rIns="0" tIns="0" bIns="0" anchor="t">
            <a:spAutoFit/>
          </a:bodyPr>
          <a:lstStyle/>
          <a:p>
            <a:pPr algn="ctr"/>
            <a:r>
              <a:rPr sz="1500" b="0" i="0">
                <a:solidFill>
                  <a:srgbClr val="14213D"/>
                </a:solidFill>
                <a:latin typeface="Calibri"/>
              </a:rPr>
              <a:t>Rank 3</a:t>
            </a:r>
          </a:p>
        </p:txBody>
      </p:sp>
      <p:sp>
        <p:nvSpPr>
          <p:cNvPr id="66" name="TextBox 65"/>
          <p:cNvSpPr txBox="1"/>
          <p:nvPr/>
        </p:nvSpPr>
        <p:spPr>
          <a:xfrm>
            <a:off x="7223760" y="4114800"/>
            <a:ext cx="4480560" cy="1828800"/>
          </a:xfrm>
          <a:prstGeom prst="rect">
            <a:avLst/>
          </a:prstGeom>
          <a:noFill/>
        </p:spPr>
        <p:txBody>
          <a:bodyPr wrap="square" lIns="0" rIns="0" tIns="0" bIns="0" anchor="t">
            <a:spAutoFit/>
          </a:bodyPr>
          <a:lstStyle/>
          <a:p>
            <a:pPr algn="l">
              <a:lnSpc>
                <a:spcPct val="115000"/>
              </a:lnSpc>
              <a:spcAft>
                <a:spcPts val="400"/>
              </a:spcAft>
            </a:pPr>
            <a:r>
              <a:rPr sz="1400" b="0" i="0">
                <a:solidFill>
                  <a:srgbClr val="5B6675"/>
                </a:solidFill>
                <a:latin typeface="Calibri"/>
              </a:rPr>
              <a:t>•  Is in row echelon form.</a:t>
            </a:r>
          </a:p>
          <a:p>
            <a:pPr algn="l">
              <a:lnSpc>
                <a:spcPct val="115000"/>
              </a:lnSpc>
              <a:spcAft>
                <a:spcPts val="400"/>
              </a:spcAft>
            </a:pPr>
            <a:r>
              <a:rPr sz="1400" b="0" i="0">
                <a:solidFill>
                  <a:srgbClr val="5B6675"/>
                </a:solidFill>
                <a:latin typeface="Calibri"/>
              </a:rPr>
              <a:t>•  Each pivot is a 1.</a:t>
            </a:r>
          </a:p>
          <a:p>
            <a:pPr algn="l">
              <a:lnSpc>
                <a:spcPct val="115000"/>
              </a:lnSpc>
              <a:spcAft>
                <a:spcPts val="400"/>
              </a:spcAft>
            </a:pPr>
            <a:r>
              <a:rPr sz="1400" b="0" i="0">
                <a:solidFill>
                  <a:srgbClr val="5B6675"/>
                </a:solidFill>
                <a:latin typeface="Calibri"/>
              </a:rPr>
              <a:t>•  Any number above a pivot is 0.</a:t>
            </a:r>
          </a:p>
          <a:p>
            <a:pPr algn="l">
              <a:lnSpc>
                <a:spcPct val="115000"/>
              </a:lnSpc>
              <a:spcAft>
                <a:spcPts val="400"/>
              </a:spcAft>
            </a:pPr>
            <a:r>
              <a:rPr sz="1400" b="0" i="0">
                <a:solidFill>
                  <a:srgbClr val="5B6675"/>
                </a:solidFill>
                <a:latin typeface="Calibri"/>
              </a:rPr>
              <a:t>•  Rank of the matrix is the number of pivots.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REDUCED 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Reduced row echelon form: a 2×2 example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43</a:t>
            </a:r>
          </a:p>
        </p:txBody>
      </p:sp>
      <p:sp>
        <p:nvSpPr>
          <p:cNvPr id="6" name="Rectangle 5"/>
          <p:cNvSpPr/>
          <p:nvPr/>
        </p:nvSpPr>
        <p:spPr>
          <a:xfrm>
            <a:off x="1499616" y="2103120"/>
            <a:ext cx="59436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1</a:t>
            </a:r>
          </a:p>
        </p:txBody>
      </p:sp>
      <p:sp>
        <p:nvSpPr>
          <p:cNvPr id="7" name="Rectangle 6"/>
          <p:cNvSpPr/>
          <p:nvPr/>
        </p:nvSpPr>
        <p:spPr>
          <a:xfrm>
            <a:off x="2139696" y="2103120"/>
            <a:ext cx="594360" cy="502920"/>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0.2</a:t>
            </a:r>
          </a:p>
        </p:txBody>
      </p:sp>
      <p:sp>
        <p:nvSpPr>
          <p:cNvPr id="8" name="Rectangle 7"/>
          <p:cNvSpPr/>
          <p:nvPr/>
        </p:nvSpPr>
        <p:spPr>
          <a:xfrm>
            <a:off x="1499616" y="2651760"/>
            <a:ext cx="59436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0</a:t>
            </a:r>
          </a:p>
        </p:txBody>
      </p:sp>
      <p:sp>
        <p:nvSpPr>
          <p:cNvPr id="9" name="Rectangle 8"/>
          <p:cNvSpPr/>
          <p:nvPr/>
        </p:nvSpPr>
        <p:spPr>
          <a:xfrm>
            <a:off x="2139696" y="2651760"/>
            <a:ext cx="59436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1</a:t>
            </a:r>
          </a:p>
        </p:txBody>
      </p:sp>
      <p:sp>
        <p:nvSpPr>
          <p:cNvPr id="10" name="Left Bracket 9"/>
          <p:cNvSpPr/>
          <p:nvPr/>
        </p:nvSpPr>
        <p:spPr>
          <a:xfrm>
            <a:off x="1371600" y="2066543"/>
            <a:ext cx="128016" cy="1124712"/>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Bracket 10"/>
          <p:cNvSpPr/>
          <p:nvPr/>
        </p:nvSpPr>
        <p:spPr>
          <a:xfrm>
            <a:off x="2734056" y="2066543"/>
            <a:ext cx="128016" cy="1124712"/>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264408"/>
            <a:ext cx="2587752" cy="548640"/>
          </a:xfrm>
          <a:prstGeom prst="rect">
            <a:avLst/>
          </a:prstGeom>
          <a:noFill/>
        </p:spPr>
        <p:txBody>
          <a:bodyPr wrap="square" lIns="0" rIns="0" tIns="0" bIns="0" anchor="t">
            <a:spAutoFit/>
          </a:bodyPr>
          <a:lstStyle/>
          <a:p>
            <a:pPr algn="ctr"/>
            <a:r>
              <a:rPr sz="1500" b="0" i="0">
                <a:solidFill>
                  <a:srgbClr val="14213D"/>
                </a:solidFill>
                <a:latin typeface="Calibri"/>
              </a:rPr>
              <a:t>Row echelon form</a:t>
            </a:r>
          </a:p>
        </p:txBody>
      </p:sp>
      <p:sp>
        <p:nvSpPr>
          <p:cNvPr id="13" name="Right Arrow 12"/>
          <p:cNvSpPr/>
          <p:nvPr/>
        </p:nvSpPr>
        <p:spPr>
          <a:xfrm>
            <a:off x="3657600" y="2468880"/>
            <a:ext cx="1828800" cy="36576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2889504"/>
            <a:ext cx="2743200" cy="731520"/>
          </a:xfrm>
          <a:prstGeom prst="rect">
            <a:avLst/>
          </a:prstGeom>
          <a:noFill/>
        </p:spPr>
        <p:txBody>
          <a:bodyPr wrap="square" lIns="0" rIns="0" tIns="0" bIns="0" anchor="t">
            <a:spAutoFit/>
          </a:bodyPr>
          <a:lstStyle/>
          <a:p>
            <a:pPr algn="ctr"/>
            <a:r>
              <a:rPr sz="1600" b="0" i="0">
                <a:solidFill>
                  <a:srgbClr val="5B6675"/>
                </a:solidFill>
                <a:latin typeface="Calibri"/>
              </a:rPr>
              <a:t>R₁ ← R₁ − 0.2 R₂</a:t>
            </a:r>
          </a:p>
        </p:txBody>
      </p:sp>
      <p:sp>
        <p:nvSpPr>
          <p:cNvPr id="15" name="Rectangle 14"/>
          <p:cNvSpPr/>
          <p:nvPr/>
        </p:nvSpPr>
        <p:spPr>
          <a:xfrm>
            <a:off x="6437376" y="2103120"/>
            <a:ext cx="594360" cy="50292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1</a:t>
            </a:r>
          </a:p>
        </p:txBody>
      </p:sp>
      <p:sp>
        <p:nvSpPr>
          <p:cNvPr id="16" name="Rectangle 15"/>
          <p:cNvSpPr/>
          <p:nvPr/>
        </p:nvSpPr>
        <p:spPr>
          <a:xfrm>
            <a:off x="7077456" y="2103120"/>
            <a:ext cx="594360" cy="50292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0</a:t>
            </a:r>
          </a:p>
        </p:txBody>
      </p:sp>
      <p:sp>
        <p:nvSpPr>
          <p:cNvPr id="17" name="Rectangle 16"/>
          <p:cNvSpPr/>
          <p:nvPr/>
        </p:nvSpPr>
        <p:spPr>
          <a:xfrm>
            <a:off x="6437376" y="2651760"/>
            <a:ext cx="594360" cy="50292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0</a:t>
            </a:r>
          </a:p>
        </p:txBody>
      </p:sp>
      <p:sp>
        <p:nvSpPr>
          <p:cNvPr id="18" name="Rectangle 17"/>
          <p:cNvSpPr/>
          <p:nvPr/>
        </p:nvSpPr>
        <p:spPr>
          <a:xfrm>
            <a:off x="7077456" y="2651760"/>
            <a:ext cx="594360" cy="502920"/>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a:solidFill>
                  <a:srgbClr val="14213D"/>
                </a:solidFill>
                <a:latin typeface="Calibri"/>
              </a:rPr>
              <a:t>1</a:t>
            </a:r>
          </a:p>
        </p:txBody>
      </p:sp>
      <p:sp>
        <p:nvSpPr>
          <p:cNvPr id="19" name="Left Bracket 18"/>
          <p:cNvSpPr/>
          <p:nvPr/>
        </p:nvSpPr>
        <p:spPr>
          <a:xfrm>
            <a:off x="6309360" y="2066543"/>
            <a:ext cx="128016" cy="1124712"/>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Bracket 19"/>
          <p:cNvSpPr/>
          <p:nvPr/>
        </p:nvSpPr>
        <p:spPr>
          <a:xfrm>
            <a:off x="7671816" y="2066543"/>
            <a:ext cx="128016" cy="1124712"/>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0" y="3264408"/>
            <a:ext cx="2587752" cy="548640"/>
          </a:xfrm>
          <a:prstGeom prst="rect">
            <a:avLst/>
          </a:prstGeom>
          <a:noFill/>
        </p:spPr>
        <p:txBody>
          <a:bodyPr wrap="square" lIns="0" rIns="0" tIns="0" bIns="0" anchor="t">
            <a:spAutoFit/>
          </a:bodyPr>
          <a:lstStyle/>
          <a:p>
            <a:pPr algn="ctr"/>
            <a:r>
              <a:rPr sz="1500" b="0" i="0">
                <a:solidFill>
                  <a:srgbClr val="14213D"/>
                </a:solidFill>
                <a:latin typeface="Calibri"/>
              </a:rPr>
              <a:t>Reduced row echelon form</a:t>
            </a:r>
          </a:p>
        </p:txBody>
      </p:sp>
      <p:sp>
        <p:nvSpPr>
          <p:cNvPr id="22" name="Rounded Rectangle 21"/>
          <p:cNvSpPr/>
          <p:nvPr/>
        </p:nvSpPr>
        <p:spPr>
          <a:xfrm>
            <a:off x="548640" y="4114800"/>
            <a:ext cx="11064240" cy="192024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251960"/>
            <a:ext cx="10515600" cy="274320"/>
          </a:xfrm>
          <a:prstGeom prst="rect">
            <a:avLst/>
          </a:prstGeom>
          <a:noFill/>
        </p:spPr>
        <p:txBody>
          <a:bodyPr wrap="square" lIns="0" rIns="0" tIns="0" bIns="0" anchor="t">
            <a:spAutoFit/>
          </a:bodyPr>
          <a:lstStyle/>
          <a:p>
            <a:pPr algn="l"/>
            <a:r>
              <a:rPr sz="1200" b="1" i="0">
                <a:solidFill>
                  <a:srgbClr val="1F6F8B"/>
                </a:solidFill>
                <a:latin typeface="Calibri"/>
              </a:rPr>
              <a:t>THE COMPUTATION</a:t>
            </a:r>
          </a:p>
        </p:txBody>
      </p:sp>
      <p:sp>
        <p:nvSpPr>
          <p:cNvPr id="24" name="TextBox 23"/>
          <p:cNvSpPr txBox="1"/>
          <p:nvPr/>
        </p:nvSpPr>
        <p:spPr>
          <a:xfrm>
            <a:off x="822960" y="4572000"/>
            <a:ext cx="10515600" cy="1280160"/>
          </a:xfrm>
          <a:prstGeom prst="rect">
            <a:avLst/>
          </a:prstGeom>
          <a:noFill/>
        </p:spPr>
        <p:txBody>
          <a:bodyPr wrap="square" lIns="0" rIns="0" tIns="0" bIns="0" anchor="t">
            <a:spAutoFit/>
          </a:bodyPr>
          <a:lstStyle/>
          <a:p>
            <a:pPr algn="l">
              <a:spcAft>
                <a:spcPts val="800"/>
              </a:spcAft>
            </a:pPr>
            <a:r>
              <a:rPr sz="2000" b="0" i="0">
                <a:solidFill>
                  <a:srgbClr val="14213D"/>
                </a:solidFill>
                <a:latin typeface="Cambria"/>
              </a:rPr>
              <a:t>0.2 × [ 0   1 ]  =  [ 0   0.2 ]</a:t>
            </a:r>
          </a:p>
          <a:p>
            <a:pPr algn="l">
              <a:spcAft>
                <a:spcPts val="800"/>
              </a:spcAft>
            </a:pPr>
            <a:r>
              <a:rPr sz="2000" b="0" i="0">
                <a:solidFill>
                  <a:srgbClr val="14213D"/>
                </a:solidFill>
                <a:latin typeface="Cambria"/>
              </a:rPr>
              <a:t>[ 1   0.2 ]  −  [ 0   0.2 ]  =  [ 1   0 ]       the entry above the second pivot is now 0</a:t>
            </a:r>
          </a:p>
        </p:txBody>
      </p:sp>
      <p:sp>
        <p:nvSpPr>
          <p:cNvPr id="25" name="TextBox 24"/>
          <p:cNvSpPr txBox="1"/>
          <p:nvPr/>
        </p:nvSpPr>
        <p:spPr>
          <a:xfrm>
            <a:off x="8778240" y="2011680"/>
            <a:ext cx="2926080" cy="1280160"/>
          </a:xfrm>
          <a:prstGeom prst="rect">
            <a:avLst/>
          </a:prstGeom>
          <a:noFill/>
        </p:spPr>
        <p:txBody>
          <a:bodyPr wrap="square" lIns="0" rIns="0" tIns="0" bIns="0" anchor="t">
            <a:spAutoFit/>
          </a:bodyPr>
          <a:lstStyle/>
          <a:p>
            <a:pPr algn="l">
              <a:lnSpc>
                <a:spcPct val="115000"/>
              </a:lnSpc>
            </a:pPr>
            <a:r>
              <a:rPr sz="1500" b="0" i="0">
                <a:solidFill>
                  <a:srgbClr val="5B6675"/>
                </a:solidFill>
                <a:latin typeface="Calibri"/>
              </a:rPr>
              <a:t>The only entry above a pivot was the 0.2. One row operation clears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REDUCED 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Reduced row echelon form: the general recipe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44</a:t>
            </a:r>
          </a:p>
        </p:txBody>
      </p:sp>
      <p:sp>
        <p:nvSpPr>
          <p:cNvPr id="6" name="Rectangle 5"/>
          <p:cNvSpPr/>
          <p:nvPr/>
        </p:nvSpPr>
        <p:spPr>
          <a:xfrm>
            <a:off x="859536" y="1920240"/>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3</a:t>
            </a:r>
          </a:p>
        </p:txBody>
      </p:sp>
      <p:sp>
        <p:nvSpPr>
          <p:cNvPr id="7" name="Rectangle 6"/>
          <p:cNvSpPr/>
          <p:nvPr/>
        </p:nvSpPr>
        <p:spPr>
          <a:xfrm>
            <a:off x="131673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8" name="Rectangle 7"/>
          <p:cNvSpPr/>
          <p:nvPr/>
        </p:nvSpPr>
        <p:spPr>
          <a:xfrm>
            <a:off x="177393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9" name="Rectangle 8"/>
          <p:cNvSpPr/>
          <p:nvPr/>
        </p:nvSpPr>
        <p:spPr>
          <a:xfrm>
            <a:off x="223113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10" name="Rectangle 9"/>
          <p:cNvSpPr/>
          <p:nvPr/>
        </p:nvSpPr>
        <p:spPr>
          <a:xfrm>
            <a:off x="268833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11" name="Rectangle 10"/>
          <p:cNvSpPr/>
          <p:nvPr/>
        </p:nvSpPr>
        <p:spPr>
          <a:xfrm>
            <a:off x="85953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2" name="Rectangle 11"/>
          <p:cNvSpPr/>
          <p:nvPr/>
        </p:nvSpPr>
        <p:spPr>
          <a:xfrm>
            <a:off x="131673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3" name="Rectangle 12"/>
          <p:cNvSpPr/>
          <p:nvPr/>
        </p:nvSpPr>
        <p:spPr>
          <a:xfrm>
            <a:off x="1773936" y="2340864"/>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2</a:t>
            </a:r>
          </a:p>
        </p:txBody>
      </p:sp>
      <p:sp>
        <p:nvSpPr>
          <p:cNvPr id="14" name="Rectangle 13"/>
          <p:cNvSpPr/>
          <p:nvPr/>
        </p:nvSpPr>
        <p:spPr>
          <a:xfrm>
            <a:off x="223113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15" name="Rectangle 14"/>
          <p:cNvSpPr/>
          <p:nvPr/>
        </p:nvSpPr>
        <p:spPr>
          <a:xfrm>
            <a:off x="268833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16" name="Rectangle 15"/>
          <p:cNvSpPr/>
          <p:nvPr/>
        </p:nvSpPr>
        <p:spPr>
          <a:xfrm>
            <a:off x="85953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7" name="Rectangle 16"/>
          <p:cNvSpPr/>
          <p:nvPr/>
        </p:nvSpPr>
        <p:spPr>
          <a:xfrm>
            <a:off x="131673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8" name="Rectangle 17"/>
          <p:cNvSpPr/>
          <p:nvPr/>
        </p:nvSpPr>
        <p:spPr>
          <a:xfrm>
            <a:off x="177393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19" name="Rectangle 18"/>
          <p:cNvSpPr/>
          <p:nvPr/>
        </p:nvSpPr>
        <p:spPr>
          <a:xfrm>
            <a:off x="2231136" y="2761488"/>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−4</a:t>
            </a:r>
          </a:p>
        </p:txBody>
      </p:sp>
      <p:sp>
        <p:nvSpPr>
          <p:cNvPr id="20" name="Rectangle 19"/>
          <p:cNvSpPr/>
          <p:nvPr/>
        </p:nvSpPr>
        <p:spPr>
          <a:xfrm>
            <a:off x="268833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21" name="Rectangle 20"/>
          <p:cNvSpPr/>
          <p:nvPr/>
        </p:nvSpPr>
        <p:spPr>
          <a:xfrm>
            <a:off x="85953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2" name="Rectangle 21"/>
          <p:cNvSpPr/>
          <p:nvPr/>
        </p:nvSpPr>
        <p:spPr>
          <a:xfrm>
            <a:off x="131673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3" name="Rectangle 22"/>
          <p:cNvSpPr/>
          <p:nvPr/>
        </p:nvSpPr>
        <p:spPr>
          <a:xfrm>
            <a:off x="177393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4" name="Rectangle 23"/>
          <p:cNvSpPr/>
          <p:nvPr/>
        </p:nvSpPr>
        <p:spPr>
          <a:xfrm>
            <a:off x="223113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5" name="Rectangle 24"/>
          <p:cNvSpPr/>
          <p:nvPr/>
        </p:nvSpPr>
        <p:spPr>
          <a:xfrm>
            <a:off x="268833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6" name="Rectangle 25"/>
          <p:cNvSpPr/>
          <p:nvPr/>
        </p:nvSpPr>
        <p:spPr>
          <a:xfrm>
            <a:off x="85953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7" name="Rectangle 26"/>
          <p:cNvSpPr/>
          <p:nvPr/>
        </p:nvSpPr>
        <p:spPr>
          <a:xfrm>
            <a:off x="131673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8" name="Rectangle 27"/>
          <p:cNvSpPr/>
          <p:nvPr/>
        </p:nvSpPr>
        <p:spPr>
          <a:xfrm>
            <a:off x="177393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29" name="Rectangle 28"/>
          <p:cNvSpPr/>
          <p:nvPr/>
        </p:nvSpPr>
        <p:spPr>
          <a:xfrm>
            <a:off x="223113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30" name="Rectangle 29"/>
          <p:cNvSpPr/>
          <p:nvPr/>
        </p:nvSpPr>
        <p:spPr>
          <a:xfrm>
            <a:off x="268833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31" name="Left Bracket 30"/>
          <p:cNvSpPr/>
          <p:nvPr/>
        </p:nvSpPr>
        <p:spPr>
          <a:xfrm>
            <a:off x="731520" y="1883664"/>
            <a:ext cx="128016" cy="2139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Bracket 31"/>
          <p:cNvSpPr/>
          <p:nvPr/>
        </p:nvSpPr>
        <p:spPr>
          <a:xfrm>
            <a:off x="3108960" y="1883664"/>
            <a:ext cx="128016" cy="2139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2880" y="4096512"/>
            <a:ext cx="3602736" cy="548640"/>
          </a:xfrm>
          <a:prstGeom prst="rect">
            <a:avLst/>
          </a:prstGeom>
          <a:noFill/>
        </p:spPr>
        <p:txBody>
          <a:bodyPr wrap="square" lIns="0" rIns="0" tIns="0" bIns="0" anchor="t">
            <a:spAutoFit/>
          </a:bodyPr>
          <a:lstStyle/>
          <a:p>
            <a:pPr algn="ctr"/>
            <a:r>
              <a:rPr sz="1400" b="0" i="0">
                <a:solidFill>
                  <a:srgbClr val="14213D"/>
                </a:solidFill>
                <a:latin typeface="Calibri"/>
              </a:rPr>
              <a:t>Row echelon form</a:t>
            </a:r>
          </a:p>
        </p:txBody>
      </p:sp>
      <p:sp>
        <p:nvSpPr>
          <p:cNvPr id="34" name="Right Arrow 33"/>
          <p:cNvSpPr/>
          <p:nvPr/>
        </p:nvSpPr>
        <p:spPr>
          <a:xfrm>
            <a:off x="3429000" y="283464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200400"/>
            <a:ext cx="1188720" cy="731520"/>
          </a:xfrm>
          <a:prstGeom prst="rect">
            <a:avLst/>
          </a:prstGeom>
          <a:noFill/>
        </p:spPr>
        <p:txBody>
          <a:bodyPr wrap="square" lIns="0" rIns="0" tIns="0" bIns="0" anchor="t">
            <a:spAutoFit/>
          </a:bodyPr>
          <a:lstStyle/>
          <a:p>
            <a:pPr algn="ctr"/>
            <a:r>
              <a:rPr sz="1200" b="0" i="0">
                <a:solidFill>
                  <a:srgbClr val="5B6675"/>
                </a:solidFill>
                <a:latin typeface="Calibri"/>
              </a:rPr>
              <a:t>divide each row</a:t>
            </a:r>
          </a:p>
          <a:p>
            <a:pPr algn="ctr"/>
            <a:r>
              <a:rPr sz="1200" b="0" i="0">
                <a:solidFill>
                  <a:srgbClr val="5B6675"/>
                </a:solidFill>
                <a:latin typeface="Calibri"/>
              </a:rPr>
              <a:t>by its pivot</a:t>
            </a:r>
          </a:p>
        </p:txBody>
      </p:sp>
      <p:sp>
        <p:nvSpPr>
          <p:cNvPr id="36" name="Rectangle 35"/>
          <p:cNvSpPr/>
          <p:nvPr/>
        </p:nvSpPr>
        <p:spPr>
          <a:xfrm>
            <a:off x="4700016" y="1920240"/>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37" name="Rectangle 36"/>
          <p:cNvSpPr/>
          <p:nvPr/>
        </p:nvSpPr>
        <p:spPr>
          <a:xfrm>
            <a:off x="515721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38" name="Rectangle 37"/>
          <p:cNvSpPr/>
          <p:nvPr/>
        </p:nvSpPr>
        <p:spPr>
          <a:xfrm>
            <a:off x="561441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39" name="Rectangle 38"/>
          <p:cNvSpPr/>
          <p:nvPr/>
        </p:nvSpPr>
        <p:spPr>
          <a:xfrm>
            <a:off x="607161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40" name="Rectangle 39"/>
          <p:cNvSpPr/>
          <p:nvPr/>
        </p:nvSpPr>
        <p:spPr>
          <a:xfrm>
            <a:off x="6528816" y="1920240"/>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41" name="Rectangle 40"/>
          <p:cNvSpPr/>
          <p:nvPr/>
        </p:nvSpPr>
        <p:spPr>
          <a:xfrm>
            <a:off x="470001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42" name="Rectangle 41"/>
          <p:cNvSpPr/>
          <p:nvPr/>
        </p:nvSpPr>
        <p:spPr>
          <a:xfrm>
            <a:off x="515721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43" name="Rectangle 42"/>
          <p:cNvSpPr/>
          <p:nvPr/>
        </p:nvSpPr>
        <p:spPr>
          <a:xfrm>
            <a:off x="5614416" y="2340864"/>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44" name="Rectangle 43"/>
          <p:cNvSpPr/>
          <p:nvPr/>
        </p:nvSpPr>
        <p:spPr>
          <a:xfrm>
            <a:off x="607161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45" name="Rectangle 44"/>
          <p:cNvSpPr/>
          <p:nvPr/>
        </p:nvSpPr>
        <p:spPr>
          <a:xfrm>
            <a:off x="6528816" y="2340864"/>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46" name="Rectangle 45"/>
          <p:cNvSpPr/>
          <p:nvPr/>
        </p:nvSpPr>
        <p:spPr>
          <a:xfrm>
            <a:off x="470001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47" name="Rectangle 46"/>
          <p:cNvSpPr/>
          <p:nvPr/>
        </p:nvSpPr>
        <p:spPr>
          <a:xfrm>
            <a:off x="515721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48" name="Rectangle 47"/>
          <p:cNvSpPr/>
          <p:nvPr/>
        </p:nvSpPr>
        <p:spPr>
          <a:xfrm>
            <a:off x="561441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49" name="Rectangle 48"/>
          <p:cNvSpPr/>
          <p:nvPr/>
        </p:nvSpPr>
        <p:spPr>
          <a:xfrm>
            <a:off x="6071616" y="2761488"/>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50" name="Rectangle 49"/>
          <p:cNvSpPr/>
          <p:nvPr/>
        </p:nvSpPr>
        <p:spPr>
          <a:xfrm>
            <a:off x="6528816" y="2761488"/>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51" name="Rectangle 50"/>
          <p:cNvSpPr/>
          <p:nvPr/>
        </p:nvSpPr>
        <p:spPr>
          <a:xfrm>
            <a:off x="470001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2" name="Rectangle 51"/>
          <p:cNvSpPr/>
          <p:nvPr/>
        </p:nvSpPr>
        <p:spPr>
          <a:xfrm>
            <a:off x="515721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3" name="Rectangle 52"/>
          <p:cNvSpPr/>
          <p:nvPr/>
        </p:nvSpPr>
        <p:spPr>
          <a:xfrm>
            <a:off x="561441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4" name="Rectangle 53"/>
          <p:cNvSpPr/>
          <p:nvPr/>
        </p:nvSpPr>
        <p:spPr>
          <a:xfrm>
            <a:off x="607161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5" name="Rectangle 54"/>
          <p:cNvSpPr/>
          <p:nvPr/>
        </p:nvSpPr>
        <p:spPr>
          <a:xfrm>
            <a:off x="6528816" y="3182112"/>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6" name="Rectangle 55"/>
          <p:cNvSpPr/>
          <p:nvPr/>
        </p:nvSpPr>
        <p:spPr>
          <a:xfrm>
            <a:off x="470001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7" name="Rectangle 56"/>
          <p:cNvSpPr/>
          <p:nvPr/>
        </p:nvSpPr>
        <p:spPr>
          <a:xfrm>
            <a:off x="515721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8" name="Rectangle 57"/>
          <p:cNvSpPr/>
          <p:nvPr/>
        </p:nvSpPr>
        <p:spPr>
          <a:xfrm>
            <a:off x="561441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59" name="Rectangle 58"/>
          <p:cNvSpPr/>
          <p:nvPr/>
        </p:nvSpPr>
        <p:spPr>
          <a:xfrm>
            <a:off x="607161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0" name="Rectangle 59"/>
          <p:cNvSpPr/>
          <p:nvPr/>
        </p:nvSpPr>
        <p:spPr>
          <a:xfrm>
            <a:off x="6528816" y="3602736"/>
            <a:ext cx="420624" cy="38404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1" name="Left Bracket 60"/>
          <p:cNvSpPr/>
          <p:nvPr/>
        </p:nvSpPr>
        <p:spPr>
          <a:xfrm>
            <a:off x="4572000" y="1883664"/>
            <a:ext cx="128016" cy="2139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ight Bracket 61"/>
          <p:cNvSpPr/>
          <p:nvPr/>
        </p:nvSpPr>
        <p:spPr>
          <a:xfrm>
            <a:off x="6949440" y="1883664"/>
            <a:ext cx="128016" cy="2139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ight Arrow 62"/>
          <p:cNvSpPr/>
          <p:nvPr/>
        </p:nvSpPr>
        <p:spPr>
          <a:xfrm>
            <a:off x="7269480" y="283464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32320" y="3200400"/>
            <a:ext cx="1188720" cy="731520"/>
          </a:xfrm>
          <a:prstGeom prst="rect">
            <a:avLst/>
          </a:prstGeom>
          <a:noFill/>
        </p:spPr>
        <p:txBody>
          <a:bodyPr wrap="square" lIns="0" rIns="0" tIns="0" bIns="0" anchor="t">
            <a:spAutoFit/>
          </a:bodyPr>
          <a:lstStyle/>
          <a:p>
            <a:pPr algn="ctr"/>
            <a:r>
              <a:rPr sz="1200" b="0" i="0">
                <a:solidFill>
                  <a:srgbClr val="5B6675"/>
                </a:solidFill>
                <a:latin typeface="Calibri"/>
              </a:rPr>
              <a:t>clear entries</a:t>
            </a:r>
          </a:p>
          <a:p>
            <a:pPr algn="ctr"/>
            <a:r>
              <a:rPr sz="1200" b="0" i="0">
                <a:solidFill>
                  <a:srgbClr val="5B6675"/>
                </a:solidFill>
                <a:latin typeface="Calibri"/>
              </a:rPr>
              <a:t>above pivots</a:t>
            </a:r>
          </a:p>
        </p:txBody>
      </p:sp>
      <p:sp>
        <p:nvSpPr>
          <p:cNvPr id="65" name="Rectangle 64"/>
          <p:cNvSpPr/>
          <p:nvPr/>
        </p:nvSpPr>
        <p:spPr>
          <a:xfrm>
            <a:off x="8540496" y="1920240"/>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66" name="Rectangle 65"/>
          <p:cNvSpPr/>
          <p:nvPr/>
        </p:nvSpPr>
        <p:spPr>
          <a:xfrm>
            <a:off x="8997696" y="1920240"/>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67" name="Rectangle 66"/>
          <p:cNvSpPr/>
          <p:nvPr/>
        </p:nvSpPr>
        <p:spPr>
          <a:xfrm>
            <a:off x="9454896" y="1920240"/>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8" name="Rectangle 67"/>
          <p:cNvSpPr/>
          <p:nvPr/>
        </p:nvSpPr>
        <p:spPr>
          <a:xfrm>
            <a:off x="9912096" y="1920240"/>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69" name="Rectangle 68"/>
          <p:cNvSpPr/>
          <p:nvPr/>
        </p:nvSpPr>
        <p:spPr>
          <a:xfrm>
            <a:off x="10369296" y="1920240"/>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70" name="Rectangle 69"/>
          <p:cNvSpPr/>
          <p:nvPr/>
        </p:nvSpPr>
        <p:spPr>
          <a:xfrm>
            <a:off x="8540496" y="2340864"/>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1" name="Rectangle 70"/>
          <p:cNvSpPr/>
          <p:nvPr/>
        </p:nvSpPr>
        <p:spPr>
          <a:xfrm>
            <a:off x="8997696" y="2340864"/>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2" name="Rectangle 71"/>
          <p:cNvSpPr/>
          <p:nvPr/>
        </p:nvSpPr>
        <p:spPr>
          <a:xfrm>
            <a:off x="9454896" y="2340864"/>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3" name="Rectangle 72"/>
          <p:cNvSpPr/>
          <p:nvPr/>
        </p:nvSpPr>
        <p:spPr>
          <a:xfrm>
            <a:off x="9912096" y="2340864"/>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4" name="Rectangle 73"/>
          <p:cNvSpPr/>
          <p:nvPr/>
        </p:nvSpPr>
        <p:spPr>
          <a:xfrm>
            <a:off x="10369296" y="2340864"/>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75" name="Rectangle 74"/>
          <p:cNvSpPr/>
          <p:nvPr/>
        </p:nvSpPr>
        <p:spPr>
          <a:xfrm>
            <a:off x="8540496" y="2761488"/>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6" name="Rectangle 75"/>
          <p:cNvSpPr/>
          <p:nvPr/>
        </p:nvSpPr>
        <p:spPr>
          <a:xfrm>
            <a:off x="8997696" y="2761488"/>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7" name="Rectangle 76"/>
          <p:cNvSpPr/>
          <p:nvPr/>
        </p:nvSpPr>
        <p:spPr>
          <a:xfrm>
            <a:off x="9454896" y="2761488"/>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78" name="Rectangle 77"/>
          <p:cNvSpPr/>
          <p:nvPr/>
        </p:nvSpPr>
        <p:spPr>
          <a:xfrm>
            <a:off x="9912096" y="2761488"/>
            <a:ext cx="420624" cy="38404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1</a:t>
            </a:r>
          </a:p>
        </p:txBody>
      </p:sp>
      <p:sp>
        <p:nvSpPr>
          <p:cNvPr id="79" name="Rectangle 78"/>
          <p:cNvSpPr/>
          <p:nvPr/>
        </p:nvSpPr>
        <p:spPr>
          <a:xfrm>
            <a:off x="10369296" y="2761488"/>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a:t>
            </a:r>
          </a:p>
        </p:txBody>
      </p:sp>
      <p:sp>
        <p:nvSpPr>
          <p:cNvPr id="80" name="Rectangle 79"/>
          <p:cNvSpPr/>
          <p:nvPr/>
        </p:nvSpPr>
        <p:spPr>
          <a:xfrm>
            <a:off x="8540496" y="3182112"/>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1" name="Rectangle 80"/>
          <p:cNvSpPr/>
          <p:nvPr/>
        </p:nvSpPr>
        <p:spPr>
          <a:xfrm>
            <a:off x="8997696" y="3182112"/>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2" name="Rectangle 81"/>
          <p:cNvSpPr/>
          <p:nvPr/>
        </p:nvSpPr>
        <p:spPr>
          <a:xfrm>
            <a:off x="9454896" y="3182112"/>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3" name="Rectangle 82"/>
          <p:cNvSpPr/>
          <p:nvPr/>
        </p:nvSpPr>
        <p:spPr>
          <a:xfrm>
            <a:off x="9912096" y="3182112"/>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4" name="Rectangle 83"/>
          <p:cNvSpPr/>
          <p:nvPr/>
        </p:nvSpPr>
        <p:spPr>
          <a:xfrm>
            <a:off x="10369296" y="3182112"/>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5" name="Rectangle 84"/>
          <p:cNvSpPr/>
          <p:nvPr/>
        </p:nvSpPr>
        <p:spPr>
          <a:xfrm>
            <a:off x="8540496" y="3602736"/>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6" name="Rectangle 85"/>
          <p:cNvSpPr/>
          <p:nvPr/>
        </p:nvSpPr>
        <p:spPr>
          <a:xfrm>
            <a:off x="8997696" y="3602736"/>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7" name="Rectangle 86"/>
          <p:cNvSpPr/>
          <p:nvPr/>
        </p:nvSpPr>
        <p:spPr>
          <a:xfrm>
            <a:off x="9454896" y="3602736"/>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8" name="Rectangle 87"/>
          <p:cNvSpPr/>
          <p:nvPr/>
        </p:nvSpPr>
        <p:spPr>
          <a:xfrm>
            <a:off x="9912096" y="3602736"/>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89" name="Rectangle 88"/>
          <p:cNvSpPr/>
          <p:nvPr/>
        </p:nvSpPr>
        <p:spPr>
          <a:xfrm>
            <a:off x="10369296" y="3602736"/>
            <a:ext cx="420624" cy="38404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14213D"/>
                </a:solidFill>
                <a:latin typeface="Calibri"/>
              </a:rPr>
              <a:t>0</a:t>
            </a:r>
          </a:p>
        </p:txBody>
      </p:sp>
      <p:sp>
        <p:nvSpPr>
          <p:cNvPr id="90" name="Left Bracket 89"/>
          <p:cNvSpPr/>
          <p:nvPr/>
        </p:nvSpPr>
        <p:spPr>
          <a:xfrm>
            <a:off x="8412480" y="1883664"/>
            <a:ext cx="128016" cy="213969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ight Bracket 90"/>
          <p:cNvSpPr/>
          <p:nvPr/>
        </p:nvSpPr>
        <p:spPr>
          <a:xfrm>
            <a:off x="10789919" y="1883664"/>
            <a:ext cx="128016" cy="213969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863840" y="4096512"/>
            <a:ext cx="3602736" cy="548640"/>
          </a:xfrm>
          <a:prstGeom prst="rect">
            <a:avLst/>
          </a:prstGeom>
          <a:noFill/>
        </p:spPr>
        <p:txBody>
          <a:bodyPr wrap="square" lIns="0" rIns="0" tIns="0" bIns="0" anchor="t">
            <a:spAutoFit/>
          </a:bodyPr>
          <a:lstStyle/>
          <a:p>
            <a:pPr algn="ctr"/>
            <a:r>
              <a:rPr sz="1400" b="0" i="0">
                <a:solidFill>
                  <a:srgbClr val="14213D"/>
                </a:solidFill>
                <a:latin typeface="Calibri"/>
              </a:rPr>
              <a:t>Reduced row echelon form</a:t>
            </a:r>
          </a:p>
        </p:txBody>
      </p:sp>
      <p:sp>
        <p:nvSpPr>
          <p:cNvPr id="93" name="TextBox 92"/>
          <p:cNvSpPr txBox="1"/>
          <p:nvPr/>
        </p:nvSpPr>
        <p:spPr>
          <a:xfrm>
            <a:off x="548640" y="4846320"/>
            <a:ext cx="11064240" cy="1188720"/>
          </a:xfrm>
          <a:prstGeom prst="rect">
            <a:avLst/>
          </a:prstGeom>
          <a:noFill/>
        </p:spPr>
        <p:txBody>
          <a:bodyPr wrap="square" lIns="0" rIns="0" tIns="0" bIns="0" anchor="t">
            <a:spAutoFit/>
          </a:bodyPr>
          <a:lstStyle/>
          <a:p>
            <a:pPr algn="l">
              <a:lnSpc>
                <a:spcPct val="120000"/>
              </a:lnSpc>
            </a:pPr>
            <a:r>
              <a:rPr sz="1600" b="0" i="0">
                <a:solidFill>
                  <a:srgbClr val="5B6675"/>
                </a:solidFill>
                <a:latin typeface="Calibri"/>
              </a:rPr>
              <a:t>Columns without a pivot keep their entries (the stars): they correspond to free variables of the system. The pivot columns become columns of the identity matrix.</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REDUCED ROW ECHELON FORM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Reduced row echelon form: a 3×3 example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45</a:t>
            </a:r>
          </a:p>
        </p:txBody>
      </p:sp>
      <p:sp>
        <p:nvSpPr>
          <p:cNvPr id="6" name="Rectangle 5"/>
          <p:cNvSpPr/>
          <p:nvPr/>
        </p:nvSpPr>
        <p:spPr>
          <a:xfrm>
            <a:off x="768096" y="21031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7" name="Rectangle 6"/>
          <p:cNvSpPr/>
          <p:nvPr/>
        </p:nvSpPr>
        <p:spPr>
          <a:xfrm>
            <a:off x="1261872" y="21031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8" name="Rectangle 7"/>
          <p:cNvSpPr/>
          <p:nvPr/>
        </p:nvSpPr>
        <p:spPr>
          <a:xfrm>
            <a:off x="1755648" y="21031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3</a:t>
            </a:r>
          </a:p>
        </p:txBody>
      </p:sp>
      <p:sp>
        <p:nvSpPr>
          <p:cNvPr id="9" name="Rectangle 8"/>
          <p:cNvSpPr/>
          <p:nvPr/>
        </p:nvSpPr>
        <p:spPr>
          <a:xfrm>
            <a:off x="768096" y="25603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10" name="Rectangle 9"/>
          <p:cNvSpPr/>
          <p:nvPr/>
        </p:nvSpPr>
        <p:spPr>
          <a:xfrm>
            <a:off x="1261872" y="25603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1" name="Rectangle 10"/>
          <p:cNvSpPr/>
          <p:nvPr/>
        </p:nvSpPr>
        <p:spPr>
          <a:xfrm>
            <a:off x="1755648" y="25603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12" name="Rectangle 11"/>
          <p:cNvSpPr/>
          <p:nvPr/>
        </p:nvSpPr>
        <p:spPr>
          <a:xfrm>
            <a:off x="768096" y="30175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13" name="Rectangle 12"/>
          <p:cNvSpPr/>
          <p:nvPr/>
        </p:nvSpPr>
        <p:spPr>
          <a:xfrm>
            <a:off x="1261872" y="30175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14" name="Rectangle 13"/>
          <p:cNvSpPr/>
          <p:nvPr/>
        </p:nvSpPr>
        <p:spPr>
          <a:xfrm>
            <a:off x="1755648" y="30175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5" name="Left Bracket 14"/>
          <p:cNvSpPr/>
          <p:nvPr/>
        </p:nvSpPr>
        <p:spPr>
          <a:xfrm>
            <a:off x="640080" y="2066543"/>
            <a:ext cx="128016" cy="140817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Bracket 15"/>
          <p:cNvSpPr/>
          <p:nvPr/>
        </p:nvSpPr>
        <p:spPr>
          <a:xfrm>
            <a:off x="2212848" y="2066543"/>
            <a:ext cx="128016" cy="140817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39" y="3547872"/>
            <a:ext cx="2798064" cy="548640"/>
          </a:xfrm>
          <a:prstGeom prst="rect">
            <a:avLst/>
          </a:prstGeom>
          <a:noFill/>
        </p:spPr>
        <p:txBody>
          <a:bodyPr wrap="square" lIns="0" rIns="0" tIns="0" bIns="0" anchor="t">
            <a:spAutoFit/>
          </a:bodyPr>
          <a:lstStyle/>
          <a:p>
            <a:pPr algn="ctr"/>
            <a:r>
              <a:rPr sz="1400" b="0" i="0">
                <a:solidFill>
                  <a:srgbClr val="14213D"/>
                </a:solidFill>
                <a:latin typeface="Calibri"/>
              </a:rPr>
              <a:t>Row echelon form</a:t>
            </a:r>
          </a:p>
        </p:txBody>
      </p:sp>
      <p:sp>
        <p:nvSpPr>
          <p:cNvPr id="18" name="Right Arrow 17"/>
          <p:cNvSpPr/>
          <p:nvPr/>
        </p:nvSpPr>
        <p:spPr>
          <a:xfrm>
            <a:off x="2560320" y="269748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03120" y="3063240"/>
            <a:ext cx="1828800" cy="731520"/>
          </a:xfrm>
          <a:prstGeom prst="rect">
            <a:avLst/>
          </a:prstGeom>
          <a:noFill/>
        </p:spPr>
        <p:txBody>
          <a:bodyPr wrap="square" lIns="0" rIns="0" tIns="0" bIns="0" anchor="t">
            <a:spAutoFit/>
          </a:bodyPr>
          <a:lstStyle/>
          <a:p>
            <a:pPr algn="ctr"/>
            <a:r>
              <a:rPr sz="1400" b="0" i="0">
                <a:solidFill>
                  <a:srgbClr val="5B6675"/>
                </a:solidFill>
                <a:latin typeface="Calibri"/>
              </a:rPr>
              <a:t>R₁ ← R₁ − 2R₂</a:t>
            </a:r>
          </a:p>
        </p:txBody>
      </p:sp>
      <p:sp>
        <p:nvSpPr>
          <p:cNvPr id="20" name="Rectangle 19"/>
          <p:cNvSpPr/>
          <p:nvPr/>
        </p:nvSpPr>
        <p:spPr>
          <a:xfrm>
            <a:off x="3739896" y="21031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1" name="Rectangle 20"/>
          <p:cNvSpPr/>
          <p:nvPr/>
        </p:nvSpPr>
        <p:spPr>
          <a:xfrm>
            <a:off x="4233672" y="21031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22" name="Rectangle 21"/>
          <p:cNvSpPr/>
          <p:nvPr/>
        </p:nvSpPr>
        <p:spPr>
          <a:xfrm>
            <a:off x="4727448" y="21031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23" name="Rectangle 22"/>
          <p:cNvSpPr/>
          <p:nvPr/>
        </p:nvSpPr>
        <p:spPr>
          <a:xfrm>
            <a:off x="3739896" y="25603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24" name="Rectangle 23"/>
          <p:cNvSpPr/>
          <p:nvPr/>
        </p:nvSpPr>
        <p:spPr>
          <a:xfrm>
            <a:off x="4233672" y="25603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5" name="Rectangle 24"/>
          <p:cNvSpPr/>
          <p:nvPr/>
        </p:nvSpPr>
        <p:spPr>
          <a:xfrm>
            <a:off x="4727448" y="25603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26" name="Rectangle 25"/>
          <p:cNvSpPr/>
          <p:nvPr/>
        </p:nvSpPr>
        <p:spPr>
          <a:xfrm>
            <a:off x="3739896" y="30175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27" name="Rectangle 26"/>
          <p:cNvSpPr/>
          <p:nvPr/>
        </p:nvSpPr>
        <p:spPr>
          <a:xfrm>
            <a:off x="4233672" y="30175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28" name="Rectangle 27"/>
          <p:cNvSpPr/>
          <p:nvPr/>
        </p:nvSpPr>
        <p:spPr>
          <a:xfrm>
            <a:off x="4727448" y="30175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9" name="Left Bracket 28"/>
          <p:cNvSpPr/>
          <p:nvPr/>
        </p:nvSpPr>
        <p:spPr>
          <a:xfrm>
            <a:off x="3611880" y="2066543"/>
            <a:ext cx="128016" cy="140817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Bracket 29"/>
          <p:cNvSpPr/>
          <p:nvPr/>
        </p:nvSpPr>
        <p:spPr>
          <a:xfrm>
            <a:off x="5184648" y="2066543"/>
            <a:ext cx="128016" cy="140817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5532120" y="269748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3063240"/>
            <a:ext cx="1828800" cy="731520"/>
          </a:xfrm>
          <a:prstGeom prst="rect">
            <a:avLst/>
          </a:prstGeom>
          <a:noFill/>
        </p:spPr>
        <p:txBody>
          <a:bodyPr wrap="square" lIns="0" rIns="0" tIns="0" bIns="0" anchor="t">
            <a:spAutoFit/>
          </a:bodyPr>
          <a:lstStyle/>
          <a:p>
            <a:pPr algn="ctr"/>
            <a:r>
              <a:rPr sz="1400" b="0" i="0">
                <a:solidFill>
                  <a:srgbClr val="5B6675"/>
                </a:solidFill>
                <a:latin typeface="Calibri"/>
              </a:rPr>
              <a:t>R₁ ← R₁ + 5R₃</a:t>
            </a:r>
          </a:p>
        </p:txBody>
      </p:sp>
      <p:sp>
        <p:nvSpPr>
          <p:cNvPr id="33" name="Rectangle 32"/>
          <p:cNvSpPr/>
          <p:nvPr/>
        </p:nvSpPr>
        <p:spPr>
          <a:xfrm>
            <a:off x="6711696" y="21031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34" name="Rectangle 33"/>
          <p:cNvSpPr/>
          <p:nvPr/>
        </p:nvSpPr>
        <p:spPr>
          <a:xfrm>
            <a:off x="7205472" y="21031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5" name="Rectangle 34"/>
          <p:cNvSpPr/>
          <p:nvPr/>
        </p:nvSpPr>
        <p:spPr>
          <a:xfrm>
            <a:off x="7699248" y="21031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6" name="Rectangle 35"/>
          <p:cNvSpPr/>
          <p:nvPr/>
        </p:nvSpPr>
        <p:spPr>
          <a:xfrm>
            <a:off x="6711696" y="25603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7" name="Rectangle 36"/>
          <p:cNvSpPr/>
          <p:nvPr/>
        </p:nvSpPr>
        <p:spPr>
          <a:xfrm>
            <a:off x="7205472" y="25603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38" name="Rectangle 37"/>
          <p:cNvSpPr/>
          <p:nvPr/>
        </p:nvSpPr>
        <p:spPr>
          <a:xfrm>
            <a:off x="7699248" y="25603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39" name="Rectangle 38"/>
          <p:cNvSpPr/>
          <p:nvPr/>
        </p:nvSpPr>
        <p:spPr>
          <a:xfrm>
            <a:off x="6711696" y="30175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0" name="Rectangle 39"/>
          <p:cNvSpPr/>
          <p:nvPr/>
        </p:nvSpPr>
        <p:spPr>
          <a:xfrm>
            <a:off x="7205472" y="3017520"/>
            <a:ext cx="457200" cy="420624"/>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1" name="Rectangle 40"/>
          <p:cNvSpPr/>
          <p:nvPr/>
        </p:nvSpPr>
        <p:spPr>
          <a:xfrm>
            <a:off x="7699248" y="30175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42" name="Left Bracket 41"/>
          <p:cNvSpPr/>
          <p:nvPr/>
        </p:nvSpPr>
        <p:spPr>
          <a:xfrm>
            <a:off x="6583680" y="2066543"/>
            <a:ext cx="128016" cy="140817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Bracket 42"/>
          <p:cNvSpPr/>
          <p:nvPr/>
        </p:nvSpPr>
        <p:spPr>
          <a:xfrm>
            <a:off x="8156448" y="2066543"/>
            <a:ext cx="128016" cy="140817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Arrow 43"/>
          <p:cNvSpPr/>
          <p:nvPr/>
        </p:nvSpPr>
        <p:spPr>
          <a:xfrm>
            <a:off x="8503920" y="2697480"/>
            <a:ext cx="91440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0" y="3063240"/>
            <a:ext cx="1828800" cy="731520"/>
          </a:xfrm>
          <a:prstGeom prst="rect">
            <a:avLst/>
          </a:prstGeom>
          <a:noFill/>
        </p:spPr>
        <p:txBody>
          <a:bodyPr wrap="square" lIns="0" rIns="0" tIns="0" bIns="0" anchor="t">
            <a:spAutoFit/>
          </a:bodyPr>
          <a:lstStyle/>
          <a:p>
            <a:pPr algn="ctr"/>
            <a:r>
              <a:rPr sz="1400" b="0" i="0">
                <a:solidFill>
                  <a:srgbClr val="5B6675"/>
                </a:solidFill>
                <a:latin typeface="Calibri"/>
              </a:rPr>
              <a:t>R₂ ← R₂ − 4R₃</a:t>
            </a:r>
          </a:p>
        </p:txBody>
      </p:sp>
      <p:sp>
        <p:nvSpPr>
          <p:cNvPr id="46" name="Rectangle 45"/>
          <p:cNvSpPr/>
          <p:nvPr/>
        </p:nvSpPr>
        <p:spPr>
          <a:xfrm>
            <a:off x="9683496" y="21031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47" name="Rectangle 46"/>
          <p:cNvSpPr/>
          <p:nvPr/>
        </p:nvSpPr>
        <p:spPr>
          <a:xfrm>
            <a:off x="10177272" y="2103120"/>
            <a:ext cx="457200" cy="420624"/>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8" name="Rectangle 47"/>
          <p:cNvSpPr/>
          <p:nvPr/>
        </p:nvSpPr>
        <p:spPr>
          <a:xfrm>
            <a:off x="10671047" y="2103120"/>
            <a:ext cx="457200" cy="420624"/>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49" name="Rectangle 48"/>
          <p:cNvSpPr/>
          <p:nvPr/>
        </p:nvSpPr>
        <p:spPr>
          <a:xfrm>
            <a:off x="9683496" y="2560320"/>
            <a:ext cx="457200" cy="420624"/>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50" name="Rectangle 49"/>
          <p:cNvSpPr/>
          <p:nvPr/>
        </p:nvSpPr>
        <p:spPr>
          <a:xfrm>
            <a:off x="10177272" y="25603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51" name="Rectangle 50"/>
          <p:cNvSpPr/>
          <p:nvPr/>
        </p:nvSpPr>
        <p:spPr>
          <a:xfrm>
            <a:off x="10671047" y="2560320"/>
            <a:ext cx="457200" cy="420624"/>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52" name="Rectangle 51"/>
          <p:cNvSpPr/>
          <p:nvPr/>
        </p:nvSpPr>
        <p:spPr>
          <a:xfrm>
            <a:off x="9683496" y="3017520"/>
            <a:ext cx="457200" cy="420624"/>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53" name="Rectangle 52"/>
          <p:cNvSpPr/>
          <p:nvPr/>
        </p:nvSpPr>
        <p:spPr>
          <a:xfrm>
            <a:off x="10177272" y="3017520"/>
            <a:ext cx="457200" cy="420624"/>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54" name="Rectangle 53"/>
          <p:cNvSpPr/>
          <p:nvPr/>
        </p:nvSpPr>
        <p:spPr>
          <a:xfrm>
            <a:off x="10671047" y="3017520"/>
            <a:ext cx="457200" cy="420624"/>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55" name="Left Bracket 54"/>
          <p:cNvSpPr/>
          <p:nvPr/>
        </p:nvSpPr>
        <p:spPr>
          <a:xfrm>
            <a:off x="9555480" y="2066543"/>
            <a:ext cx="128016" cy="140817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ight Bracket 55"/>
          <p:cNvSpPr/>
          <p:nvPr/>
        </p:nvSpPr>
        <p:spPr>
          <a:xfrm>
            <a:off x="11128247" y="2066543"/>
            <a:ext cx="128016" cy="140817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06840" y="3547872"/>
            <a:ext cx="2798064" cy="548640"/>
          </a:xfrm>
          <a:prstGeom prst="rect">
            <a:avLst/>
          </a:prstGeom>
          <a:noFill/>
        </p:spPr>
        <p:txBody>
          <a:bodyPr wrap="square" lIns="0" rIns="0" tIns="0" bIns="0" anchor="t">
            <a:spAutoFit/>
          </a:bodyPr>
          <a:lstStyle/>
          <a:p>
            <a:pPr algn="ctr"/>
            <a:r>
              <a:rPr sz="1400" b="0" i="0">
                <a:solidFill>
                  <a:srgbClr val="14213D"/>
                </a:solidFill>
                <a:latin typeface="Calibri"/>
              </a:rPr>
              <a:t>Reduced row echelon form</a:t>
            </a:r>
          </a:p>
        </p:txBody>
      </p:sp>
      <p:sp>
        <p:nvSpPr>
          <p:cNvPr id="58" name="TextBox 57"/>
          <p:cNvSpPr txBox="1"/>
          <p:nvPr/>
        </p:nvSpPr>
        <p:spPr>
          <a:xfrm>
            <a:off x="548640" y="4572000"/>
            <a:ext cx="11064240" cy="1371600"/>
          </a:xfrm>
          <a:prstGeom prst="rect">
            <a:avLst/>
          </a:prstGeom>
          <a:noFill/>
        </p:spPr>
        <p:txBody>
          <a:bodyPr wrap="square" lIns="0" rIns="0" tIns="0" bIns="0" anchor="t">
            <a:spAutoFit/>
          </a:bodyPr>
          <a:lstStyle/>
          <a:p>
            <a:pPr algn="l">
              <a:lnSpc>
                <a:spcPct val="120000"/>
              </a:lnSpc>
            </a:pPr>
            <a:r>
              <a:rPr sz="1600" b="0" i="0">
                <a:solidFill>
                  <a:srgbClr val="5B6675"/>
                </a:solidFill>
                <a:latin typeface="Calibri"/>
              </a:rPr>
              <a:t>Work from the last pivot upwards, or from the first pivot downwards: either order clears every entry above a pivot and never disturbs a column already finished. The result is the identity, so the matrix has rank 3 and is non-singular.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46</a:t>
            </a:r>
          </a:p>
        </p:txBody>
      </p:sp>
      <p:sp>
        <p:nvSpPr>
          <p:cNvPr id="4" name="TextBox 3"/>
          <p:cNvSpPr txBox="1"/>
          <p:nvPr/>
        </p:nvSpPr>
        <p:spPr>
          <a:xfrm>
            <a:off x="548640" y="2011680"/>
            <a:ext cx="5486400" cy="365760"/>
          </a:xfrm>
          <a:prstGeom prst="rect">
            <a:avLst/>
          </a:prstGeom>
          <a:noFill/>
        </p:spPr>
        <p:txBody>
          <a:bodyPr wrap="square" lIns="0" rIns="0" tIns="0" bIns="0" anchor="t">
            <a:spAutoFit/>
          </a:bodyPr>
          <a:lstStyle/>
          <a:p>
            <a:pPr algn="l"/>
            <a:r>
              <a:rPr sz="1600" b="1" i="0">
                <a:solidFill>
                  <a:srgbClr val="F2B263"/>
                </a:solidFill>
                <a:latin typeface="Calibri"/>
              </a:rPr>
              <a:t>PART 6</a:t>
            </a:r>
          </a:p>
        </p:txBody>
      </p:sp>
      <p:sp>
        <p:nvSpPr>
          <p:cNvPr id="5" name="TextBox 4"/>
          <p:cNvSpPr txBox="1"/>
          <p:nvPr/>
        </p:nvSpPr>
        <p:spPr>
          <a:xfrm>
            <a:off x="548640" y="2468880"/>
            <a:ext cx="10515600" cy="1463040"/>
          </a:xfrm>
          <a:prstGeom prst="rect">
            <a:avLst/>
          </a:prstGeom>
          <a:noFill/>
        </p:spPr>
        <p:txBody>
          <a:bodyPr wrap="square" lIns="0" rIns="0" tIns="0" bIns="0" anchor="t">
            <a:spAutoFit/>
          </a:bodyPr>
          <a:lstStyle/>
          <a:p>
            <a:pPr algn="l"/>
            <a:r>
              <a:rPr sz="5400" b="1" i="0">
                <a:solidFill>
                  <a:srgbClr val="FFFFFF"/>
                </a:solidFill>
                <a:latin typeface="Cambria"/>
              </a:rPr>
              <a:t>The Gaussian elimination algorithm</a:t>
            </a:r>
          </a:p>
        </p:txBody>
      </p:sp>
      <p:sp>
        <p:nvSpPr>
          <p:cNvPr id="6" name="TextBox 5"/>
          <p:cNvSpPr txBox="1"/>
          <p:nvPr/>
        </p:nvSpPr>
        <p:spPr>
          <a:xfrm>
            <a:off x="548640" y="4114800"/>
            <a:ext cx="8229600" cy="1097280"/>
          </a:xfrm>
          <a:prstGeom prst="rect">
            <a:avLst/>
          </a:prstGeom>
          <a:noFill/>
        </p:spPr>
        <p:txBody>
          <a:bodyPr wrap="square" lIns="0" rIns="0" tIns="0" bIns="0" anchor="t">
            <a:spAutoFit/>
          </a:bodyPr>
          <a:lstStyle/>
          <a:p>
            <a:pPr algn="l">
              <a:lnSpc>
                <a:spcPct val="120000"/>
              </a:lnSpc>
            </a:pPr>
            <a:r>
              <a:rPr sz="2000" b="0" i="0">
                <a:solidFill>
                  <a:srgbClr val="BFD8D5"/>
                </a:solidFill>
                <a:latin typeface="Calibri"/>
              </a:rPr>
              <a:t>Putting it all together on the augmented matrix: pivot, reduce, back-substitute, and read the answer.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GAUSSIAN ELIMINATION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The augmented matrix</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47</a:t>
            </a:r>
          </a:p>
        </p:txBody>
      </p:sp>
      <p:sp>
        <p:nvSpPr>
          <p:cNvPr id="6" name="Rounded Rectangle 5"/>
          <p:cNvSpPr/>
          <p:nvPr/>
        </p:nvSpPr>
        <p:spPr>
          <a:xfrm>
            <a:off x="548640" y="1417320"/>
            <a:ext cx="11064240" cy="14173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18488"/>
            <a:ext cx="1051560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8" name="TextBox 7"/>
          <p:cNvSpPr txBox="1"/>
          <p:nvPr/>
        </p:nvSpPr>
        <p:spPr>
          <a:xfrm>
            <a:off x="822959" y="1929384"/>
            <a:ext cx="10515600" cy="777240"/>
          </a:xfrm>
          <a:prstGeom prst="rect">
            <a:avLst/>
          </a:prstGeom>
          <a:noFill/>
        </p:spPr>
        <p:txBody>
          <a:bodyPr wrap="square" lIns="0" rIns="0" tIns="0" bIns="0" anchor="t">
            <a:spAutoFit/>
          </a:bodyPr>
          <a:lstStyle/>
          <a:p>
            <a:pPr algn="l">
              <a:lnSpc>
                <a:spcPct val="115000"/>
              </a:lnSpc>
              <a:spcAft>
                <a:spcPts val="600"/>
              </a:spcAft>
            </a:pPr>
            <a:r>
              <a:rPr sz="1700" b="0" i="0">
                <a:solidFill>
                  <a:srgbClr val="14213D"/>
                </a:solidFill>
                <a:latin typeface="Calibri"/>
              </a:rPr>
              <a:t>The </a:t>
            </a:r>
            <a:r>
              <a:rPr sz="1700" b="1" i="0">
                <a:solidFill>
                  <a:srgbClr val="14213D"/>
                </a:solidFill>
                <a:latin typeface="Calibri"/>
              </a:rPr>
              <a:t>augmented matrix</a:t>
            </a:r>
            <a:r>
              <a:rPr sz="1700" b="0" i="0">
                <a:solidFill>
                  <a:srgbClr val="14213D"/>
                </a:solidFill>
                <a:latin typeface="Calibri"/>
              </a:rPr>
              <a:t> [ A | b ] of the system A·x = b is the coefficient matrix A with the column of constants b appended on the right. Row operations act on entire rows, constants included, so the system stays equivalent.</a:t>
            </a:r>
          </a:p>
        </p:txBody>
      </p:sp>
      <p:sp>
        <p:nvSpPr>
          <p:cNvPr id="9" name="TextBox 8"/>
          <p:cNvSpPr txBox="1"/>
          <p:nvPr/>
        </p:nvSpPr>
        <p:spPr>
          <a:xfrm>
            <a:off x="822960" y="3200400"/>
            <a:ext cx="4114800" cy="320040"/>
          </a:xfrm>
          <a:prstGeom prst="rect">
            <a:avLst/>
          </a:prstGeom>
          <a:noFill/>
        </p:spPr>
        <p:txBody>
          <a:bodyPr wrap="square" lIns="0" rIns="0" tIns="0" bIns="0" anchor="t">
            <a:spAutoFit/>
          </a:bodyPr>
          <a:lstStyle/>
          <a:p>
            <a:pPr algn="l"/>
            <a:r>
              <a:rPr sz="1400" b="1" i="0">
                <a:solidFill>
                  <a:srgbClr val="5B6675"/>
                </a:solidFill>
                <a:latin typeface="Calibri"/>
              </a:rPr>
              <a:t>SYSTEM</a:t>
            </a:r>
          </a:p>
        </p:txBody>
      </p:sp>
      <p:sp>
        <p:nvSpPr>
          <p:cNvPr id="10" name="TextBox 9"/>
          <p:cNvSpPr txBox="1"/>
          <p:nvPr/>
        </p:nvSpPr>
        <p:spPr>
          <a:xfrm>
            <a:off x="822960" y="3547872"/>
            <a:ext cx="4114800" cy="566928"/>
          </a:xfrm>
          <a:prstGeom prst="rect">
            <a:avLst/>
          </a:prstGeom>
          <a:noFill/>
        </p:spPr>
        <p:txBody>
          <a:bodyPr wrap="square" lIns="0" rIns="0" tIns="0" bIns="0" anchor="ctr">
            <a:spAutoFit/>
          </a:bodyPr>
          <a:lstStyle/>
          <a:p>
            <a:pPr algn="l"/>
            <a:r>
              <a:rPr sz="2400" b="0" i="0">
                <a:solidFill>
                  <a:srgbClr val="14213D"/>
                </a:solidFill>
                <a:latin typeface="Cambria"/>
              </a:rPr>
              <a:t>2a − b + c = 1</a:t>
            </a:r>
          </a:p>
        </p:txBody>
      </p:sp>
      <p:sp>
        <p:nvSpPr>
          <p:cNvPr id="11" name="TextBox 10"/>
          <p:cNvSpPr txBox="1"/>
          <p:nvPr/>
        </p:nvSpPr>
        <p:spPr>
          <a:xfrm>
            <a:off x="822960" y="4114800"/>
            <a:ext cx="4114800" cy="566928"/>
          </a:xfrm>
          <a:prstGeom prst="rect">
            <a:avLst/>
          </a:prstGeom>
          <a:noFill/>
        </p:spPr>
        <p:txBody>
          <a:bodyPr wrap="square" lIns="0" rIns="0" tIns="0" bIns="0" anchor="ctr">
            <a:spAutoFit/>
          </a:bodyPr>
          <a:lstStyle/>
          <a:p>
            <a:pPr algn="l"/>
            <a:r>
              <a:rPr sz="2400" b="0" i="0">
                <a:solidFill>
                  <a:srgbClr val="14213D"/>
                </a:solidFill>
                <a:latin typeface="Cambria"/>
              </a:rPr>
              <a:t>2a + 2b + 4c = −2</a:t>
            </a:r>
          </a:p>
        </p:txBody>
      </p:sp>
      <p:sp>
        <p:nvSpPr>
          <p:cNvPr id="12" name="TextBox 11"/>
          <p:cNvSpPr txBox="1"/>
          <p:nvPr/>
        </p:nvSpPr>
        <p:spPr>
          <a:xfrm>
            <a:off x="822960" y="4681728"/>
            <a:ext cx="4114800" cy="566928"/>
          </a:xfrm>
          <a:prstGeom prst="rect">
            <a:avLst/>
          </a:prstGeom>
          <a:noFill/>
        </p:spPr>
        <p:txBody>
          <a:bodyPr wrap="square" lIns="0" rIns="0" tIns="0" bIns="0" anchor="ctr">
            <a:spAutoFit/>
          </a:bodyPr>
          <a:lstStyle/>
          <a:p>
            <a:pPr algn="l"/>
            <a:r>
              <a:rPr sz="2400" b="0" i="0">
                <a:solidFill>
                  <a:srgbClr val="14213D"/>
                </a:solidFill>
                <a:latin typeface="Cambria"/>
              </a:rPr>
              <a:t>4a + b = 4</a:t>
            </a:r>
          </a:p>
        </p:txBody>
      </p:sp>
      <p:sp>
        <p:nvSpPr>
          <p:cNvPr id="13" name="Right Arrow 12"/>
          <p:cNvSpPr/>
          <p:nvPr/>
        </p:nvSpPr>
        <p:spPr>
          <a:xfrm>
            <a:off x="5212080" y="3977639"/>
            <a:ext cx="1097280" cy="347472"/>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3200400"/>
            <a:ext cx="4572000" cy="320040"/>
          </a:xfrm>
          <a:prstGeom prst="rect">
            <a:avLst/>
          </a:prstGeom>
          <a:noFill/>
        </p:spPr>
        <p:txBody>
          <a:bodyPr wrap="square" lIns="0" rIns="0" tIns="0" bIns="0" anchor="t">
            <a:spAutoFit/>
          </a:bodyPr>
          <a:lstStyle/>
          <a:p>
            <a:pPr algn="l"/>
            <a:r>
              <a:rPr sz="1400" b="1" i="0">
                <a:solidFill>
                  <a:srgbClr val="5B6675"/>
                </a:solidFill>
                <a:latin typeface="Calibri"/>
              </a:rPr>
              <a:t>AUGMENTED MATRIX</a:t>
            </a:r>
          </a:p>
        </p:txBody>
      </p:sp>
      <p:sp>
        <p:nvSpPr>
          <p:cNvPr id="15" name="TextBox 14"/>
          <p:cNvSpPr txBox="1"/>
          <p:nvPr/>
        </p:nvSpPr>
        <p:spPr>
          <a:xfrm>
            <a:off x="6675120" y="3611880"/>
            <a:ext cx="457200" cy="1737360"/>
          </a:xfrm>
          <a:prstGeom prst="rect">
            <a:avLst/>
          </a:prstGeom>
          <a:noFill/>
        </p:spPr>
        <p:txBody>
          <a:bodyPr wrap="square" lIns="0" rIns="0" tIns="0" bIns="0" anchor="t">
            <a:spAutoFit/>
          </a:bodyPr>
          <a:lstStyle/>
          <a:p>
            <a:pPr algn="l">
              <a:lnSpc>
                <a:spcPct val="100000"/>
              </a:lnSpc>
            </a:pPr>
            <a:r>
              <a:rPr sz="1800" b="0" i="0">
                <a:solidFill>
                  <a:srgbClr val="5B6675"/>
                </a:solidFill>
                <a:latin typeface="Cambria"/>
              </a:rPr>
              <a:t>R₁</a:t>
            </a:r>
          </a:p>
          <a:p>
            <a:pPr algn="l">
              <a:lnSpc>
                <a:spcPct val="100000"/>
              </a:lnSpc>
            </a:pPr>
            <a:r>
              <a:rPr sz="1800" b="0" i="0">
                <a:solidFill>
                  <a:srgbClr val="5B6675"/>
                </a:solidFill>
                <a:latin typeface="Cambria"/>
              </a:rPr>
              <a:t>R₂</a:t>
            </a:r>
          </a:p>
          <a:p>
            <a:pPr algn="l">
              <a:lnSpc>
                <a:spcPct val="100000"/>
              </a:lnSpc>
            </a:pPr>
            <a:r>
              <a:rPr sz="1800" b="0" i="0">
                <a:solidFill>
                  <a:srgbClr val="5B6675"/>
                </a:solidFill>
                <a:latin typeface="Cambria"/>
              </a:rPr>
              <a:t>R₃</a:t>
            </a:r>
          </a:p>
        </p:txBody>
      </p:sp>
      <p:sp>
        <p:nvSpPr>
          <p:cNvPr id="16" name="Rectangle 15"/>
          <p:cNvSpPr/>
          <p:nvPr/>
        </p:nvSpPr>
        <p:spPr>
          <a:xfrm>
            <a:off x="7260336" y="361188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2</a:t>
            </a:r>
          </a:p>
        </p:txBody>
      </p:sp>
      <p:sp>
        <p:nvSpPr>
          <p:cNvPr id="17" name="Rectangle 16"/>
          <p:cNvSpPr/>
          <p:nvPr/>
        </p:nvSpPr>
        <p:spPr>
          <a:xfrm>
            <a:off x="7854696" y="361188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18" name="Rectangle 17"/>
          <p:cNvSpPr/>
          <p:nvPr/>
        </p:nvSpPr>
        <p:spPr>
          <a:xfrm>
            <a:off x="8449056" y="361188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19" name="Rectangle 18"/>
          <p:cNvSpPr/>
          <p:nvPr/>
        </p:nvSpPr>
        <p:spPr>
          <a:xfrm>
            <a:off x="9189720" y="361188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20" name="Rectangle 19"/>
          <p:cNvSpPr/>
          <p:nvPr/>
        </p:nvSpPr>
        <p:spPr>
          <a:xfrm>
            <a:off x="7260336" y="416052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2</a:t>
            </a:r>
          </a:p>
        </p:txBody>
      </p:sp>
      <p:sp>
        <p:nvSpPr>
          <p:cNvPr id="21" name="Rectangle 20"/>
          <p:cNvSpPr/>
          <p:nvPr/>
        </p:nvSpPr>
        <p:spPr>
          <a:xfrm>
            <a:off x="7854696" y="416052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2</a:t>
            </a:r>
          </a:p>
        </p:txBody>
      </p:sp>
      <p:sp>
        <p:nvSpPr>
          <p:cNvPr id="22" name="Rectangle 21"/>
          <p:cNvSpPr/>
          <p:nvPr/>
        </p:nvSpPr>
        <p:spPr>
          <a:xfrm>
            <a:off x="8449056" y="416052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4</a:t>
            </a:r>
          </a:p>
        </p:txBody>
      </p:sp>
      <p:sp>
        <p:nvSpPr>
          <p:cNvPr id="23" name="Rectangle 22"/>
          <p:cNvSpPr/>
          <p:nvPr/>
        </p:nvSpPr>
        <p:spPr>
          <a:xfrm>
            <a:off x="9189720" y="416052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−2</a:t>
            </a:r>
          </a:p>
        </p:txBody>
      </p:sp>
      <p:sp>
        <p:nvSpPr>
          <p:cNvPr id="24" name="Rectangle 23"/>
          <p:cNvSpPr/>
          <p:nvPr/>
        </p:nvSpPr>
        <p:spPr>
          <a:xfrm>
            <a:off x="7260336" y="470916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4</a:t>
            </a:r>
          </a:p>
        </p:txBody>
      </p:sp>
      <p:sp>
        <p:nvSpPr>
          <p:cNvPr id="25" name="Rectangle 24"/>
          <p:cNvSpPr/>
          <p:nvPr/>
        </p:nvSpPr>
        <p:spPr>
          <a:xfrm>
            <a:off x="7854696" y="470916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1</a:t>
            </a:r>
          </a:p>
        </p:txBody>
      </p:sp>
      <p:sp>
        <p:nvSpPr>
          <p:cNvPr id="26" name="Rectangle 25"/>
          <p:cNvSpPr/>
          <p:nvPr/>
        </p:nvSpPr>
        <p:spPr>
          <a:xfrm>
            <a:off x="8449056" y="470916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0</a:t>
            </a:r>
          </a:p>
        </p:txBody>
      </p:sp>
      <p:sp>
        <p:nvSpPr>
          <p:cNvPr id="27" name="Rectangle 26"/>
          <p:cNvSpPr/>
          <p:nvPr/>
        </p:nvSpPr>
        <p:spPr>
          <a:xfrm>
            <a:off x="9189720" y="4709160"/>
            <a:ext cx="548640"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a:solidFill>
                  <a:srgbClr val="14213D"/>
                </a:solidFill>
                <a:latin typeface="Calibri"/>
              </a:rPr>
              <a:t>4</a:t>
            </a:r>
          </a:p>
        </p:txBody>
      </p:sp>
      <p:cxnSp>
        <p:nvCxnSpPr>
          <p:cNvPr id="28" name="Connector 27"/>
          <p:cNvCxnSpPr/>
          <p:nvPr/>
        </p:nvCxnSpPr>
        <p:spPr>
          <a:xfrm>
            <a:off x="9093707" y="3575304"/>
            <a:ext cx="0" cy="1673352"/>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29" name="Left Bracket 28"/>
          <p:cNvSpPr/>
          <p:nvPr/>
        </p:nvSpPr>
        <p:spPr>
          <a:xfrm>
            <a:off x="7132320" y="3575304"/>
            <a:ext cx="128016" cy="1673352"/>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Bracket 29"/>
          <p:cNvSpPr/>
          <p:nvPr/>
        </p:nvSpPr>
        <p:spPr>
          <a:xfrm>
            <a:off x="9738359" y="3575304"/>
            <a:ext cx="128016" cy="1673352"/>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257800"/>
            <a:ext cx="10607040" cy="731520"/>
          </a:xfrm>
          <a:prstGeom prst="rect">
            <a:avLst/>
          </a:prstGeom>
          <a:noFill/>
        </p:spPr>
        <p:txBody>
          <a:bodyPr wrap="square" lIns="0" rIns="0" tIns="0" bIns="0" anchor="t">
            <a:spAutoFit/>
          </a:bodyPr>
          <a:lstStyle/>
          <a:p>
            <a:pPr algn="l">
              <a:lnSpc>
                <a:spcPct val="120000"/>
              </a:lnSpc>
            </a:pPr>
            <a:r>
              <a:rPr sz="1600" b="0" i="0">
                <a:solidFill>
                  <a:srgbClr val="5B6675"/>
                </a:solidFill>
                <a:latin typeface="Calibri"/>
              </a:rPr>
              <a:t>Each row is one equation; the bar separates the coefficients of a, b, c from the constant. Now proceed with the elimination method on the rows.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GAUSSIAN ELIMINATION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Pivoting on the first column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48</a:t>
            </a:r>
          </a:p>
        </p:txBody>
      </p:sp>
      <p:sp>
        <p:nvSpPr>
          <p:cNvPr id="6" name="Rectangle 5"/>
          <p:cNvSpPr/>
          <p:nvPr/>
        </p:nvSpPr>
        <p:spPr>
          <a:xfrm>
            <a:off x="859536" y="1691640"/>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7" name="Rectangle 6"/>
          <p:cNvSpPr/>
          <p:nvPr/>
        </p:nvSpPr>
        <p:spPr>
          <a:xfrm>
            <a:off x="145389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8" name="Rectangle 7"/>
          <p:cNvSpPr/>
          <p:nvPr/>
        </p:nvSpPr>
        <p:spPr>
          <a:xfrm>
            <a:off x="204825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9" name="Rectangle 8"/>
          <p:cNvSpPr/>
          <p:nvPr/>
        </p:nvSpPr>
        <p:spPr>
          <a:xfrm>
            <a:off x="27889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10" name="Rectangle 9"/>
          <p:cNvSpPr/>
          <p:nvPr/>
        </p:nvSpPr>
        <p:spPr>
          <a:xfrm>
            <a:off x="85953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11" name="Rectangle 10"/>
          <p:cNvSpPr/>
          <p:nvPr/>
        </p:nvSpPr>
        <p:spPr>
          <a:xfrm>
            <a:off x="145389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12" name="Rectangle 11"/>
          <p:cNvSpPr/>
          <p:nvPr/>
        </p:nvSpPr>
        <p:spPr>
          <a:xfrm>
            <a:off x="204825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4</a:t>
            </a:r>
          </a:p>
        </p:txBody>
      </p:sp>
      <p:sp>
        <p:nvSpPr>
          <p:cNvPr id="13" name="Rectangle 12"/>
          <p:cNvSpPr/>
          <p:nvPr/>
        </p:nvSpPr>
        <p:spPr>
          <a:xfrm>
            <a:off x="27889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14" name="Rectangle 13"/>
          <p:cNvSpPr/>
          <p:nvPr/>
        </p:nvSpPr>
        <p:spPr>
          <a:xfrm>
            <a:off x="85953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4</a:t>
            </a:r>
          </a:p>
        </p:txBody>
      </p:sp>
      <p:sp>
        <p:nvSpPr>
          <p:cNvPr id="15" name="Rectangle 14"/>
          <p:cNvSpPr/>
          <p:nvPr/>
        </p:nvSpPr>
        <p:spPr>
          <a:xfrm>
            <a:off x="145389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16" name="Rectangle 15"/>
          <p:cNvSpPr/>
          <p:nvPr/>
        </p:nvSpPr>
        <p:spPr>
          <a:xfrm>
            <a:off x="204825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17" name="Rectangle 16"/>
          <p:cNvSpPr/>
          <p:nvPr/>
        </p:nvSpPr>
        <p:spPr>
          <a:xfrm>
            <a:off x="27889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4</a:t>
            </a:r>
          </a:p>
        </p:txBody>
      </p:sp>
      <p:cxnSp>
        <p:nvCxnSpPr>
          <p:cNvPr id="18" name="Connector 17"/>
          <p:cNvCxnSpPr/>
          <p:nvPr/>
        </p:nvCxnSpPr>
        <p:spPr>
          <a:xfrm>
            <a:off x="2692908"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19" name="Left Bracket 18"/>
          <p:cNvSpPr/>
          <p:nvPr/>
        </p:nvSpPr>
        <p:spPr>
          <a:xfrm>
            <a:off x="7315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Bracket 19"/>
          <p:cNvSpPr/>
          <p:nvPr/>
        </p:nvSpPr>
        <p:spPr>
          <a:xfrm>
            <a:off x="3337560"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Start: pivot 2 in row 1</a:t>
            </a:r>
          </a:p>
        </p:txBody>
      </p:sp>
      <p:sp>
        <p:nvSpPr>
          <p:cNvPr id="22" name="Right Arrow 21"/>
          <p:cNvSpPr/>
          <p:nvPr/>
        </p:nvSpPr>
        <p:spPr>
          <a:xfrm>
            <a:off x="3749039" y="2286000"/>
            <a:ext cx="82296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74336" y="1691640"/>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24" name="Rectangle 23"/>
          <p:cNvSpPr/>
          <p:nvPr/>
        </p:nvSpPr>
        <p:spPr>
          <a:xfrm>
            <a:off x="556869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25" name="Rectangle 24"/>
          <p:cNvSpPr/>
          <p:nvPr/>
        </p:nvSpPr>
        <p:spPr>
          <a:xfrm>
            <a:off x="616305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26" name="Rectangle 25"/>
          <p:cNvSpPr/>
          <p:nvPr/>
        </p:nvSpPr>
        <p:spPr>
          <a:xfrm>
            <a:off x="69037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27" name="Rectangle 26"/>
          <p:cNvSpPr/>
          <p:nvPr/>
        </p:nvSpPr>
        <p:spPr>
          <a:xfrm>
            <a:off x="497433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28" name="Rectangle 27"/>
          <p:cNvSpPr/>
          <p:nvPr/>
        </p:nvSpPr>
        <p:spPr>
          <a:xfrm>
            <a:off x="556869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29" name="Rectangle 28"/>
          <p:cNvSpPr/>
          <p:nvPr/>
        </p:nvSpPr>
        <p:spPr>
          <a:xfrm>
            <a:off x="616305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4</a:t>
            </a:r>
          </a:p>
        </p:txBody>
      </p:sp>
      <p:sp>
        <p:nvSpPr>
          <p:cNvPr id="30" name="Rectangle 29"/>
          <p:cNvSpPr/>
          <p:nvPr/>
        </p:nvSpPr>
        <p:spPr>
          <a:xfrm>
            <a:off x="69037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31" name="Rectangle 30"/>
          <p:cNvSpPr/>
          <p:nvPr/>
        </p:nvSpPr>
        <p:spPr>
          <a:xfrm>
            <a:off x="497433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4</a:t>
            </a:r>
          </a:p>
        </p:txBody>
      </p:sp>
      <p:sp>
        <p:nvSpPr>
          <p:cNvPr id="32" name="Rectangle 31"/>
          <p:cNvSpPr/>
          <p:nvPr/>
        </p:nvSpPr>
        <p:spPr>
          <a:xfrm>
            <a:off x="556869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33" name="Rectangle 32"/>
          <p:cNvSpPr/>
          <p:nvPr/>
        </p:nvSpPr>
        <p:spPr>
          <a:xfrm>
            <a:off x="616305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34" name="Rectangle 33"/>
          <p:cNvSpPr/>
          <p:nvPr/>
        </p:nvSpPr>
        <p:spPr>
          <a:xfrm>
            <a:off x="69037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4</a:t>
            </a:r>
          </a:p>
        </p:txBody>
      </p:sp>
      <p:cxnSp>
        <p:nvCxnSpPr>
          <p:cNvPr id="35" name="Connector 34"/>
          <p:cNvCxnSpPr/>
          <p:nvPr/>
        </p:nvCxnSpPr>
        <p:spPr>
          <a:xfrm>
            <a:off x="6807707"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36" name="Left Bracket 35"/>
          <p:cNvSpPr/>
          <p:nvPr/>
        </p:nvSpPr>
        <p:spPr>
          <a:xfrm>
            <a:off x="48463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Bracket 36"/>
          <p:cNvSpPr/>
          <p:nvPr/>
        </p:nvSpPr>
        <p:spPr>
          <a:xfrm>
            <a:off x="7452359"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976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R₁ ← ½ R₁</a:t>
            </a:r>
          </a:p>
        </p:txBody>
      </p:sp>
      <p:sp>
        <p:nvSpPr>
          <p:cNvPr id="39" name="Right Arrow 38"/>
          <p:cNvSpPr/>
          <p:nvPr/>
        </p:nvSpPr>
        <p:spPr>
          <a:xfrm>
            <a:off x="7863840" y="2286000"/>
            <a:ext cx="82296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89136" y="1691640"/>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1" name="Rectangle 40"/>
          <p:cNvSpPr/>
          <p:nvPr/>
        </p:nvSpPr>
        <p:spPr>
          <a:xfrm>
            <a:off x="968349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42" name="Rectangle 41"/>
          <p:cNvSpPr/>
          <p:nvPr/>
        </p:nvSpPr>
        <p:spPr>
          <a:xfrm>
            <a:off x="1027785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43" name="Rectangle 42"/>
          <p:cNvSpPr/>
          <p:nvPr/>
        </p:nvSpPr>
        <p:spPr>
          <a:xfrm>
            <a:off x="110185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44" name="Rectangle 43"/>
          <p:cNvSpPr/>
          <p:nvPr/>
        </p:nvSpPr>
        <p:spPr>
          <a:xfrm>
            <a:off x="9089136" y="2212848"/>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5" name="Rectangle 44"/>
          <p:cNvSpPr/>
          <p:nvPr/>
        </p:nvSpPr>
        <p:spPr>
          <a:xfrm>
            <a:off x="968349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46" name="Rectangle 45"/>
          <p:cNvSpPr/>
          <p:nvPr/>
        </p:nvSpPr>
        <p:spPr>
          <a:xfrm>
            <a:off x="1027785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47" name="Rectangle 46"/>
          <p:cNvSpPr/>
          <p:nvPr/>
        </p:nvSpPr>
        <p:spPr>
          <a:xfrm>
            <a:off x="110185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48" name="Rectangle 47"/>
          <p:cNvSpPr/>
          <p:nvPr/>
        </p:nvSpPr>
        <p:spPr>
          <a:xfrm>
            <a:off x="9089136" y="2734056"/>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9" name="Rectangle 48"/>
          <p:cNvSpPr/>
          <p:nvPr/>
        </p:nvSpPr>
        <p:spPr>
          <a:xfrm>
            <a:off x="968349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50" name="Rectangle 49"/>
          <p:cNvSpPr/>
          <p:nvPr/>
        </p:nvSpPr>
        <p:spPr>
          <a:xfrm>
            <a:off x="1027785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51" name="Rectangle 50"/>
          <p:cNvSpPr/>
          <p:nvPr/>
        </p:nvSpPr>
        <p:spPr>
          <a:xfrm>
            <a:off x="110185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cxnSp>
        <p:nvCxnSpPr>
          <p:cNvPr id="52" name="Connector 51"/>
          <p:cNvCxnSpPr/>
          <p:nvPr/>
        </p:nvCxnSpPr>
        <p:spPr>
          <a:xfrm>
            <a:off x="10922508"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53" name="Left Bracket 52"/>
          <p:cNvSpPr/>
          <p:nvPr/>
        </p:nvSpPr>
        <p:spPr>
          <a:xfrm>
            <a:off x="89611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Bracket 53"/>
          <p:cNvSpPr/>
          <p:nvPr/>
        </p:nvSpPr>
        <p:spPr>
          <a:xfrm>
            <a:off x="11567160"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24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R₂ ← R₂ − 2R₁,   R₃ ← R₃ − 4R₁</a:t>
            </a:r>
          </a:p>
        </p:txBody>
      </p:sp>
      <p:sp>
        <p:nvSpPr>
          <p:cNvPr id="56" name="Rounded Rectangle 55"/>
          <p:cNvSpPr/>
          <p:nvPr/>
        </p:nvSpPr>
        <p:spPr>
          <a:xfrm>
            <a:off x="548640" y="4160520"/>
            <a:ext cx="11064240" cy="18288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4297680"/>
            <a:ext cx="10515600" cy="274320"/>
          </a:xfrm>
          <a:prstGeom prst="rect">
            <a:avLst/>
          </a:prstGeom>
          <a:noFill/>
        </p:spPr>
        <p:txBody>
          <a:bodyPr wrap="square" lIns="0" rIns="0" tIns="0" bIns="0" anchor="t">
            <a:spAutoFit/>
          </a:bodyPr>
          <a:lstStyle/>
          <a:p>
            <a:pPr algn="l"/>
            <a:r>
              <a:rPr sz="1200" b="1" i="0">
                <a:solidFill>
                  <a:srgbClr val="1F6F8B"/>
                </a:solidFill>
                <a:latin typeface="Calibri"/>
              </a:rPr>
              <a:t>THE ROW ARITHMETIC</a:t>
            </a:r>
          </a:p>
        </p:txBody>
      </p:sp>
      <p:sp>
        <p:nvSpPr>
          <p:cNvPr id="58" name="TextBox 57"/>
          <p:cNvSpPr txBox="1"/>
          <p:nvPr/>
        </p:nvSpPr>
        <p:spPr>
          <a:xfrm>
            <a:off x="822960" y="4617720"/>
            <a:ext cx="10515600" cy="1280160"/>
          </a:xfrm>
          <a:prstGeom prst="rect">
            <a:avLst/>
          </a:prstGeom>
          <a:noFill/>
        </p:spPr>
        <p:txBody>
          <a:bodyPr wrap="square" lIns="0" rIns="0" tIns="0" bIns="0" anchor="t">
            <a:spAutoFit/>
          </a:bodyPr>
          <a:lstStyle/>
          <a:p>
            <a:pPr algn="l">
              <a:spcAft>
                <a:spcPts val="800"/>
              </a:spcAft>
            </a:pPr>
            <a:r>
              <a:rPr sz="1900" b="0" i="0">
                <a:solidFill>
                  <a:srgbClr val="14213D"/>
                </a:solidFill>
                <a:latin typeface="Cambria"/>
              </a:rPr>
              <a:t>R₂ − 2R₁ :   [ 2   2   4 | −2 ]  −  2 · [ 1   −½   ½ | ½ ]   =   [ 0   3   3 | −3 ]</a:t>
            </a:r>
          </a:p>
          <a:p>
            <a:pPr algn="l">
              <a:spcAft>
                <a:spcPts val="800"/>
              </a:spcAft>
            </a:pPr>
            <a:r>
              <a:rPr sz="1900" b="0" i="0">
                <a:solidFill>
                  <a:srgbClr val="14213D"/>
                </a:solidFill>
                <a:latin typeface="Cambria"/>
              </a:rPr>
              <a:t>R₃ − 4R₁ :   [ 4   1   0 | 4 ]  −  4 · [ 1   −½   ½ | ½ ]   =   [ 0   3   −2 | 2 ]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GAUSSIAN ELIMINATION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Pivoting on the second and third columns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49</a:t>
            </a:r>
          </a:p>
        </p:txBody>
      </p:sp>
      <p:sp>
        <p:nvSpPr>
          <p:cNvPr id="6" name="Rectangle 5"/>
          <p:cNvSpPr/>
          <p:nvPr/>
        </p:nvSpPr>
        <p:spPr>
          <a:xfrm>
            <a:off x="85953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7" name="Rectangle 6"/>
          <p:cNvSpPr/>
          <p:nvPr/>
        </p:nvSpPr>
        <p:spPr>
          <a:xfrm>
            <a:off x="145389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8" name="Rectangle 7"/>
          <p:cNvSpPr/>
          <p:nvPr/>
        </p:nvSpPr>
        <p:spPr>
          <a:xfrm>
            <a:off x="204825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9" name="Rectangle 8"/>
          <p:cNvSpPr/>
          <p:nvPr/>
        </p:nvSpPr>
        <p:spPr>
          <a:xfrm>
            <a:off x="27889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10" name="Rectangle 9"/>
          <p:cNvSpPr/>
          <p:nvPr/>
        </p:nvSpPr>
        <p:spPr>
          <a:xfrm>
            <a:off x="85953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11" name="Rectangle 10"/>
          <p:cNvSpPr/>
          <p:nvPr/>
        </p:nvSpPr>
        <p:spPr>
          <a:xfrm>
            <a:off x="1453896" y="2212848"/>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12" name="Rectangle 11"/>
          <p:cNvSpPr/>
          <p:nvPr/>
        </p:nvSpPr>
        <p:spPr>
          <a:xfrm>
            <a:off x="204825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13" name="Rectangle 12"/>
          <p:cNvSpPr/>
          <p:nvPr/>
        </p:nvSpPr>
        <p:spPr>
          <a:xfrm>
            <a:off x="27889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14" name="Rectangle 13"/>
          <p:cNvSpPr/>
          <p:nvPr/>
        </p:nvSpPr>
        <p:spPr>
          <a:xfrm>
            <a:off x="85953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15" name="Rectangle 14"/>
          <p:cNvSpPr/>
          <p:nvPr/>
        </p:nvSpPr>
        <p:spPr>
          <a:xfrm>
            <a:off x="145389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3</a:t>
            </a:r>
          </a:p>
        </p:txBody>
      </p:sp>
      <p:sp>
        <p:nvSpPr>
          <p:cNvPr id="16" name="Rectangle 15"/>
          <p:cNvSpPr/>
          <p:nvPr/>
        </p:nvSpPr>
        <p:spPr>
          <a:xfrm>
            <a:off x="204825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sp>
        <p:nvSpPr>
          <p:cNvPr id="17" name="Rectangle 16"/>
          <p:cNvSpPr/>
          <p:nvPr/>
        </p:nvSpPr>
        <p:spPr>
          <a:xfrm>
            <a:off x="27889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2</a:t>
            </a:r>
          </a:p>
        </p:txBody>
      </p:sp>
      <p:cxnSp>
        <p:nvCxnSpPr>
          <p:cNvPr id="18" name="Connector 17"/>
          <p:cNvCxnSpPr/>
          <p:nvPr/>
        </p:nvCxnSpPr>
        <p:spPr>
          <a:xfrm>
            <a:off x="2692908"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19" name="Left Bracket 18"/>
          <p:cNvSpPr/>
          <p:nvPr/>
        </p:nvSpPr>
        <p:spPr>
          <a:xfrm>
            <a:off x="7315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Bracket 19"/>
          <p:cNvSpPr/>
          <p:nvPr/>
        </p:nvSpPr>
        <p:spPr>
          <a:xfrm>
            <a:off x="3337560"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R₂ ← ⅓ R₂</a:t>
            </a:r>
          </a:p>
        </p:txBody>
      </p:sp>
      <p:sp>
        <p:nvSpPr>
          <p:cNvPr id="22" name="Right Arrow 21"/>
          <p:cNvSpPr/>
          <p:nvPr/>
        </p:nvSpPr>
        <p:spPr>
          <a:xfrm>
            <a:off x="3749039" y="2286000"/>
            <a:ext cx="82296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7433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24" name="Rectangle 23"/>
          <p:cNvSpPr/>
          <p:nvPr/>
        </p:nvSpPr>
        <p:spPr>
          <a:xfrm>
            <a:off x="556869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25" name="Rectangle 24"/>
          <p:cNvSpPr/>
          <p:nvPr/>
        </p:nvSpPr>
        <p:spPr>
          <a:xfrm>
            <a:off x="616305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26" name="Rectangle 25"/>
          <p:cNvSpPr/>
          <p:nvPr/>
        </p:nvSpPr>
        <p:spPr>
          <a:xfrm>
            <a:off x="69037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27" name="Rectangle 26"/>
          <p:cNvSpPr/>
          <p:nvPr/>
        </p:nvSpPr>
        <p:spPr>
          <a:xfrm>
            <a:off x="497433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28" name="Rectangle 27"/>
          <p:cNvSpPr/>
          <p:nvPr/>
        </p:nvSpPr>
        <p:spPr>
          <a:xfrm>
            <a:off x="5568696" y="2212848"/>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29" name="Rectangle 28"/>
          <p:cNvSpPr/>
          <p:nvPr/>
        </p:nvSpPr>
        <p:spPr>
          <a:xfrm>
            <a:off x="616305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30" name="Rectangle 29"/>
          <p:cNvSpPr/>
          <p:nvPr/>
        </p:nvSpPr>
        <p:spPr>
          <a:xfrm>
            <a:off x="69037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31" name="Rectangle 30"/>
          <p:cNvSpPr/>
          <p:nvPr/>
        </p:nvSpPr>
        <p:spPr>
          <a:xfrm>
            <a:off x="497433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32" name="Rectangle 31"/>
          <p:cNvSpPr/>
          <p:nvPr/>
        </p:nvSpPr>
        <p:spPr>
          <a:xfrm>
            <a:off x="5568696" y="2734056"/>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33" name="Rectangle 32"/>
          <p:cNvSpPr/>
          <p:nvPr/>
        </p:nvSpPr>
        <p:spPr>
          <a:xfrm>
            <a:off x="6163056" y="2734056"/>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−5</a:t>
            </a:r>
          </a:p>
        </p:txBody>
      </p:sp>
      <p:sp>
        <p:nvSpPr>
          <p:cNvPr id="34" name="Rectangle 33"/>
          <p:cNvSpPr/>
          <p:nvPr/>
        </p:nvSpPr>
        <p:spPr>
          <a:xfrm>
            <a:off x="69037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5</a:t>
            </a:r>
          </a:p>
        </p:txBody>
      </p:sp>
      <p:cxnSp>
        <p:nvCxnSpPr>
          <p:cNvPr id="35" name="Connector 34"/>
          <p:cNvCxnSpPr/>
          <p:nvPr/>
        </p:nvCxnSpPr>
        <p:spPr>
          <a:xfrm>
            <a:off x="6807707"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36" name="Left Bracket 35"/>
          <p:cNvSpPr/>
          <p:nvPr/>
        </p:nvSpPr>
        <p:spPr>
          <a:xfrm>
            <a:off x="48463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Bracket 36"/>
          <p:cNvSpPr/>
          <p:nvPr/>
        </p:nvSpPr>
        <p:spPr>
          <a:xfrm>
            <a:off x="7452359"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976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R₃ ← R₃ − 3R₂,   then  R₃ ← −⅕ R₃</a:t>
            </a:r>
          </a:p>
        </p:txBody>
      </p:sp>
      <p:sp>
        <p:nvSpPr>
          <p:cNvPr id="39" name="Right Arrow 38"/>
          <p:cNvSpPr/>
          <p:nvPr/>
        </p:nvSpPr>
        <p:spPr>
          <a:xfrm>
            <a:off x="7863840" y="2286000"/>
            <a:ext cx="82296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89136" y="1691640"/>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1" name="Rectangle 40"/>
          <p:cNvSpPr/>
          <p:nvPr/>
        </p:nvSpPr>
        <p:spPr>
          <a:xfrm>
            <a:off x="9683496" y="1691640"/>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42" name="Rectangle 41"/>
          <p:cNvSpPr/>
          <p:nvPr/>
        </p:nvSpPr>
        <p:spPr>
          <a:xfrm>
            <a:off x="10277856" y="1691640"/>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43" name="Rectangle 42"/>
          <p:cNvSpPr/>
          <p:nvPr/>
        </p:nvSpPr>
        <p:spPr>
          <a:xfrm>
            <a:off x="11018520" y="1691640"/>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44" name="Rectangle 43"/>
          <p:cNvSpPr/>
          <p:nvPr/>
        </p:nvSpPr>
        <p:spPr>
          <a:xfrm>
            <a:off x="9089136" y="2212848"/>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5" name="Rectangle 44"/>
          <p:cNvSpPr/>
          <p:nvPr/>
        </p:nvSpPr>
        <p:spPr>
          <a:xfrm>
            <a:off x="9683496" y="2212848"/>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6" name="Rectangle 45"/>
          <p:cNvSpPr/>
          <p:nvPr/>
        </p:nvSpPr>
        <p:spPr>
          <a:xfrm>
            <a:off x="10277856" y="2212848"/>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7" name="Rectangle 46"/>
          <p:cNvSpPr/>
          <p:nvPr/>
        </p:nvSpPr>
        <p:spPr>
          <a:xfrm>
            <a:off x="11018520" y="2212848"/>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8" name="Rectangle 47"/>
          <p:cNvSpPr/>
          <p:nvPr/>
        </p:nvSpPr>
        <p:spPr>
          <a:xfrm>
            <a:off x="9089136" y="2734056"/>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9" name="Rectangle 48"/>
          <p:cNvSpPr/>
          <p:nvPr/>
        </p:nvSpPr>
        <p:spPr>
          <a:xfrm>
            <a:off x="9683496" y="2734056"/>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50" name="Rectangle 49"/>
          <p:cNvSpPr/>
          <p:nvPr/>
        </p:nvSpPr>
        <p:spPr>
          <a:xfrm>
            <a:off x="10277856" y="2734056"/>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51" name="Rectangle 50"/>
          <p:cNvSpPr/>
          <p:nvPr/>
        </p:nvSpPr>
        <p:spPr>
          <a:xfrm>
            <a:off x="11018520" y="2734056"/>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cxnSp>
        <p:nvCxnSpPr>
          <p:cNvPr id="52" name="Connector 51"/>
          <p:cNvCxnSpPr/>
          <p:nvPr/>
        </p:nvCxnSpPr>
        <p:spPr>
          <a:xfrm>
            <a:off x="10922508"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53" name="Left Bracket 52"/>
          <p:cNvSpPr/>
          <p:nvPr/>
        </p:nvSpPr>
        <p:spPr>
          <a:xfrm>
            <a:off x="89611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Bracket 53"/>
          <p:cNvSpPr/>
          <p:nvPr/>
        </p:nvSpPr>
        <p:spPr>
          <a:xfrm>
            <a:off x="11567160"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24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Row echelon form</a:t>
            </a:r>
          </a:p>
        </p:txBody>
      </p:sp>
      <p:sp>
        <p:nvSpPr>
          <p:cNvPr id="56" name="Rounded Rectangle 55"/>
          <p:cNvSpPr/>
          <p:nvPr/>
        </p:nvSpPr>
        <p:spPr>
          <a:xfrm>
            <a:off x="548640" y="4160520"/>
            <a:ext cx="11064240" cy="1828800"/>
          </a:xfrm>
          <a:prstGeom prst="roundRect">
            <a:avLst>
              <a:gd name="adj" fmla="val 5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4297680"/>
            <a:ext cx="5029200" cy="274320"/>
          </a:xfrm>
          <a:prstGeom prst="rect">
            <a:avLst/>
          </a:prstGeom>
          <a:noFill/>
        </p:spPr>
        <p:txBody>
          <a:bodyPr wrap="square" lIns="0" rIns="0" tIns="0" bIns="0" anchor="t">
            <a:spAutoFit/>
          </a:bodyPr>
          <a:lstStyle/>
          <a:p>
            <a:pPr algn="l"/>
            <a:r>
              <a:rPr sz="1200" b="1" i="0">
                <a:solidFill>
                  <a:srgbClr val="1F6F8B"/>
                </a:solidFill>
                <a:latin typeface="Calibri"/>
              </a:rPr>
              <a:t>THE ROW ARITHMETIC</a:t>
            </a:r>
          </a:p>
        </p:txBody>
      </p:sp>
      <p:sp>
        <p:nvSpPr>
          <p:cNvPr id="58" name="TextBox 57"/>
          <p:cNvSpPr txBox="1"/>
          <p:nvPr/>
        </p:nvSpPr>
        <p:spPr>
          <a:xfrm>
            <a:off x="822960" y="4617720"/>
            <a:ext cx="5943600" cy="1280160"/>
          </a:xfrm>
          <a:prstGeom prst="rect">
            <a:avLst/>
          </a:prstGeom>
          <a:noFill/>
        </p:spPr>
        <p:txBody>
          <a:bodyPr wrap="square" lIns="0" rIns="0" tIns="0" bIns="0" anchor="t">
            <a:spAutoFit/>
          </a:bodyPr>
          <a:lstStyle/>
          <a:p>
            <a:pPr algn="l">
              <a:spcAft>
                <a:spcPts val="800"/>
              </a:spcAft>
            </a:pPr>
            <a:r>
              <a:rPr sz="1700" b="0" i="0">
                <a:solidFill>
                  <a:srgbClr val="14213D"/>
                </a:solidFill>
                <a:latin typeface="Cambria"/>
              </a:rPr>
              <a:t>R₃ − 3R₂ :  [ 0  3  −2 | 2 ] − 3 · [ 0  1  1 | −1 ]  =  [ 0  0  −5 | 5 ]</a:t>
            </a:r>
          </a:p>
          <a:p>
            <a:pPr algn="l">
              <a:spcAft>
                <a:spcPts val="800"/>
              </a:spcAft>
            </a:pPr>
            <a:r>
              <a:rPr sz="1700" b="0" i="0">
                <a:solidFill>
                  <a:srgbClr val="14213D"/>
                </a:solidFill>
                <a:latin typeface="Cambria"/>
              </a:rPr>
              <a:t>−⅕ R₃ :  [ 0  0  −5 | 5 ] ÷ (−5)  =  [ 0  0  1 | −1 ]</a:t>
            </a:r>
          </a:p>
        </p:txBody>
      </p:sp>
      <p:sp>
        <p:nvSpPr>
          <p:cNvPr id="59" name="TextBox 58"/>
          <p:cNvSpPr txBox="1"/>
          <p:nvPr/>
        </p:nvSpPr>
        <p:spPr>
          <a:xfrm>
            <a:off x="7223760" y="4297680"/>
            <a:ext cx="4114800" cy="274320"/>
          </a:xfrm>
          <a:prstGeom prst="rect">
            <a:avLst/>
          </a:prstGeom>
          <a:noFill/>
        </p:spPr>
        <p:txBody>
          <a:bodyPr wrap="square" lIns="0" rIns="0" tIns="0" bIns="0" anchor="t">
            <a:spAutoFit/>
          </a:bodyPr>
          <a:lstStyle/>
          <a:p>
            <a:pPr algn="l"/>
            <a:r>
              <a:rPr sz="1200" b="1" i="0">
                <a:solidFill>
                  <a:srgbClr val="1F6F8B"/>
                </a:solidFill>
                <a:latin typeface="Calibri"/>
              </a:rPr>
              <a:t>AS EQUATIONS</a:t>
            </a:r>
          </a:p>
        </p:txBody>
      </p:sp>
      <p:sp>
        <p:nvSpPr>
          <p:cNvPr id="60" name="TextBox 59"/>
          <p:cNvSpPr txBox="1"/>
          <p:nvPr/>
        </p:nvSpPr>
        <p:spPr>
          <a:xfrm>
            <a:off x="7223760" y="4572000"/>
            <a:ext cx="4114800" cy="411480"/>
          </a:xfrm>
          <a:prstGeom prst="rect">
            <a:avLst/>
          </a:prstGeom>
          <a:noFill/>
        </p:spPr>
        <p:txBody>
          <a:bodyPr wrap="square" lIns="0" rIns="0" tIns="0" bIns="0" anchor="ctr">
            <a:spAutoFit/>
          </a:bodyPr>
          <a:lstStyle/>
          <a:p>
            <a:pPr algn="l"/>
            <a:r>
              <a:rPr sz="1900" b="0" i="0">
                <a:solidFill>
                  <a:srgbClr val="14213D"/>
                </a:solidFill>
                <a:latin typeface="Cambria"/>
              </a:rPr>
              <a:t>a − ½ b + ½ c = ½</a:t>
            </a:r>
          </a:p>
        </p:txBody>
      </p:sp>
      <p:sp>
        <p:nvSpPr>
          <p:cNvPr id="61" name="TextBox 60"/>
          <p:cNvSpPr txBox="1"/>
          <p:nvPr/>
        </p:nvSpPr>
        <p:spPr>
          <a:xfrm>
            <a:off x="7223760" y="4983480"/>
            <a:ext cx="4114800" cy="411480"/>
          </a:xfrm>
          <a:prstGeom prst="rect">
            <a:avLst/>
          </a:prstGeom>
          <a:noFill/>
        </p:spPr>
        <p:txBody>
          <a:bodyPr wrap="square" lIns="0" rIns="0" tIns="0" bIns="0" anchor="ctr">
            <a:spAutoFit/>
          </a:bodyPr>
          <a:lstStyle/>
          <a:p>
            <a:pPr algn="l"/>
            <a:r>
              <a:rPr sz="1900" b="0" i="0">
                <a:solidFill>
                  <a:srgbClr val="14213D"/>
                </a:solidFill>
                <a:latin typeface="Cambria"/>
              </a:rPr>
              <a:t>b + c = −1</a:t>
            </a:r>
          </a:p>
        </p:txBody>
      </p:sp>
      <p:sp>
        <p:nvSpPr>
          <p:cNvPr id="62" name="TextBox 61"/>
          <p:cNvSpPr txBox="1"/>
          <p:nvPr/>
        </p:nvSpPr>
        <p:spPr>
          <a:xfrm>
            <a:off x="7223760" y="5394960"/>
            <a:ext cx="4114800" cy="411480"/>
          </a:xfrm>
          <a:prstGeom prst="rect">
            <a:avLst/>
          </a:prstGeom>
          <a:noFill/>
        </p:spPr>
        <p:txBody>
          <a:bodyPr wrap="square" lIns="0" rIns="0" tIns="0" bIns="0" anchor="ctr">
            <a:spAutoFit/>
          </a:bodyPr>
          <a:lstStyle/>
          <a:p>
            <a:pPr algn="l"/>
            <a:r>
              <a:rPr sz="1900" b="0" i="0">
                <a:solidFill>
                  <a:srgbClr val="14213D"/>
                </a:solidFill>
                <a:latin typeface="Cambria"/>
              </a:rPr>
              <a:t>c = −1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GAUSSIAN ELIMINATION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Back substitution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50</a:t>
            </a:r>
          </a:p>
        </p:txBody>
      </p:sp>
      <p:sp>
        <p:nvSpPr>
          <p:cNvPr id="6" name="Rectangle 5"/>
          <p:cNvSpPr/>
          <p:nvPr/>
        </p:nvSpPr>
        <p:spPr>
          <a:xfrm>
            <a:off x="859536" y="1691640"/>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7" name="Rectangle 6"/>
          <p:cNvSpPr/>
          <p:nvPr/>
        </p:nvSpPr>
        <p:spPr>
          <a:xfrm>
            <a:off x="145389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8" name="Rectangle 7"/>
          <p:cNvSpPr/>
          <p:nvPr/>
        </p:nvSpPr>
        <p:spPr>
          <a:xfrm>
            <a:off x="204825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9" name="Rectangle 8"/>
          <p:cNvSpPr/>
          <p:nvPr/>
        </p:nvSpPr>
        <p:spPr>
          <a:xfrm>
            <a:off x="27889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10" name="Rectangle 9"/>
          <p:cNvSpPr/>
          <p:nvPr/>
        </p:nvSpPr>
        <p:spPr>
          <a:xfrm>
            <a:off x="85953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11" name="Rectangle 10"/>
          <p:cNvSpPr/>
          <p:nvPr/>
        </p:nvSpPr>
        <p:spPr>
          <a:xfrm>
            <a:off x="1453896" y="2212848"/>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12" name="Rectangle 11"/>
          <p:cNvSpPr/>
          <p:nvPr/>
        </p:nvSpPr>
        <p:spPr>
          <a:xfrm>
            <a:off x="204825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13" name="Rectangle 12"/>
          <p:cNvSpPr/>
          <p:nvPr/>
        </p:nvSpPr>
        <p:spPr>
          <a:xfrm>
            <a:off x="27889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14" name="Rectangle 13"/>
          <p:cNvSpPr/>
          <p:nvPr/>
        </p:nvSpPr>
        <p:spPr>
          <a:xfrm>
            <a:off x="85953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15" name="Rectangle 14"/>
          <p:cNvSpPr/>
          <p:nvPr/>
        </p:nvSpPr>
        <p:spPr>
          <a:xfrm>
            <a:off x="145389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16" name="Rectangle 15"/>
          <p:cNvSpPr/>
          <p:nvPr/>
        </p:nvSpPr>
        <p:spPr>
          <a:xfrm>
            <a:off x="2048256" y="2734056"/>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17" name="Rectangle 16"/>
          <p:cNvSpPr/>
          <p:nvPr/>
        </p:nvSpPr>
        <p:spPr>
          <a:xfrm>
            <a:off x="27889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cxnSp>
        <p:nvCxnSpPr>
          <p:cNvPr id="18" name="Connector 17"/>
          <p:cNvCxnSpPr/>
          <p:nvPr/>
        </p:nvCxnSpPr>
        <p:spPr>
          <a:xfrm>
            <a:off x="2692908"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19" name="Left Bracket 18"/>
          <p:cNvSpPr/>
          <p:nvPr/>
        </p:nvSpPr>
        <p:spPr>
          <a:xfrm>
            <a:off x="7315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Bracket 19"/>
          <p:cNvSpPr/>
          <p:nvPr/>
        </p:nvSpPr>
        <p:spPr>
          <a:xfrm>
            <a:off x="3337560"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Row echelon form</a:t>
            </a:r>
          </a:p>
        </p:txBody>
      </p:sp>
      <p:sp>
        <p:nvSpPr>
          <p:cNvPr id="22" name="Right Arrow 21"/>
          <p:cNvSpPr/>
          <p:nvPr/>
        </p:nvSpPr>
        <p:spPr>
          <a:xfrm>
            <a:off x="3749039" y="2286000"/>
            <a:ext cx="82296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74336" y="1691640"/>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24" name="Rectangle 23"/>
          <p:cNvSpPr/>
          <p:nvPr/>
        </p:nvSpPr>
        <p:spPr>
          <a:xfrm>
            <a:off x="556869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−½</a:t>
            </a:r>
          </a:p>
        </p:txBody>
      </p:sp>
      <p:sp>
        <p:nvSpPr>
          <p:cNvPr id="25" name="Rectangle 24"/>
          <p:cNvSpPr/>
          <p:nvPr/>
        </p:nvSpPr>
        <p:spPr>
          <a:xfrm>
            <a:off x="6163056" y="1691640"/>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26" name="Rectangle 25"/>
          <p:cNvSpPr/>
          <p:nvPr/>
        </p:nvSpPr>
        <p:spPr>
          <a:xfrm>
            <a:off x="69037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27" name="Rectangle 26"/>
          <p:cNvSpPr/>
          <p:nvPr/>
        </p:nvSpPr>
        <p:spPr>
          <a:xfrm>
            <a:off x="497433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28" name="Rectangle 27"/>
          <p:cNvSpPr/>
          <p:nvPr/>
        </p:nvSpPr>
        <p:spPr>
          <a:xfrm>
            <a:off x="5568696" y="2212848"/>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29" name="Rectangle 28"/>
          <p:cNvSpPr/>
          <p:nvPr/>
        </p:nvSpPr>
        <p:spPr>
          <a:xfrm>
            <a:off x="6163056" y="2212848"/>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30" name="Rectangle 29"/>
          <p:cNvSpPr/>
          <p:nvPr/>
        </p:nvSpPr>
        <p:spPr>
          <a:xfrm>
            <a:off x="69037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31" name="Rectangle 30"/>
          <p:cNvSpPr/>
          <p:nvPr/>
        </p:nvSpPr>
        <p:spPr>
          <a:xfrm>
            <a:off x="497433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32" name="Rectangle 31"/>
          <p:cNvSpPr/>
          <p:nvPr/>
        </p:nvSpPr>
        <p:spPr>
          <a:xfrm>
            <a:off x="556869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33" name="Rectangle 32"/>
          <p:cNvSpPr/>
          <p:nvPr/>
        </p:nvSpPr>
        <p:spPr>
          <a:xfrm>
            <a:off x="6163056" y="2734056"/>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34" name="Rectangle 33"/>
          <p:cNvSpPr/>
          <p:nvPr/>
        </p:nvSpPr>
        <p:spPr>
          <a:xfrm>
            <a:off x="69037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cxnSp>
        <p:nvCxnSpPr>
          <p:cNvPr id="35" name="Connector 34"/>
          <p:cNvCxnSpPr/>
          <p:nvPr/>
        </p:nvCxnSpPr>
        <p:spPr>
          <a:xfrm>
            <a:off x="6807707"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36" name="Left Bracket 35"/>
          <p:cNvSpPr/>
          <p:nvPr/>
        </p:nvSpPr>
        <p:spPr>
          <a:xfrm>
            <a:off x="48463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Bracket 36"/>
          <p:cNvSpPr/>
          <p:nvPr/>
        </p:nvSpPr>
        <p:spPr>
          <a:xfrm>
            <a:off x="7452359"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976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R₂ ← R₂ − R₃,   R₁ ← R₁ − ½ R₃</a:t>
            </a:r>
          </a:p>
        </p:txBody>
      </p:sp>
      <p:sp>
        <p:nvSpPr>
          <p:cNvPr id="39" name="Right Arrow 38"/>
          <p:cNvSpPr/>
          <p:nvPr/>
        </p:nvSpPr>
        <p:spPr>
          <a:xfrm>
            <a:off x="7863840" y="2286000"/>
            <a:ext cx="82296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89136" y="1691640"/>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1" name="Rectangle 40"/>
          <p:cNvSpPr/>
          <p:nvPr/>
        </p:nvSpPr>
        <p:spPr>
          <a:xfrm>
            <a:off x="9683496" y="1691640"/>
            <a:ext cx="548640" cy="475488"/>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2" name="Rectangle 41"/>
          <p:cNvSpPr/>
          <p:nvPr/>
        </p:nvSpPr>
        <p:spPr>
          <a:xfrm>
            <a:off x="10277856"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3" name="Rectangle 42"/>
          <p:cNvSpPr/>
          <p:nvPr/>
        </p:nvSpPr>
        <p:spPr>
          <a:xfrm>
            <a:off x="11018520" y="1691640"/>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4" name="Rectangle 43"/>
          <p:cNvSpPr/>
          <p:nvPr/>
        </p:nvSpPr>
        <p:spPr>
          <a:xfrm>
            <a:off x="908913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5" name="Rectangle 44"/>
          <p:cNvSpPr/>
          <p:nvPr/>
        </p:nvSpPr>
        <p:spPr>
          <a:xfrm>
            <a:off x="9683496" y="2212848"/>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46" name="Rectangle 45"/>
          <p:cNvSpPr/>
          <p:nvPr/>
        </p:nvSpPr>
        <p:spPr>
          <a:xfrm>
            <a:off x="10277856"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7" name="Rectangle 46"/>
          <p:cNvSpPr/>
          <p:nvPr/>
        </p:nvSpPr>
        <p:spPr>
          <a:xfrm>
            <a:off x="11018520" y="2212848"/>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8" name="Rectangle 47"/>
          <p:cNvSpPr/>
          <p:nvPr/>
        </p:nvSpPr>
        <p:spPr>
          <a:xfrm>
            <a:off x="908913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49" name="Rectangle 48"/>
          <p:cNvSpPr/>
          <p:nvPr/>
        </p:nvSpPr>
        <p:spPr>
          <a:xfrm>
            <a:off x="9683496"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0</a:t>
            </a:r>
          </a:p>
        </p:txBody>
      </p:sp>
      <p:sp>
        <p:nvSpPr>
          <p:cNvPr id="50" name="Rectangle 49"/>
          <p:cNvSpPr/>
          <p:nvPr/>
        </p:nvSpPr>
        <p:spPr>
          <a:xfrm>
            <a:off x="10277856" y="2734056"/>
            <a:ext cx="548640" cy="475488"/>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sp>
        <p:nvSpPr>
          <p:cNvPr id="51" name="Rectangle 50"/>
          <p:cNvSpPr/>
          <p:nvPr/>
        </p:nvSpPr>
        <p:spPr>
          <a:xfrm>
            <a:off x="11018520" y="2734056"/>
            <a:ext cx="548640" cy="47548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a:solidFill>
                  <a:srgbClr val="14213D"/>
                </a:solidFill>
                <a:latin typeface="Calibri"/>
              </a:rPr>
              <a:t>−1</a:t>
            </a:r>
          </a:p>
        </p:txBody>
      </p:sp>
      <p:cxnSp>
        <p:nvCxnSpPr>
          <p:cNvPr id="52" name="Connector 51"/>
          <p:cNvCxnSpPr/>
          <p:nvPr/>
        </p:nvCxnSpPr>
        <p:spPr>
          <a:xfrm>
            <a:off x="10922508" y="1655064"/>
            <a:ext cx="0" cy="1591056"/>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53" name="Left Bracket 52"/>
          <p:cNvSpPr/>
          <p:nvPr/>
        </p:nvSpPr>
        <p:spPr>
          <a:xfrm>
            <a:off x="8961120" y="1655064"/>
            <a:ext cx="128016" cy="1591056"/>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Bracket 53"/>
          <p:cNvSpPr/>
          <p:nvPr/>
        </p:nvSpPr>
        <p:spPr>
          <a:xfrm>
            <a:off x="11567160" y="1655064"/>
            <a:ext cx="128016" cy="1591056"/>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2480" y="3319272"/>
            <a:ext cx="3831335" cy="548640"/>
          </a:xfrm>
          <a:prstGeom prst="rect">
            <a:avLst/>
          </a:prstGeom>
          <a:noFill/>
        </p:spPr>
        <p:txBody>
          <a:bodyPr wrap="square" lIns="0" rIns="0" tIns="0" bIns="0" anchor="t">
            <a:spAutoFit/>
          </a:bodyPr>
          <a:lstStyle/>
          <a:p>
            <a:pPr algn="ctr"/>
            <a:r>
              <a:rPr sz="1400" b="0" i="0">
                <a:solidFill>
                  <a:srgbClr val="14213D"/>
                </a:solidFill>
                <a:latin typeface="Calibri"/>
              </a:rPr>
              <a:t>R₁ ← R₁ + ½ R₂</a:t>
            </a:r>
          </a:p>
        </p:txBody>
      </p:sp>
      <p:sp>
        <p:nvSpPr>
          <p:cNvPr id="56" name="Rounded Rectangle 55"/>
          <p:cNvSpPr/>
          <p:nvPr/>
        </p:nvSpPr>
        <p:spPr>
          <a:xfrm>
            <a:off x="548640" y="4160520"/>
            <a:ext cx="5760720" cy="1828800"/>
          </a:xfrm>
          <a:prstGeom prst="roundRect">
            <a:avLst>
              <a:gd name="adj" fmla="val 5000"/>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4297680"/>
            <a:ext cx="5303520" cy="274320"/>
          </a:xfrm>
          <a:prstGeom prst="rect">
            <a:avLst/>
          </a:prstGeom>
          <a:noFill/>
        </p:spPr>
        <p:txBody>
          <a:bodyPr wrap="square" lIns="0" rIns="0" tIns="0" bIns="0" anchor="t">
            <a:spAutoFit/>
          </a:bodyPr>
          <a:lstStyle/>
          <a:p>
            <a:pPr algn="l"/>
            <a:r>
              <a:rPr sz="1200" b="1" i="0">
                <a:solidFill>
                  <a:srgbClr val="1F6F8B"/>
                </a:solidFill>
                <a:latin typeface="Calibri"/>
              </a:rPr>
              <a:t>THE RESULT</a:t>
            </a:r>
          </a:p>
        </p:txBody>
      </p:sp>
      <p:sp>
        <p:nvSpPr>
          <p:cNvPr id="58" name="TextBox 57"/>
          <p:cNvSpPr txBox="1"/>
          <p:nvPr/>
        </p:nvSpPr>
        <p:spPr>
          <a:xfrm>
            <a:off x="822960" y="4617720"/>
            <a:ext cx="5303520" cy="548640"/>
          </a:xfrm>
          <a:prstGeom prst="rect">
            <a:avLst/>
          </a:prstGeom>
          <a:noFill/>
        </p:spPr>
        <p:txBody>
          <a:bodyPr wrap="square" lIns="0" rIns="0" tIns="0" bIns="0" anchor="t">
            <a:spAutoFit/>
          </a:bodyPr>
          <a:lstStyle/>
          <a:p>
            <a:pPr algn="l"/>
            <a:r>
              <a:rPr sz="2800" b="1" i="0">
                <a:solidFill>
                  <a:srgbClr val="14213D"/>
                </a:solidFill>
                <a:latin typeface="Cambria"/>
              </a:rPr>
              <a:t>a = 1,   b = 0,   c = −1</a:t>
            </a:r>
          </a:p>
        </p:txBody>
      </p:sp>
      <p:sp>
        <p:nvSpPr>
          <p:cNvPr id="59" name="TextBox 58"/>
          <p:cNvSpPr txBox="1"/>
          <p:nvPr/>
        </p:nvSpPr>
        <p:spPr>
          <a:xfrm>
            <a:off x="822960" y="5257800"/>
            <a:ext cx="5303520" cy="548640"/>
          </a:xfrm>
          <a:prstGeom prst="rect">
            <a:avLst/>
          </a:prstGeom>
          <a:noFill/>
        </p:spPr>
        <p:txBody>
          <a:bodyPr wrap="square" lIns="0" rIns="0" tIns="0" bIns="0" anchor="t">
            <a:spAutoFit/>
          </a:bodyPr>
          <a:lstStyle/>
          <a:p>
            <a:pPr algn="l"/>
            <a:r>
              <a:rPr sz="1400" b="0" i="0">
                <a:solidFill>
                  <a:srgbClr val="5B6675"/>
                </a:solidFill>
                <a:latin typeface="Calibri"/>
              </a:rPr>
              <a:t>The coefficient part is the identity matrix; the constants column is the solution.</a:t>
            </a:r>
          </a:p>
        </p:txBody>
      </p:sp>
      <p:sp>
        <p:nvSpPr>
          <p:cNvPr id="60" name="TextBox 59"/>
          <p:cNvSpPr txBox="1"/>
          <p:nvPr/>
        </p:nvSpPr>
        <p:spPr>
          <a:xfrm>
            <a:off x="6675120" y="4251960"/>
            <a:ext cx="5029200" cy="274320"/>
          </a:xfrm>
          <a:prstGeom prst="rect">
            <a:avLst/>
          </a:prstGeom>
          <a:noFill/>
        </p:spPr>
        <p:txBody>
          <a:bodyPr wrap="square" lIns="0" rIns="0" tIns="0" bIns="0" anchor="t">
            <a:spAutoFit/>
          </a:bodyPr>
          <a:lstStyle/>
          <a:p>
            <a:pPr algn="l"/>
            <a:r>
              <a:rPr sz="1100" b="1" i="0">
                <a:solidFill>
                  <a:srgbClr val="1F6F8B"/>
                </a:solidFill>
                <a:latin typeface="Calibri"/>
              </a:rPr>
              <a:t>CHECK</a:t>
            </a:r>
          </a:p>
        </p:txBody>
      </p:sp>
      <p:sp>
        <p:nvSpPr>
          <p:cNvPr id="61" name="TextBox 60"/>
          <p:cNvSpPr txBox="1"/>
          <p:nvPr/>
        </p:nvSpPr>
        <p:spPr>
          <a:xfrm>
            <a:off x="6675120" y="4526280"/>
            <a:ext cx="5029200" cy="1097280"/>
          </a:xfrm>
          <a:prstGeom prst="rect">
            <a:avLst/>
          </a:prstGeom>
          <a:noFill/>
        </p:spPr>
        <p:txBody>
          <a:bodyPr wrap="square" lIns="0" rIns="0" tIns="0" bIns="0" anchor="t">
            <a:spAutoFit/>
          </a:bodyPr>
          <a:lstStyle/>
          <a:p>
            <a:pPr algn="l">
              <a:spcAft>
                <a:spcPts val="300"/>
              </a:spcAft>
            </a:pPr>
            <a:r>
              <a:rPr sz="1600" b="0" i="0">
                <a:solidFill>
                  <a:srgbClr val="5B6675"/>
                </a:solidFill>
                <a:latin typeface="Cambria"/>
              </a:rPr>
              <a:t>2(1) − 0 + (−1) = 1  ✓</a:t>
            </a:r>
          </a:p>
          <a:p>
            <a:pPr algn="l">
              <a:spcAft>
                <a:spcPts val="300"/>
              </a:spcAft>
            </a:pPr>
            <a:r>
              <a:rPr sz="1600" b="0" i="0">
                <a:solidFill>
                  <a:srgbClr val="5B6675"/>
                </a:solidFill>
                <a:latin typeface="Cambria"/>
              </a:rPr>
              <a:t>2(1) + 2(0) + 4(−1) = −2  ✓</a:t>
            </a:r>
          </a:p>
          <a:p>
            <a:pPr algn="l">
              <a:spcAft>
                <a:spcPts val="300"/>
              </a:spcAft>
            </a:pPr>
            <a:r>
              <a:rPr sz="1600" b="0" i="0">
                <a:solidFill>
                  <a:srgbClr val="5B6675"/>
                </a:solidFill>
                <a:latin typeface="Cambria"/>
              </a:rPr>
              <a:t>4(1) + 0 = 4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GAUSSIAN ELIMINATION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What if the system is singular?</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51</a:t>
            </a:r>
          </a:p>
        </p:txBody>
      </p:sp>
      <p:sp>
        <p:nvSpPr>
          <p:cNvPr id="6" name="TextBox 5"/>
          <p:cNvSpPr txBox="1"/>
          <p:nvPr/>
        </p:nvSpPr>
        <p:spPr>
          <a:xfrm>
            <a:off x="548640" y="1417320"/>
            <a:ext cx="10972800" cy="365760"/>
          </a:xfrm>
          <a:prstGeom prst="rect">
            <a:avLst/>
          </a:prstGeom>
          <a:noFill/>
        </p:spPr>
        <p:txBody>
          <a:bodyPr wrap="square" lIns="0" rIns="0" tIns="0" bIns="0" anchor="t">
            <a:spAutoFit/>
          </a:bodyPr>
          <a:lstStyle/>
          <a:p>
            <a:pPr algn="l"/>
            <a:r>
              <a:rPr sz="1700" b="0" i="0">
                <a:solidFill>
                  <a:srgbClr val="5B6675"/>
                </a:solidFill>
                <a:latin typeface="Calibri"/>
              </a:rPr>
              <a:t>Look at the row of zeros, then at its constant.</a:t>
            </a:r>
          </a:p>
        </p:txBody>
      </p:sp>
      <p:sp>
        <p:nvSpPr>
          <p:cNvPr id="7" name="Rectangle 6"/>
          <p:cNvSpPr/>
          <p:nvPr/>
        </p:nvSpPr>
        <p:spPr>
          <a:xfrm>
            <a:off x="859536"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8" name="Rectangle 7"/>
          <p:cNvSpPr/>
          <p:nvPr/>
        </p:nvSpPr>
        <p:spPr>
          <a:xfrm>
            <a:off x="1417320"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9" name="Rectangle 8"/>
          <p:cNvSpPr/>
          <p:nvPr/>
        </p:nvSpPr>
        <p:spPr>
          <a:xfrm>
            <a:off x="1975104"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0" name="Rectangle 9"/>
          <p:cNvSpPr/>
          <p:nvPr/>
        </p:nvSpPr>
        <p:spPr>
          <a:xfrm>
            <a:off x="2679192"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11" name="Rectangle 10"/>
          <p:cNvSpPr/>
          <p:nvPr/>
        </p:nvSpPr>
        <p:spPr>
          <a:xfrm>
            <a:off x="859536"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12" name="Rectangle 11"/>
          <p:cNvSpPr/>
          <p:nvPr/>
        </p:nvSpPr>
        <p:spPr>
          <a:xfrm>
            <a:off x="1417320"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13" name="Rectangle 12"/>
          <p:cNvSpPr/>
          <p:nvPr/>
        </p:nvSpPr>
        <p:spPr>
          <a:xfrm>
            <a:off x="1975104"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14" name="Rectangle 13"/>
          <p:cNvSpPr/>
          <p:nvPr/>
        </p:nvSpPr>
        <p:spPr>
          <a:xfrm>
            <a:off x="2679192"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15" name="Rectangle 14"/>
          <p:cNvSpPr/>
          <p:nvPr/>
        </p:nvSpPr>
        <p:spPr>
          <a:xfrm>
            <a:off x="859536" y="2889504"/>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3</a:t>
            </a:r>
          </a:p>
        </p:txBody>
      </p:sp>
      <p:sp>
        <p:nvSpPr>
          <p:cNvPr id="16" name="Rectangle 15"/>
          <p:cNvSpPr/>
          <p:nvPr/>
        </p:nvSpPr>
        <p:spPr>
          <a:xfrm>
            <a:off x="1417320" y="2889504"/>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6</a:t>
            </a:r>
          </a:p>
        </p:txBody>
      </p:sp>
      <p:sp>
        <p:nvSpPr>
          <p:cNvPr id="17" name="Rectangle 16"/>
          <p:cNvSpPr/>
          <p:nvPr/>
        </p:nvSpPr>
        <p:spPr>
          <a:xfrm>
            <a:off x="1975104" y="2889504"/>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18" name="Rectangle 17"/>
          <p:cNvSpPr/>
          <p:nvPr/>
        </p:nvSpPr>
        <p:spPr>
          <a:xfrm>
            <a:off x="2679192" y="2889504"/>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6</a:t>
            </a:r>
          </a:p>
        </p:txBody>
      </p:sp>
      <p:cxnSp>
        <p:nvCxnSpPr>
          <p:cNvPr id="19" name="Connector 18"/>
          <p:cNvCxnSpPr/>
          <p:nvPr/>
        </p:nvCxnSpPr>
        <p:spPr>
          <a:xfrm>
            <a:off x="2583180" y="1883664"/>
            <a:ext cx="0" cy="1481328"/>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20" name="Left Bracket 19"/>
          <p:cNvSpPr/>
          <p:nvPr/>
        </p:nvSpPr>
        <p:spPr>
          <a:xfrm>
            <a:off x="731520" y="1883664"/>
            <a:ext cx="128016" cy="148132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Bracket 20"/>
          <p:cNvSpPr/>
          <p:nvPr/>
        </p:nvSpPr>
        <p:spPr>
          <a:xfrm>
            <a:off x="3191256" y="1883664"/>
            <a:ext cx="128016" cy="148132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3749039" y="2468880"/>
            <a:ext cx="118872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8999" y="2834640"/>
            <a:ext cx="1828800" cy="731520"/>
          </a:xfrm>
          <a:prstGeom prst="rect">
            <a:avLst/>
          </a:prstGeom>
          <a:noFill/>
        </p:spPr>
        <p:txBody>
          <a:bodyPr wrap="square" lIns="0" rIns="0" tIns="0" bIns="0" anchor="t">
            <a:spAutoFit/>
          </a:bodyPr>
          <a:lstStyle/>
          <a:p>
            <a:pPr algn="ctr"/>
            <a:r>
              <a:rPr sz="1200" b="0" i="0">
                <a:solidFill>
                  <a:srgbClr val="5B6675"/>
                </a:solidFill>
                <a:latin typeface="Calibri"/>
              </a:rPr>
              <a:t>after row reduction</a:t>
            </a:r>
          </a:p>
        </p:txBody>
      </p:sp>
      <p:sp>
        <p:nvSpPr>
          <p:cNvPr id="24" name="Rectangle 23"/>
          <p:cNvSpPr/>
          <p:nvPr/>
        </p:nvSpPr>
        <p:spPr>
          <a:xfrm>
            <a:off x="5431536"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5" name="Rectangle 24"/>
          <p:cNvSpPr/>
          <p:nvPr/>
        </p:nvSpPr>
        <p:spPr>
          <a:xfrm>
            <a:off x="5989320"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26" name="Rectangle 25"/>
          <p:cNvSpPr/>
          <p:nvPr/>
        </p:nvSpPr>
        <p:spPr>
          <a:xfrm>
            <a:off x="6547104"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27" name="Rectangle 26"/>
          <p:cNvSpPr/>
          <p:nvPr/>
        </p:nvSpPr>
        <p:spPr>
          <a:xfrm>
            <a:off x="7251192" y="192024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28" name="Rectangle 27"/>
          <p:cNvSpPr/>
          <p:nvPr/>
        </p:nvSpPr>
        <p:spPr>
          <a:xfrm>
            <a:off x="5431536"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29" name="Rectangle 28"/>
          <p:cNvSpPr/>
          <p:nvPr/>
        </p:nvSpPr>
        <p:spPr>
          <a:xfrm>
            <a:off x="5989320"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0" name="Rectangle 29"/>
          <p:cNvSpPr/>
          <p:nvPr/>
        </p:nvSpPr>
        <p:spPr>
          <a:xfrm>
            <a:off x="6547104"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7</a:t>
            </a:r>
          </a:p>
        </p:txBody>
      </p:sp>
      <p:sp>
        <p:nvSpPr>
          <p:cNvPr id="31" name="Rectangle 30"/>
          <p:cNvSpPr/>
          <p:nvPr/>
        </p:nvSpPr>
        <p:spPr>
          <a:xfrm>
            <a:off x="7251192" y="240487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−9</a:t>
            </a:r>
          </a:p>
        </p:txBody>
      </p:sp>
      <p:sp>
        <p:nvSpPr>
          <p:cNvPr id="32" name="Rectangle 31"/>
          <p:cNvSpPr/>
          <p:nvPr/>
        </p:nvSpPr>
        <p:spPr>
          <a:xfrm>
            <a:off x="5431536" y="2889504"/>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3" name="Rectangle 32"/>
          <p:cNvSpPr/>
          <p:nvPr/>
        </p:nvSpPr>
        <p:spPr>
          <a:xfrm>
            <a:off x="5989320" y="2889504"/>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4" name="Rectangle 33"/>
          <p:cNvSpPr/>
          <p:nvPr/>
        </p:nvSpPr>
        <p:spPr>
          <a:xfrm>
            <a:off x="6547104" y="2889504"/>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35" name="Rectangle 34"/>
          <p:cNvSpPr/>
          <p:nvPr/>
        </p:nvSpPr>
        <p:spPr>
          <a:xfrm>
            <a:off x="7251192" y="2889504"/>
            <a:ext cx="512064" cy="438912"/>
          </a:xfrm>
          <a:prstGeom prst="rect">
            <a:avLst/>
          </a:prstGeom>
          <a:solidFill>
            <a:srgbClr val="CFE8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cxnSp>
        <p:nvCxnSpPr>
          <p:cNvPr id="36" name="Connector 35"/>
          <p:cNvCxnSpPr/>
          <p:nvPr/>
        </p:nvCxnSpPr>
        <p:spPr>
          <a:xfrm>
            <a:off x="7155179" y="1883664"/>
            <a:ext cx="0" cy="1481328"/>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37" name="Left Bracket 36"/>
          <p:cNvSpPr/>
          <p:nvPr/>
        </p:nvSpPr>
        <p:spPr>
          <a:xfrm>
            <a:off x="5303520" y="1883664"/>
            <a:ext cx="128016" cy="148132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Bracket 37"/>
          <p:cNvSpPr/>
          <p:nvPr/>
        </p:nvSpPr>
        <p:spPr>
          <a:xfrm>
            <a:off x="7763256" y="1883664"/>
            <a:ext cx="128016" cy="148132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1920240"/>
            <a:ext cx="3200400" cy="1463040"/>
          </a:xfrm>
          <a:prstGeom prst="rect">
            <a:avLst/>
          </a:prstGeom>
          <a:noFill/>
        </p:spPr>
        <p:txBody>
          <a:bodyPr wrap="square" lIns="0" rIns="0" tIns="0" bIns="0" anchor="t">
            <a:spAutoFit/>
          </a:bodyPr>
          <a:lstStyle/>
          <a:p>
            <a:pPr algn="l">
              <a:spcAft>
                <a:spcPts val="400"/>
              </a:spcAft>
            </a:pPr>
            <a:r>
              <a:rPr sz="1800" b="0" i="0">
                <a:solidFill>
                  <a:srgbClr val="5B6675"/>
                </a:solidFill>
                <a:latin typeface="Cambria"/>
              </a:rPr>
              <a:t>0a + 0b + 0c = 0</a:t>
            </a:r>
          </a:p>
          <a:p>
            <a:pPr algn="l">
              <a:spcAft>
                <a:spcPts val="400"/>
              </a:spcAft>
            </a:pPr>
            <a:r>
              <a:rPr sz="1800" b="1" i="0">
                <a:solidFill>
                  <a:srgbClr val="1F6F8B"/>
                </a:solidFill>
                <a:latin typeface="Calibri"/>
              </a:rPr>
              <a:t>Infinitely many solutions</a:t>
            </a:r>
          </a:p>
          <a:p>
            <a:pPr algn="l">
              <a:spcAft>
                <a:spcPts val="400"/>
              </a:spcAft>
            </a:pPr>
            <a:r>
              <a:rPr sz="1400" b="0" i="0">
                <a:solidFill>
                  <a:srgbClr val="5B6675"/>
                </a:solidFill>
                <a:latin typeface="Calibri"/>
              </a:rPr>
              <a:t>the constant in the zero row is 0</a:t>
            </a:r>
          </a:p>
        </p:txBody>
      </p:sp>
      <p:sp>
        <p:nvSpPr>
          <p:cNvPr id="40" name="Rectangle 39"/>
          <p:cNvSpPr/>
          <p:nvPr/>
        </p:nvSpPr>
        <p:spPr>
          <a:xfrm>
            <a:off x="859536"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41" name="Rectangle 40"/>
          <p:cNvSpPr/>
          <p:nvPr/>
        </p:nvSpPr>
        <p:spPr>
          <a:xfrm>
            <a:off x="1417320"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42" name="Rectangle 41"/>
          <p:cNvSpPr/>
          <p:nvPr/>
        </p:nvSpPr>
        <p:spPr>
          <a:xfrm>
            <a:off x="1975104"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43" name="Rectangle 42"/>
          <p:cNvSpPr/>
          <p:nvPr/>
        </p:nvSpPr>
        <p:spPr>
          <a:xfrm>
            <a:off x="2679192"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44" name="Rectangle 43"/>
          <p:cNvSpPr/>
          <p:nvPr/>
        </p:nvSpPr>
        <p:spPr>
          <a:xfrm>
            <a:off x="859536"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45" name="Rectangle 44"/>
          <p:cNvSpPr/>
          <p:nvPr/>
        </p:nvSpPr>
        <p:spPr>
          <a:xfrm>
            <a:off x="1417320"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46" name="Rectangle 45"/>
          <p:cNvSpPr/>
          <p:nvPr/>
        </p:nvSpPr>
        <p:spPr>
          <a:xfrm>
            <a:off x="1975104"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47" name="Rectangle 46"/>
          <p:cNvSpPr/>
          <p:nvPr/>
        </p:nvSpPr>
        <p:spPr>
          <a:xfrm>
            <a:off x="2679192"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48" name="Rectangle 47"/>
          <p:cNvSpPr/>
          <p:nvPr/>
        </p:nvSpPr>
        <p:spPr>
          <a:xfrm>
            <a:off x="859536" y="4809744"/>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3</a:t>
            </a:r>
          </a:p>
        </p:txBody>
      </p:sp>
      <p:sp>
        <p:nvSpPr>
          <p:cNvPr id="49" name="Rectangle 48"/>
          <p:cNvSpPr/>
          <p:nvPr/>
        </p:nvSpPr>
        <p:spPr>
          <a:xfrm>
            <a:off x="1417320" y="4809744"/>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6</a:t>
            </a:r>
          </a:p>
        </p:txBody>
      </p:sp>
      <p:sp>
        <p:nvSpPr>
          <p:cNvPr id="50" name="Rectangle 49"/>
          <p:cNvSpPr/>
          <p:nvPr/>
        </p:nvSpPr>
        <p:spPr>
          <a:xfrm>
            <a:off x="1975104" y="4809744"/>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sp>
        <p:nvSpPr>
          <p:cNvPr id="51" name="Rectangle 50"/>
          <p:cNvSpPr/>
          <p:nvPr/>
        </p:nvSpPr>
        <p:spPr>
          <a:xfrm>
            <a:off x="2679192" y="4809744"/>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10</a:t>
            </a:r>
          </a:p>
        </p:txBody>
      </p:sp>
      <p:cxnSp>
        <p:nvCxnSpPr>
          <p:cNvPr id="52" name="Connector 51"/>
          <p:cNvCxnSpPr/>
          <p:nvPr/>
        </p:nvCxnSpPr>
        <p:spPr>
          <a:xfrm>
            <a:off x="2583180" y="3803904"/>
            <a:ext cx="0" cy="1481328"/>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53" name="Left Bracket 52"/>
          <p:cNvSpPr/>
          <p:nvPr/>
        </p:nvSpPr>
        <p:spPr>
          <a:xfrm>
            <a:off x="731520" y="3803904"/>
            <a:ext cx="128016" cy="148132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Bracket 53"/>
          <p:cNvSpPr/>
          <p:nvPr/>
        </p:nvSpPr>
        <p:spPr>
          <a:xfrm>
            <a:off x="3191256" y="3803904"/>
            <a:ext cx="128016" cy="148132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Arrow 54"/>
          <p:cNvSpPr/>
          <p:nvPr/>
        </p:nvSpPr>
        <p:spPr>
          <a:xfrm>
            <a:off x="3749039" y="4389120"/>
            <a:ext cx="1188720" cy="310896"/>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428999" y="4754879"/>
            <a:ext cx="1828800" cy="731520"/>
          </a:xfrm>
          <a:prstGeom prst="rect">
            <a:avLst/>
          </a:prstGeom>
          <a:noFill/>
        </p:spPr>
        <p:txBody>
          <a:bodyPr wrap="square" lIns="0" rIns="0" tIns="0" bIns="0" anchor="t">
            <a:spAutoFit/>
          </a:bodyPr>
          <a:lstStyle/>
          <a:p>
            <a:pPr algn="ctr"/>
            <a:r>
              <a:rPr sz="1200" b="0" i="0">
                <a:solidFill>
                  <a:srgbClr val="5B6675"/>
                </a:solidFill>
                <a:latin typeface="Calibri"/>
              </a:rPr>
              <a:t>after row reduction</a:t>
            </a:r>
          </a:p>
        </p:txBody>
      </p:sp>
      <p:sp>
        <p:nvSpPr>
          <p:cNvPr id="57" name="Rectangle 56"/>
          <p:cNvSpPr/>
          <p:nvPr/>
        </p:nvSpPr>
        <p:spPr>
          <a:xfrm>
            <a:off x="5431536"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58" name="Rectangle 57"/>
          <p:cNvSpPr/>
          <p:nvPr/>
        </p:nvSpPr>
        <p:spPr>
          <a:xfrm>
            <a:off x="5989320"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2</a:t>
            </a:r>
          </a:p>
        </p:txBody>
      </p:sp>
      <p:sp>
        <p:nvSpPr>
          <p:cNvPr id="59" name="Rectangle 58"/>
          <p:cNvSpPr/>
          <p:nvPr/>
        </p:nvSpPr>
        <p:spPr>
          <a:xfrm>
            <a:off x="6547104"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−1</a:t>
            </a:r>
          </a:p>
        </p:txBody>
      </p:sp>
      <p:sp>
        <p:nvSpPr>
          <p:cNvPr id="60" name="Rectangle 59"/>
          <p:cNvSpPr/>
          <p:nvPr/>
        </p:nvSpPr>
        <p:spPr>
          <a:xfrm>
            <a:off x="7251192" y="3840480"/>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5</a:t>
            </a:r>
          </a:p>
        </p:txBody>
      </p:sp>
      <p:sp>
        <p:nvSpPr>
          <p:cNvPr id="61" name="Rectangle 60"/>
          <p:cNvSpPr/>
          <p:nvPr/>
        </p:nvSpPr>
        <p:spPr>
          <a:xfrm>
            <a:off x="5431536"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62" name="Rectangle 61"/>
          <p:cNvSpPr/>
          <p:nvPr/>
        </p:nvSpPr>
        <p:spPr>
          <a:xfrm>
            <a:off x="5989320"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63" name="Rectangle 62"/>
          <p:cNvSpPr/>
          <p:nvPr/>
        </p:nvSpPr>
        <p:spPr>
          <a:xfrm>
            <a:off x="6547104"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7</a:t>
            </a:r>
          </a:p>
        </p:txBody>
      </p:sp>
      <p:sp>
        <p:nvSpPr>
          <p:cNvPr id="64" name="Rectangle 63"/>
          <p:cNvSpPr/>
          <p:nvPr/>
        </p:nvSpPr>
        <p:spPr>
          <a:xfrm>
            <a:off x="7251192" y="4325112"/>
            <a:ext cx="512064" cy="438912"/>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−9</a:t>
            </a:r>
          </a:p>
        </p:txBody>
      </p:sp>
      <p:sp>
        <p:nvSpPr>
          <p:cNvPr id="65" name="Rectangle 64"/>
          <p:cNvSpPr/>
          <p:nvPr/>
        </p:nvSpPr>
        <p:spPr>
          <a:xfrm>
            <a:off x="5431536" y="4809744"/>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66" name="Rectangle 65"/>
          <p:cNvSpPr/>
          <p:nvPr/>
        </p:nvSpPr>
        <p:spPr>
          <a:xfrm>
            <a:off x="5989320" y="4809744"/>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67" name="Rectangle 66"/>
          <p:cNvSpPr/>
          <p:nvPr/>
        </p:nvSpPr>
        <p:spPr>
          <a:xfrm>
            <a:off x="6547104" y="4809744"/>
            <a:ext cx="512064" cy="438912"/>
          </a:xfrm>
          <a:prstGeom prst="rect">
            <a:avLst/>
          </a:prstGeom>
          <a:solidFill>
            <a:srgbClr val="FFE2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0</a:t>
            </a:r>
          </a:p>
        </p:txBody>
      </p:sp>
      <p:sp>
        <p:nvSpPr>
          <p:cNvPr id="68" name="Rectangle 67"/>
          <p:cNvSpPr/>
          <p:nvPr/>
        </p:nvSpPr>
        <p:spPr>
          <a:xfrm>
            <a:off x="7251192" y="4809744"/>
            <a:ext cx="512064" cy="438912"/>
          </a:xfrm>
          <a:prstGeom prst="rect">
            <a:avLst/>
          </a:prstGeom>
          <a:solidFill>
            <a:srgbClr val="F6D5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a:solidFill>
                  <a:srgbClr val="14213D"/>
                </a:solidFill>
                <a:latin typeface="Calibri"/>
              </a:rPr>
              <a:t>4</a:t>
            </a:r>
          </a:p>
        </p:txBody>
      </p:sp>
      <p:cxnSp>
        <p:nvCxnSpPr>
          <p:cNvPr id="69" name="Connector 68"/>
          <p:cNvCxnSpPr/>
          <p:nvPr/>
        </p:nvCxnSpPr>
        <p:spPr>
          <a:xfrm>
            <a:off x="7155179" y="3803904"/>
            <a:ext cx="0" cy="1481328"/>
          </a:xfrm>
          <a:prstGeom prst="line">
            <a:avLst/>
          </a:prstGeom>
          <a:ln w="31750">
            <a:solidFill>
              <a:srgbClr val="14213D"/>
            </a:solidFill>
          </a:ln>
        </p:spPr>
        <p:style>
          <a:lnRef idx="2">
            <a:schemeClr val="accent1"/>
          </a:lnRef>
          <a:fillRef idx="0">
            <a:schemeClr val="accent1"/>
          </a:fillRef>
          <a:effectRef idx="1">
            <a:schemeClr val="accent1"/>
          </a:effectRef>
          <a:fontRef idx="minor">
            <a:schemeClr val="tx1"/>
          </a:fontRef>
        </p:style>
      </p:cxnSp>
      <p:sp>
        <p:nvSpPr>
          <p:cNvPr id="70" name="Left Bracket 69"/>
          <p:cNvSpPr/>
          <p:nvPr/>
        </p:nvSpPr>
        <p:spPr>
          <a:xfrm>
            <a:off x="5303520" y="3803904"/>
            <a:ext cx="128016" cy="1481328"/>
          </a:xfrm>
          <a:prstGeom prst="lef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ight Bracket 70"/>
          <p:cNvSpPr/>
          <p:nvPr/>
        </p:nvSpPr>
        <p:spPr>
          <a:xfrm>
            <a:off x="7763256" y="3803904"/>
            <a:ext cx="128016" cy="1481328"/>
          </a:xfrm>
          <a:prstGeom prst="rightBracket">
            <a:avLst/>
          </a:prstGeom>
          <a:noFill/>
          <a:ln w="222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03920" y="3840480"/>
            <a:ext cx="3200400" cy="1463040"/>
          </a:xfrm>
          <a:prstGeom prst="rect">
            <a:avLst/>
          </a:prstGeom>
          <a:noFill/>
        </p:spPr>
        <p:txBody>
          <a:bodyPr wrap="square" lIns="0" rIns="0" tIns="0" bIns="0" anchor="t">
            <a:spAutoFit/>
          </a:bodyPr>
          <a:lstStyle/>
          <a:p>
            <a:pPr algn="l">
              <a:spcAft>
                <a:spcPts val="400"/>
              </a:spcAft>
            </a:pPr>
            <a:r>
              <a:rPr sz="1800" b="0" i="0">
                <a:solidFill>
                  <a:srgbClr val="5B6675"/>
                </a:solidFill>
                <a:latin typeface="Cambria"/>
              </a:rPr>
              <a:t>0a + 0b + 0c = 4</a:t>
            </a:r>
          </a:p>
          <a:p>
            <a:pPr algn="l">
              <a:spcAft>
                <a:spcPts val="400"/>
              </a:spcAft>
            </a:pPr>
            <a:r>
              <a:rPr sz="1800" b="1" i="0">
                <a:solidFill>
                  <a:srgbClr val="B23A3A"/>
                </a:solidFill>
                <a:latin typeface="Calibri"/>
              </a:rPr>
              <a:t>No solutions</a:t>
            </a:r>
          </a:p>
          <a:p>
            <a:pPr algn="l">
              <a:spcAft>
                <a:spcPts val="400"/>
              </a:spcAft>
            </a:pPr>
            <a:r>
              <a:rPr sz="1400" b="0" i="0">
                <a:solidFill>
                  <a:srgbClr val="5B6675"/>
                </a:solidFill>
                <a:latin typeface="Calibri"/>
              </a:rPr>
              <a:t>the constant in the zero row is not 0</a:t>
            </a:r>
          </a:p>
        </p:txBody>
      </p:sp>
      <p:sp>
        <p:nvSpPr>
          <p:cNvPr id="73" name="TextBox 72"/>
          <p:cNvSpPr txBox="1"/>
          <p:nvPr/>
        </p:nvSpPr>
        <p:spPr>
          <a:xfrm>
            <a:off x="548640" y="5669280"/>
            <a:ext cx="10972800" cy="640080"/>
          </a:xfrm>
          <a:prstGeom prst="rect">
            <a:avLst/>
          </a:prstGeom>
          <a:noFill/>
        </p:spPr>
        <p:txBody>
          <a:bodyPr wrap="square" lIns="0" rIns="0" tIns="0" bIns="0" anchor="t">
            <a:spAutoFit/>
          </a:bodyPr>
          <a:lstStyle/>
          <a:p>
            <a:pPr algn="l"/>
            <a:r>
              <a:rPr sz="1400" b="0" i="1">
                <a:solidFill>
                  <a:srgbClr val="5B6675"/>
                </a:solidFill>
                <a:latin typeface="Calibri"/>
              </a:rPr>
              <a:t>Row operations used: R₂ ← R₂ − 2R₁,  R₃ ← R₃ − 3R₁,  R₃ ← R₃ − R₂.  Only the constants column differs between the two systems.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lIns="0" rIns="0" tIns="0" bIns="0" anchor="t">
            <a:spAutoFit/>
          </a:bodyPr>
          <a:lstStyle/>
          <a:p>
            <a:pPr algn="l"/>
            <a:r>
              <a:rPr sz="1200" b="1" i="0">
                <a:solidFill>
                  <a:srgbClr val="1F6F8B"/>
                </a:solidFill>
                <a:latin typeface="Calibri"/>
              </a:rPr>
              <a:t>GAUSSIAN ELIMINATION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400" b="1" i="0">
                <a:solidFill>
                  <a:srgbClr val="14213D"/>
                </a:solidFill>
                <a:latin typeface="Cambria"/>
              </a:rPr>
              <a:t>Gaussian elimination: the algorithm</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675"/>
                </a:solidFill>
                <a:latin typeface="Calibri"/>
              </a:rPr>
              <a:t>Math for Data Science  ·  Linear Algebra, Week 2</a:t>
            </a:r>
          </a:p>
        </p:txBody>
      </p:sp>
      <p:sp>
        <p:nvSpPr>
          <p:cNvPr id="5" name="TextBox 4"/>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5B6675"/>
                </a:solidFill>
                <a:latin typeface="Calibri"/>
              </a:rPr>
              <a:t>52</a:t>
            </a:r>
          </a:p>
        </p:txBody>
      </p:sp>
      <p:sp>
        <p:nvSpPr>
          <p:cNvPr id="6" name="Rounded Rectangle 5"/>
          <p:cNvSpPr/>
          <p:nvPr/>
        </p:nvSpPr>
        <p:spPr>
          <a:xfrm>
            <a:off x="548640" y="1554480"/>
            <a:ext cx="2651760" cy="32461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75564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280160" y="1755648"/>
            <a:ext cx="1691639" cy="411480"/>
          </a:xfrm>
          <a:prstGeom prst="rect">
            <a:avLst/>
          </a:prstGeom>
          <a:noFill/>
        </p:spPr>
        <p:txBody>
          <a:bodyPr wrap="square" lIns="0" rIns="0" tIns="0" bIns="0" anchor="ctr">
            <a:spAutoFit/>
          </a:bodyPr>
          <a:lstStyle/>
          <a:p>
            <a:pPr algn="l"/>
            <a:r>
              <a:rPr sz="1600" b="1" i="0">
                <a:solidFill>
                  <a:srgbClr val="14213D"/>
                </a:solidFill>
                <a:latin typeface="Calibri"/>
              </a:rPr>
              <a:t>Create the augmented matrix</a:t>
            </a:r>
          </a:p>
        </p:txBody>
      </p:sp>
      <p:sp>
        <p:nvSpPr>
          <p:cNvPr id="9" name="TextBox 8"/>
          <p:cNvSpPr txBox="1"/>
          <p:nvPr/>
        </p:nvSpPr>
        <p:spPr>
          <a:xfrm>
            <a:off x="777240" y="2304288"/>
            <a:ext cx="2194560" cy="2313431"/>
          </a:xfrm>
          <a:prstGeom prst="rect">
            <a:avLst/>
          </a:prstGeom>
          <a:noFill/>
        </p:spPr>
        <p:txBody>
          <a:bodyPr wrap="square" lIns="0" rIns="0" tIns="0" bIns="0" anchor="t">
            <a:spAutoFit/>
          </a:bodyPr>
          <a:lstStyle/>
          <a:p>
            <a:pPr algn="l">
              <a:lnSpc>
                <a:spcPct val="112000"/>
              </a:lnSpc>
              <a:spcAft>
                <a:spcPts val="400"/>
              </a:spcAft>
            </a:pPr>
            <a:r>
              <a:rPr sz="1400" b="0" i="0">
                <a:solidFill>
                  <a:srgbClr val="5B6675"/>
                </a:solidFill>
                <a:latin typeface="Calibri"/>
              </a:rPr>
              <a:t>Write [ A | b ]: one row per equation, the constants in the last column.</a:t>
            </a:r>
          </a:p>
        </p:txBody>
      </p:sp>
      <p:sp>
        <p:nvSpPr>
          <p:cNvPr id="10" name="Right Arrow 9"/>
          <p:cNvSpPr/>
          <p:nvPr/>
        </p:nvSpPr>
        <p:spPr>
          <a:xfrm>
            <a:off x="3182112" y="3200400"/>
            <a:ext cx="237744"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64992" y="1554480"/>
            <a:ext cx="2651760" cy="32461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93592" y="175564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3" name="TextBox 12"/>
          <p:cNvSpPr txBox="1"/>
          <p:nvPr/>
        </p:nvSpPr>
        <p:spPr>
          <a:xfrm>
            <a:off x="4096512" y="1755648"/>
            <a:ext cx="1691639" cy="411480"/>
          </a:xfrm>
          <a:prstGeom prst="rect">
            <a:avLst/>
          </a:prstGeom>
          <a:noFill/>
        </p:spPr>
        <p:txBody>
          <a:bodyPr wrap="square" lIns="0" rIns="0" tIns="0" bIns="0" anchor="ctr">
            <a:spAutoFit/>
          </a:bodyPr>
          <a:lstStyle/>
          <a:p>
            <a:pPr algn="l"/>
            <a:r>
              <a:rPr sz="1600" b="1" i="0">
                <a:solidFill>
                  <a:srgbClr val="14213D"/>
                </a:solidFill>
                <a:latin typeface="Calibri"/>
              </a:rPr>
              <a:t>Reach row echelon form</a:t>
            </a:r>
          </a:p>
        </p:txBody>
      </p:sp>
      <p:sp>
        <p:nvSpPr>
          <p:cNvPr id="14" name="TextBox 13"/>
          <p:cNvSpPr txBox="1"/>
          <p:nvPr/>
        </p:nvSpPr>
        <p:spPr>
          <a:xfrm>
            <a:off x="3593592" y="2304288"/>
            <a:ext cx="2194560" cy="2313431"/>
          </a:xfrm>
          <a:prstGeom prst="rect">
            <a:avLst/>
          </a:prstGeom>
          <a:noFill/>
        </p:spPr>
        <p:txBody>
          <a:bodyPr wrap="square" lIns="0" rIns="0" tIns="0" bIns="0" anchor="t">
            <a:spAutoFit/>
          </a:bodyPr>
          <a:lstStyle/>
          <a:p>
            <a:pPr algn="l">
              <a:lnSpc>
                <a:spcPct val="112000"/>
              </a:lnSpc>
              <a:spcAft>
                <a:spcPts val="400"/>
              </a:spcAft>
            </a:pPr>
            <a:r>
              <a:rPr sz="1400" b="0" i="0">
                <a:solidFill>
                  <a:srgbClr val="5B6675"/>
                </a:solidFill>
                <a:latin typeface="Calibri"/>
              </a:rPr>
              <a:t>Pivot column by column: scale the pivot row to make the pivot 1, then subtract multiples of it from the rows below.</a:t>
            </a:r>
          </a:p>
        </p:txBody>
      </p:sp>
      <p:sp>
        <p:nvSpPr>
          <p:cNvPr id="15" name="Right Arrow 14"/>
          <p:cNvSpPr/>
          <p:nvPr/>
        </p:nvSpPr>
        <p:spPr>
          <a:xfrm>
            <a:off x="5998464" y="3200400"/>
            <a:ext cx="237744"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81344" y="1554480"/>
            <a:ext cx="2651760" cy="32461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9944" y="175564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6912864" y="1755648"/>
            <a:ext cx="1691639" cy="411480"/>
          </a:xfrm>
          <a:prstGeom prst="rect">
            <a:avLst/>
          </a:prstGeom>
          <a:noFill/>
        </p:spPr>
        <p:txBody>
          <a:bodyPr wrap="square" lIns="0" rIns="0" tIns="0" bIns="0" anchor="ctr">
            <a:spAutoFit/>
          </a:bodyPr>
          <a:lstStyle/>
          <a:p>
            <a:pPr algn="l"/>
            <a:r>
              <a:rPr sz="1600" b="1" i="0">
                <a:solidFill>
                  <a:srgbClr val="14213D"/>
                </a:solidFill>
                <a:latin typeface="Calibri"/>
              </a:rPr>
              <a:t>Reduce further or back-substitute</a:t>
            </a:r>
          </a:p>
        </p:txBody>
      </p:sp>
      <p:sp>
        <p:nvSpPr>
          <p:cNvPr id="19" name="TextBox 18"/>
          <p:cNvSpPr txBox="1"/>
          <p:nvPr/>
        </p:nvSpPr>
        <p:spPr>
          <a:xfrm>
            <a:off x="6409944" y="2304288"/>
            <a:ext cx="2194560" cy="2313431"/>
          </a:xfrm>
          <a:prstGeom prst="rect">
            <a:avLst/>
          </a:prstGeom>
          <a:noFill/>
        </p:spPr>
        <p:txBody>
          <a:bodyPr wrap="square" lIns="0" rIns="0" tIns="0" bIns="0" anchor="t">
            <a:spAutoFit/>
          </a:bodyPr>
          <a:lstStyle/>
          <a:p>
            <a:pPr algn="l">
              <a:lnSpc>
                <a:spcPct val="112000"/>
              </a:lnSpc>
              <a:spcAft>
                <a:spcPts val="400"/>
              </a:spcAft>
            </a:pPr>
            <a:r>
              <a:rPr sz="1400" b="0" i="0">
                <a:solidFill>
                  <a:srgbClr val="5B6675"/>
                </a:solidFill>
                <a:latin typeface="Calibri"/>
              </a:rPr>
              <a:t>Clear the entries above each pivot to reach reduced row echelon form, or solve from the last equation upwards.</a:t>
            </a:r>
          </a:p>
        </p:txBody>
      </p:sp>
      <p:sp>
        <p:nvSpPr>
          <p:cNvPr id="20" name="Right Arrow 19"/>
          <p:cNvSpPr/>
          <p:nvPr/>
        </p:nvSpPr>
        <p:spPr>
          <a:xfrm>
            <a:off x="8814816" y="3200400"/>
            <a:ext cx="237744" cy="274320"/>
          </a:xfrm>
          <a:prstGeom prst="rightArrow">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97696" y="1554480"/>
            <a:ext cx="2651760" cy="324612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26296" y="1755648"/>
            <a:ext cx="384048" cy="384048"/>
          </a:xfrm>
          <a:prstGeom prst="ellipse">
            <a:avLst/>
          </a:prstGeom>
          <a:solidFill>
            <a:srgbClr val="1F6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3" name="TextBox 22"/>
          <p:cNvSpPr txBox="1"/>
          <p:nvPr/>
        </p:nvSpPr>
        <p:spPr>
          <a:xfrm>
            <a:off x="9729216" y="1755648"/>
            <a:ext cx="1691639" cy="411480"/>
          </a:xfrm>
          <a:prstGeom prst="rect">
            <a:avLst/>
          </a:prstGeom>
          <a:noFill/>
        </p:spPr>
        <p:txBody>
          <a:bodyPr wrap="square" lIns="0" rIns="0" tIns="0" bIns="0" anchor="ctr">
            <a:spAutoFit/>
          </a:bodyPr>
          <a:lstStyle/>
          <a:p>
            <a:pPr algn="l"/>
            <a:r>
              <a:rPr sz="1600" b="1" i="0">
                <a:solidFill>
                  <a:srgbClr val="14213D"/>
                </a:solidFill>
                <a:latin typeface="Calibri"/>
              </a:rPr>
              <a:t>Stop at a row of zeros</a:t>
            </a:r>
          </a:p>
        </p:txBody>
      </p:sp>
      <p:sp>
        <p:nvSpPr>
          <p:cNvPr id="24" name="TextBox 23"/>
          <p:cNvSpPr txBox="1"/>
          <p:nvPr/>
        </p:nvSpPr>
        <p:spPr>
          <a:xfrm>
            <a:off x="9226296" y="2304288"/>
            <a:ext cx="2194560" cy="2313431"/>
          </a:xfrm>
          <a:prstGeom prst="rect">
            <a:avLst/>
          </a:prstGeom>
          <a:noFill/>
        </p:spPr>
        <p:txBody>
          <a:bodyPr wrap="square" lIns="0" rIns="0" tIns="0" bIns="0" anchor="t">
            <a:spAutoFit/>
          </a:bodyPr>
          <a:lstStyle/>
          <a:p>
            <a:pPr algn="l">
              <a:lnSpc>
                <a:spcPct val="112000"/>
              </a:lnSpc>
              <a:spcAft>
                <a:spcPts val="400"/>
              </a:spcAft>
            </a:pPr>
            <a:r>
              <a:rPr sz="1400" b="0" i="0">
                <a:solidFill>
                  <a:srgbClr val="5B6675"/>
                </a:solidFill>
                <a:latin typeface="Calibri"/>
              </a:rPr>
              <a:t>A row  0 … 0 | 0  means infinitely many solutions; a row  0 … 0 | β  with β ≠ 0 means no solution. Otherwise the solution is unique: the last column.</a:t>
            </a:r>
          </a:p>
        </p:txBody>
      </p:sp>
      <p:sp>
        <p:nvSpPr>
          <p:cNvPr id="25" name="Rounded Rectangle 24"/>
          <p:cNvSpPr/>
          <p:nvPr/>
        </p:nvSpPr>
        <p:spPr>
          <a:xfrm>
            <a:off x="548640" y="4983480"/>
            <a:ext cx="11064240" cy="1234440"/>
          </a:xfrm>
          <a:prstGeom prst="roundRect">
            <a:avLst>
              <a:gd name="adj" fmla="val 4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5184648"/>
            <a:ext cx="10515600" cy="274320"/>
          </a:xfrm>
          <a:prstGeom prst="rect">
            <a:avLst/>
          </a:prstGeom>
          <a:noFill/>
        </p:spPr>
        <p:txBody>
          <a:bodyPr wrap="square" lIns="0" rIns="0" tIns="0" bIns="0" anchor="t">
            <a:spAutoFit/>
          </a:bodyPr>
          <a:lstStyle/>
          <a:p>
            <a:pPr algn="l"/>
            <a:r>
              <a:rPr sz="1200" b="1" i="0">
                <a:solidFill>
                  <a:srgbClr val="1F6F8B"/>
                </a:solidFill>
                <a:latin typeface="Calibri"/>
              </a:rPr>
              <a:t>DEFINITION</a:t>
            </a:r>
          </a:p>
        </p:txBody>
      </p:sp>
      <p:sp>
        <p:nvSpPr>
          <p:cNvPr id="27" name="TextBox 26"/>
          <p:cNvSpPr txBox="1"/>
          <p:nvPr/>
        </p:nvSpPr>
        <p:spPr>
          <a:xfrm>
            <a:off x="822959" y="5495544"/>
            <a:ext cx="10515600" cy="594360"/>
          </a:xfrm>
          <a:prstGeom prst="rect">
            <a:avLst/>
          </a:prstGeom>
          <a:noFill/>
        </p:spPr>
        <p:txBody>
          <a:bodyPr wrap="square" lIns="0" rIns="0" tIns="0" bIns="0" anchor="t">
            <a:spAutoFit/>
          </a:bodyPr>
          <a:lstStyle/>
          <a:p>
            <a:pPr algn="l">
              <a:lnSpc>
                <a:spcPct val="115000"/>
              </a:lnSpc>
              <a:spcAft>
                <a:spcPts val="600"/>
              </a:spcAft>
            </a:pPr>
            <a:r>
              <a:rPr sz="1500" b="1" i="0">
                <a:solidFill>
                  <a:srgbClr val="14213D"/>
                </a:solidFill>
                <a:latin typeface="Calibri"/>
              </a:rPr>
              <a:t>Gaussian elimination</a:t>
            </a:r>
            <a:r>
              <a:rPr sz="1500" b="0" i="0">
                <a:solidFill>
                  <a:srgbClr val="14213D"/>
                </a:solidFill>
                <a:latin typeface="Calibri"/>
              </a:rPr>
              <a:t> is this procedure: elementary row operations applied to the augmented matrix until it is in (reduced) row echelon form.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FD8D5"/>
                </a:solidFill>
                <a:latin typeface="Calibri"/>
              </a:rPr>
              <a:t>Math for Data Science  ·  Linear Algebra, Week 2</a:t>
            </a:r>
          </a:p>
        </p:txBody>
      </p:sp>
      <p:sp>
        <p:nvSpPr>
          <p:cNvPr id="3" name="TextBox 2"/>
          <p:cNvSpPr txBox="1"/>
          <p:nvPr/>
        </p:nvSpPr>
        <p:spPr>
          <a:xfrm>
            <a:off x="10881360" y="6419088"/>
            <a:ext cx="758952" cy="274320"/>
          </a:xfrm>
          <a:prstGeom prst="rect">
            <a:avLst/>
          </a:prstGeom>
          <a:noFill/>
        </p:spPr>
        <p:txBody>
          <a:bodyPr wrap="square" lIns="0" rIns="0" tIns="0" bIns="0" anchor="t">
            <a:spAutoFit/>
          </a:bodyPr>
          <a:lstStyle/>
          <a:p>
            <a:pPr algn="r"/>
            <a:r>
              <a:rPr sz="1000" b="0" i="0">
                <a:solidFill>
                  <a:srgbClr val="BFD8D5"/>
                </a:solidFill>
                <a:latin typeface="Calibri"/>
              </a:rPr>
              <a:t>53</a:t>
            </a:r>
          </a:p>
        </p:txBody>
      </p:sp>
      <p:sp>
        <p:nvSpPr>
          <p:cNvPr id="4" name="TextBox 3"/>
          <p:cNvSpPr txBox="1"/>
          <p:nvPr/>
        </p:nvSpPr>
        <p:spPr>
          <a:xfrm>
            <a:off x="548640" y="457200"/>
            <a:ext cx="7315200" cy="365760"/>
          </a:xfrm>
          <a:prstGeom prst="rect">
            <a:avLst/>
          </a:prstGeom>
          <a:noFill/>
        </p:spPr>
        <p:txBody>
          <a:bodyPr wrap="square" lIns="0" rIns="0" tIns="0" bIns="0" anchor="t">
            <a:spAutoFit/>
          </a:bodyPr>
          <a:lstStyle/>
          <a:p>
            <a:pPr algn="l"/>
            <a:r>
              <a:rPr sz="1400" b="1" i="0">
                <a:solidFill>
                  <a:srgbClr val="F2B263"/>
                </a:solidFill>
                <a:latin typeface="Calibri"/>
              </a:rPr>
              <a:t>WEEK 2 RECAP</a:t>
            </a:r>
          </a:p>
        </p:txBody>
      </p:sp>
      <p:sp>
        <p:nvSpPr>
          <p:cNvPr id="5" name="TextBox 4"/>
          <p:cNvSpPr txBox="1"/>
          <p:nvPr/>
        </p:nvSpPr>
        <p:spPr>
          <a:xfrm>
            <a:off x="548640" y="822960"/>
            <a:ext cx="10515600" cy="731520"/>
          </a:xfrm>
          <a:prstGeom prst="rect">
            <a:avLst/>
          </a:prstGeom>
          <a:noFill/>
        </p:spPr>
        <p:txBody>
          <a:bodyPr wrap="square" lIns="0" rIns="0" tIns="0" bIns="0" anchor="t">
            <a:spAutoFit/>
          </a:bodyPr>
          <a:lstStyle/>
          <a:p>
            <a:pPr algn="l"/>
            <a:r>
              <a:rPr sz="3600" b="1" i="0">
                <a:solidFill>
                  <a:srgbClr val="FFFFFF"/>
                </a:solidFill>
                <a:latin typeface="Cambria"/>
              </a:rPr>
              <a:t>The definitions to remember</a:t>
            </a:r>
          </a:p>
        </p:txBody>
      </p:sp>
      <p:sp>
        <p:nvSpPr>
          <p:cNvPr id="6" name="Rounded Rectangle 5"/>
          <p:cNvSpPr/>
          <p:nvPr/>
        </p:nvSpPr>
        <p:spPr>
          <a:xfrm>
            <a:off x="548640" y="1691640"/>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01368"/>
            <a:ext cx="5029200" cy="320040"/>
          </a:xfrm>
          <a:prstGeom prst="rect">
            <a:avLst/>
          </a:prstGeom>
          <a:noFill/>
        </p:spPr>
        <p:txBody>
          <a:bodyPr wrap="square" lIns="0" rIns="0" tIns="0" bIns="0" anchor="t">
            <a:spAutoFit/>
          </a:bodyPr>
          <a:lstStyle/>
          <a:p>
            <a:pPr algn="l"/>
            <a:r>
              <a:rPr sz="1600" b="1" i="0">
                <a:solidFill>
                  <a:srgbClr val="F2B263"/>
                </a:solidFill>
                <a:latin typeface="Calibri"/>
              </a:rPr>
              <a:t>Linear system</a:t>
            </a:r>
          </a:p>
        </p:txBody>
      </p:sp>
      <p:sp>
        <p:nvSpPr>
          <p:cNvPr id="8" name="TextBox 7"/>
          <p:cNvSpPr txBox="1"/>
          <p:nvPr/>
        </p:nvSpPr>
        <p:spPr>
          <a:xfrm>
            <a:off x="777240" y="2103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A finite set of linear equations in the same variables; a solution satisfies all of them at once.</a:t>
            </a:r>
          </a:p>
        </p:txBody>
      </p:sp>
      <p:sp>
        <p:nvSpPr>
          <p:cNvPr id="9" name="Rounded Rectangle 8"/>
          <p:cNvSpPr/>
          <p:nvPr/>
        </p:nvSpPr>
        <p:spPr>
          <a:xfrm>
            <a:off x="6217920" y="1691640"/>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01368"/>
            <a:ext cx="5029200" cy="320040"/>
          </a:xfrm>
          <a:prstGeom prst="rect">
            <a:avLst/>
          </a:prstGeom>
          <a:noFill/>
        </p:spPr>
        <p:txBody>
          <a:bodyPr wrap="square" lIns="0" rIns="0" tIns="0" bIns="0" anchor="t">
            <a:spAutoFit/>
          </a:bodyPr>
          <a:lstStyle/>
          <a:p>
            <a:pPr algn="l"/>
            <a:r>
              <a:rPr sz="1600" b="1" i="0">
                <a:solidFill>
                  <a:srgbClr val="F2B263"/>
                </a:solidFill>
                <a:latin typeface="Calibri"/>
              </a:rPr>
              <a:t>Equivalent systems</a:t>
            </a:r>
          </a:p>
        </p:txBody>
      </p:sp>
      <p:sp>
        <p:nvSpPr>
          <p:cNvPr id="11" name="TextBox 10"/>
          <p:cNvSpPr txBox="1"/>
          <p:nvPr/>
        </p:nvSpPr>
        <p:spPr>
          <a:xfrm>
            <a:off x="6446520" y="2103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Same solutions. Swapping, scaling by k ≠ 0, and adding a multiple of one equation to another keep a system equivalent.</a:t>
            </a:r>
          </a:p>
        </p:txBody>
      </p:sp>
      <p:sp>
        <p:nvSpPr>
          <p:cNvPr id="12" name="Rounded Rectangle 11"/>
          <p:cNvSpPr/>
          <p:nvPr/>
        </p:nvSpPr>
        <p:spPr>
          <a:xfrm>
            <a:off x="548640" y="2834640"/>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44368"/>
            <a:ext cx="5029200" cy="320040"/>
          </a:xfrm>
          <a:prstGeom prst="rect">
            <a:avLst/>
          </a:prstGeom>
          <a:noFill/>
        </p:spPr>
        <p:txBody>
          <a:bodyPr wrap="square" lIns="0" rIns="0" tIns="0" bIns="0" anchor="t">
            <a:spAutoFit/>
          </a:bodyPr>
          <a:lstStyle/>
          <a:p>
            <a:pPr algn="l"/>
            <a:r>
              <a:rPr sz="1600" b="1" i="0">
                <a:solidFill>
                  <a:srgbClr val="F2B263"/>
                </a:solidFill>
                <a:latin typeface="Calibri"/>
              </a:rPr>
              <a:t>Singular vs non-singular</a:t>
            </a:r>
          </a:p>
        </p:txBody>
      </p:sp>
      <p:sp>
        <p:nvSpPr>
          <p:cNvPr id="14" name="TextBox 13"/>
          <p:cNvSpPr txBox="1"/>
          <p:nvPr/>
        </p:nvSpPr>
        <p:spPr>
          <a:xfrm>
            <a:off x="777240" y="3246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Non-singular: exactly one solution. Singular: infinitely many (redundant) or none (contradictory).</a:t>
            </a:r>
          </a:p>
        </p:txBody>
      </p:sp>
      <p:sp>
        <p:nvSpPr>
          <p:cNvPr id="15" name="Rounded Rectangle 14"/>
          <p:cNvSpPr/>
          <p:nvPr/>
        </p:nvSpPr>
        <p:spPr>
          <a:xfrm>
            <a:off x="6217920" y="2834640"/>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944368"/>
            <a:ext cx="5029200" cy="320040"/>
          </a:xfrm>
          <a:prstGeom prst="rect">
            <a:avLst/>
          </a:prstGeom>
          <a:noFill/>
        </p:spPr>
        <p:txBody>
          <a:bodyPr wrap="square" lIns="0" rIns="0" tIns="0" bIns="0" anchor="t">
            <a:spAutoFit/>
          </a:bodyPr>
          <a:lstStyle/>
          <a:p>
            <a:pPr algn="l"/>
            <a:r>
              <a:rPr sz="1600" b="1" i="0">
                <a:solidFill>
                  <a:srgbClr val="F2B263"/>
                </a:solidFill>
                <a:latin typeface="Calibri"/>
              </a:rPr>
              <a:t>Rank</a:t>
            </a:r>
          </a:p>
        </p:txBody>
      </p:sp>
      <p:sp>
        <p:nvSpPr>
          <p:cNvPr id="17" name="TextBox 16"/>
          <p:cNvSpPr txBox="1"/>
          <p:nvPr/>
        </p:nvSpPr>
        <p:spPr>
          <a:xfrm>
            <a:off x="6446520" y="3246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The number of independent pieces of information; number of variables minus the dimension of the solution space; the number of pivots.</a:t>
            </a:r>
          </a:p>
        </p:txBody>
      </p:sp>
      <p:sp>
        <p:nvSpPr>
          <p:cNvPr id="18" name="Rounded Rectangle 17"/>
          <p:cNvSpPr/>
          <p:nvPr/>
        </p:nvSpPr>
        <p:spPr>
          <a:xfrm>
            <a:off x="548640" y="3977639"/>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87368"/>
            <a:ext cx="5029200" cy="320040"/>
          </a:xfrm>
          <a:prstGeom prst="rect">
            <a:avLst/>
          </a:prstGeom>
          <a:noFill/>
        </p:spPr>
        <p:txBody>
          <a:bodyPr wrap="square" lIns="0" rIns="0" tIns="0" bIns="0" anchor="t">
            <a:spAutoFit/>
          </a:bodyPr>
          <a:lstStyle/>
          <a:p>
            <a:pPr algn="l"/>
            <a:r>
              <a:rPr sz="1600" b="1" i="0">
                <a:solidFill>
                  <a:srgbClr val="F2B263"/>
                </a:solidFill>
                <a:latin typeface="Calibri"/>
              </a:rPr>
              <a:t>Row echelon form</a:t>
            </a:r>
          </a:p>
        </p:txBody>
      </p:sp>
      <p:sp>
        <p:nvSpPr>
          <p:cNvPr id="20" name="TextBox 19"/>
          <p:cNvSpPr txBox="1"/>
          <p:nvPr/>
        </p:nvSpPr>
        <p:spPr>
          <a:xfrm>
            <a:off x="777240" y="4389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Zero rows at the bottom; each pivot strictly to the right of the pivot above it.</a:t>
            </a:r>
          </a:p>
        </p:txBody>
      </p:sp>
      <p:sp>
        <p:nvSpPr>
          <p:cNvPr id="21" name="Rounded Rectangle 20"/>
          <p:cNvSpPr/>
          <p:nvPr/>
        </p:nvSpPr>
        <p:spPr>
          <a:xfrm>
            <a:off x="6217920" y="3977639"/>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087368"/>
            <a:ext cx="5029200" cy="320040"/>
          </a:xfrm>
          <a:prstGeom prst="rect">
            <a:avLst/>
          </a:prstGeom>
          <a:noFill/>
        </p:spPr>
        <p:txBody>
          <a:bodyPr wrap="square" lIns="0" rIns="0" tIns="0" bIns="0" anchor="t">
            <a:spAutoFit/>
          </a:bodyPr>
          <a:lstStyle/>
          <a:p>
            <a:pPr algn="l"/>
            <a:r>
              <a:rPr sz="1600" b="1" i="0">
                <a:solidFill>
                  <a:srgbClr val="F2B263"/>
                </a:solidFill>
                <a:latin typeface="Calibri"/>
              </a:rPr>
              <a:t>Reduced row echelon form</a:t>
            </a:r>
          </a:p>
        </p:txBody>
      </p:sp>
      <p:sp>
        <p:nvSpPr>
          <p:cNvPr id="23" name="TextBox 22"/>
          <p:cNvSpPr txBox="1"/>
          <p:nvPr/>
        </p:nvSpPr>
        <p:spPr>
          <a:xfrm>
            <a:off x="6446520" y="4389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Row echelon form with every pivot equal to 1 and zeros above every pivot. Unique for each matrix.</a:t>
            </a:r>
          </a:p>
        </p:txBody>
      </p:sp>
      <p:sp>
        <p:nvSpPr>
          <p:cNvPr id="24" name="Rounded Rectangle 23"/>
          <p:cNvSpPr/>
          <p:nvPr/>
        </p:nvSpPr>
        <p:spPr>
          <a:xfrm>
            <a:off x="548640" y="5120640"/>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230368"/>
            <a:ext cx="5029200" cy="320040"/>
          </a:xfrm>
          <a:prstGeom prst="rect">
            <a:avLst/>
          </a:prstGeom>
          <a:noFill/>
        </p:spPr>
        <p:txBody>
          <a:bodyPr wrap="square" lIns="0" rIns="0" tIns="0" bIns="0" anchor="t">
            <a:spAutoFit/>
          </a:bodyPr>
          <a:lstStyle/>
          <a:p>
            <a:pPr algn="l"/>
            <a:r>
              <a:rPr sz="1600" b="1" i="0">
                <a:solidFill>
                  <a:srgbClr val="F2B263"/>
                </a:solidFill>
                <a:latin typeface="Calibri"/>
              </a:rPr>
              <a:t>Augmented matrix</a:t>
            </a:r>
          </a:p>
        </p:txBody>
      </p:sp>
      <p:sp>
        <p:nvSpPr>
          <p:cNvPr id="26" name="TextBox 25"/>
          <p:cNvSpPr txBox="1"/>
          <p:nvPr/>
        </p:nvSpPr>
        <p:spPr>
          <a:xfrm>
            <a:off x="777240" y="5532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 A | b ]: the coefficient matrix with the constants column attached.</a:t>
            </a:r>
          </a:p>
        </p:txBody>
      </p:sp>
      <p:sp>
        <p:nvSpPr>
          <p:cNvPr id="27" name="Rounded Rectangle 26"/>
          <p:cNvSpPr/>
          <p:nvPr/>
        </p:nvSpPr>
        <p:spPr>
          <a:xfrm>
            <a:off x="6217920" y="5120640"/>
            <a:ext cx="5440680" cy="1005840"/>
          </a:xfrm>
          <a:prstGeom prst="roundRect">
            <a:avLst>
              <a:gd name="adj" fmla="val 5000"/>
            </a:avLst>
          </a:prstGeom>
          <a:solidFill>
            <a:srgbClr val="1D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5230368"/>
            <a:ext cx="5029200" cy="320040"/>
          </a:xfrm>
          <a:prstGeom prst="rect">
            <a:avLst/>
          </a:prstGeom>
          <a:noFill/>
        </p:spPr>
        <p:txBody>
          <a:bodyPr wrap="square" lIns="0" rIns="0" tIns="0" bIns="0" anchor="t">
            <a:spAutoFit/>
          </a:bodyPr>
          <a:lstStyle/>
          <a:p>
            <a:pPr algn="l"/>
            <a:r>
              <a:rPr sz="1600" b="1" i="0">
                <a:solidFill>
                  <a:srgbClr val="F2B263"/>
                </a:solidFill>
                <a:latin typeface="Calibri"/>
              </a:rPr>
              <a:t>Gaussian elimination</a:t>
            </a:r>
          </a:p>
        </p:txBody>
      </p:sp>
      <p:sp>
        <p:nvSpPr>
          <p:cNvPr id="29" name="TextBox 28"/>
          <p:cNvSpPr txBox="1"/>
          <p:nvPr/>
        </p:nvSpPr>
        <p:spPr>
          <a:xfrm>
            <a:off x="6446520" y="5532120"/>
            <a:ext cx="5029200" cy="594360"/>
          </a:xfrm>
          <a:prstGeom prst="rect">
            <a:avLst/>
          </a:prstGeom>
          <a:noFill/>
        </p:spPr>
        <p:txBody>
          <a:bodyPr wrap="square" lIns="0" rIns="0" tIns="0" bIns="0" anchor="t">
            <a:spAutoFit/>
          </a:bodyPr>
          <a:lstStyle/>
          <a:p>
            <a:pPr algn="l">
              <a:lnSpc>
                <a:spcPct val="110000"/>
              </a:lnSpc>
            </a:pPr>
            <a:r>
              <a:rPr sz="1200" b="0" i="0">
                <a:solidFill>
                  <a:srgbClr val="BFD8D5"/>
                </a:solidFill>
                <a:latin typeface="Calibri"/>
              </a:rPr>
              <a:t>Row-reduce the augmented matrix to (reduced) row echelon form; read the solution or detect a zero row.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